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707" r:id="rId2"/>
    <p:sldMasterId id="2147483719" r:id="rId3"/>
  </p:sldMasterIdLst>
  <p:notesMasterIdLst>
    <p:notesMasterId r:id="rId28"/>
  </p:notesMasterIdLst>
  <p:sldIdLst>
    <p:sldId id="284" r:id="rId4"/>
    <p:sldId id="276" r:id="rId5"/>
    <p:sldId id="320" r:id="rId6"/>
    <p:sldId id="304" r:id="rId7"/>
    <p:sldId id="289" r:id="rId8"/>
    <p:sldId id="321" r:id="rId9"/>
    <p:sldId id="305" r:id="rId10"/>
    <p:sldId id="330" r:id="rId11"/>
    <p:sldId id="262" r:id="rId12"/>
    <p:sldId id="322" r:id="rId13"/>
    <p:sldId id="298" r:id="rId14"/>
    <p:sldId id="264" r:id="rId15"/>
    <p:sldId id="269" r:id="rId16"/>
    <p:sldId id="270" r:id="rId17"/>
    <p:sldId id="312" r:id="rId18"/>
    <p:sldId id="313" r:id="rId19"/>
    <p:sldId id="272" r:id="rId20"/>
    <p:sldId id="323" r:id="rId21"/>
    <p:sldId id="277" r:id="rId22"/>
    <p:sldId id="309" r:id="rId23"/>
    <p:sldId id="300" r:id="rId24"/>
    <p:sldId id="282" r:id="rId25"/>
    <p:sldId id="294" r:id="rId26"/>
    <p:sldId id="292" r:id="rId27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A9937C-839B-47E5-8DD1-935CF0C05B82}">
          <p14:sldIdLst>
            <p14:sldId id="284"/>
            <p14:sldId id="276"/>
            <p14:sldId id="320"/>
            <p14:sldId id="304"/>
            <p14:sldId id="289"/>
            <p14:sldId id="321"/>
            <p14:sldId id="305"/>
            <p14:sldId id="330"/>
            <p14:sldId id="262"/>
            <p14:sldId id="322"/>
            <p14:sldId id="298"/>
            <p14:sldId id="264"/>
            <p14:sldId id="269"/>
            <p14:sldId id="270"/>
            <p14:sldId id="312"/>
            <p14:sldId id="313"/>
            <p14:sldId id="272"/>
            <p14:sldId id="323"/>
            <p14:sldId id="277"/>
            <p14:sldId id="309"/>
            <p14:sldId id="300"/>
            <p14:sldId id="282"/>
            <p14:sldId id="294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9DE941-27AF-10ED-DE78-1881EF031A2C}" name="Arjun" initials="AAR" userId="Arjun" providerId="None"/>
  <p188:author id="{481B3597-F996-B62E-A6C3-1FAA33D634D6}" name="Natassha Anne Kaur Bhagat Singh" initials="NAKBS" userId="S::tt6939@time.com.my::ba0be2cd-245b-4836-b5c6-bc60ca86a8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54CD"/>
    <a:srgbClr val="FFF7FF"/>
    <a:srgbClr val="7F7F7F"/>
    <a:srgbClr val="FAFAFE"/>
    <a:srgbClr val="FAFAFD"/>
    <a:srgbClr val="FAFAFC"/>
    <a:srgbClr val="FFDEFF"/>
    <a:srgbClr val="F5F5F5"/>
    <a:srgbClr val="FAFA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96" autoAdjust="0"/>
    <p:restoredTop sz="94536"/>
  </p:normalViewPr>
  <p:slideViewPr>
    <p:cSldViewPr snapToGrid="0">
      <p:cViewPr varScale="1">
        <p:scale>
          <a:sx n="42" d="100"/>
          <a:sy n="42" d="100"/>
        </p:scale>
        <p:origin x="20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A9533-B495-AB40-A5C3-E85F807711C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13EA5-9FDB-0340-A224-96C67F3EE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662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324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2987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0649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311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5973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3635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1298" algn="l" defTabSz="995324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CAF-538E-1960-F2E6-6A84AC5B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CBD95-95B2-CE3F-CE6B-5A35D96A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8BEAE-BE37-D430-D47B-525A66E42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4C149-3A16-F030-3F02-94E2C3B9D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613EA5-9FDB-0340-A224-96C67F3EEC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19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97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31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13EA5-9FDB-0340-A224-96C67F3EEC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1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8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1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5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1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1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5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5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2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88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7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89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4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65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60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0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20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29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15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462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8233058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16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2616" y="4406246"/>
            <a:ext cx="7775666" cy="136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722616" y="2906282"/>
            <a:ext cx="7775666" cy="149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309" lvl="1" indent="-228577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463" lvl="2" indent="-228577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617" lvl="3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771" lvl="4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2926" lvl="5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080" lvl="6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234" lvl="7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389" lvl="8" indent="-228577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24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4040297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09" lvl="1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463" lvl="2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4650153" y="1599963"/>
            <a:ext cx="4040297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09" lvl="1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463" lvl="2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12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57392" y="1534885"/>
            <a:ext cx="4041886" cy="63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09" lvl="1" indent="-22857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463" lvl="2" indent="-2285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617" lvl="3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771" lvl="4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2926" lvl="5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080" lvl="6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234" lvl="7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389" lvl="8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457392" y="2174552"/>
            <a:ext cx="4041886" cy="395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09" lvl="1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617" lvl="3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771" lvl="4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2926" lvl="5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080" lvl="6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234" lvl="7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389" lvl="8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4646977" y="1534885"/>
            <a:ext cx="4043473" cy="63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54" lvl="0" indent="-228577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09" lvl="1" indent="-22857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463" lvl="2" indent="-2285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617" lvl="3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771" lvl="4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2926" lvl="5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080" lvl="6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234" lvl="7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389" lvl="8" indent="-2285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4646977" y="2174552"/>
            <a:ext cx="4043473" cy="395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09" lvl="1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617" lvl="3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771" lvl="4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2926" lvl="5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080" lvl="6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234" lvl="7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389" lvl="8" indent="-33016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23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87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393" y="273009"/>
            <a:ext cx="3009577" cy="116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3576552" y="273010"/>
            <a:ext cx="5113898" cy="5852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43175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09" lvl="1" indent="-406359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463" lvl="2" indent="-38096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617" lvl="3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5771" lvl="4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2926" lvl="5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080" lvl="6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234" lvl="7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389" lvl="8" indent="-35556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457393" y="1434887"/>
            <a:ext cx="3009577" cy="469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09" lvl="1" indent="-228577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463" lvl="2" indent="-228577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617" lvl="3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771" lvl="4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2926" lvl="5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080" lvl="6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234" lvl="7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389" lvl="8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514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793041" y="4799887"/>
            <a:ext cx="5488705" cy="56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1793041" y="612684"/>
            <a:ext cx="5488705" cy="4114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1793041" y="5366541"/>
            <a:ext cx="5488705" cy="8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09" lvl="1" indent="-228577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463" lvl="2" indent="-228577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617" lvl="3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771" lvl="4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2926" lvl="5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080" lvl="6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234" lvl="7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389" lvl="8" indent="-228577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884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2311277" y="-253920"/>
            <a:ext cx="4525291" cy="823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64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4735990" y="2170794"/>
            <a:ext cx="5850657" cy="205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543229" y="188761"/>
            <a:ext cx="5850657" cy="602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09" lvl="1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463" lvl="2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17" lvl="3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771" lvl="4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926" lvl="5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080" lvl="6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234" lvl="7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389" lvl="8" indent="-34286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7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1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F49B-3078-3D49-894B-3075E9AA6AE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66098-6238-3342-BAD3-79174576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392" y="274597"/>
            <a:ext cx="8233058" cy="114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392" y="1599963"/>
            <a:ext cx="8233058" cy="45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392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5513" y="6355407"/>
            <a:ext cx="2896817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5954" y="6355407"/>
            <a:ext cx="2134496" cy="36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035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9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itsolar.com/HuaweiSUN2000" TargetMode="External"/><Relationship Id="rId7" Type="http://schemas.openxmlformats.org/officeDocument/2006/relationships/image" Target="../media/image4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hyperlink" Target="https://www.emitsolar.com/AikoNeostar2S" TargetMode="Externa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itsolar.com/wp-content/uploads/2025/09/Huawei-LUNA2000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6E14-01A8-D39C-2137-04706953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B1C977C-D541-F9A8-D8A4-DC5BFFB6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09" y="1174417"/>
            <a:ext cx="6446856" cy="4348481"/>
          </a:xfrm>
          <a:prstGeom prst="rect">
            <a:avLst/>
          </a:prstGeom>
        </p:spPr>
      </p:pic>
      <p:pic>
        <p:nvPicPr>
          <p:cNvPr id="14" name="Google Shape;89;p1">
            <a:extLst>
              <a:ext uri="{FF2B5EF4-FFF2-40B4-BE49-F238E27FC236}">
                <a16:creationId xmlns:a16="http://schemas.microsoft.com/office/drawing/2014/main" id="{9856F473-8BA4-D432-13BC-B994AE86A64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6409" y="433605"/>
            <a:ext cx="1241322" cy="35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0;p1">
            <a:extLst>
              <a:ext uri="{FF2B5EF4-FFF2-40B4-BE49-F238E27FC236}">
                <a16:creationId xmlns:a16="http://schemas.microsoft.com/office/drawing/2014/main" id="{AE7679CA-69A9-0FDC-9E6D-FC19D88B35D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2481" y="432476"/>
            <a:ext cx="2380784" cy="355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irst_page_name">
            <a:extLst>
              <a:ext uri="{FF2B5EF4-FFF2-40B4-BE49-F238E27FC236}">
                <a16:creationId xmlns:a16="http://schemas.microsoft.com/office/drawing/2014/main" id="{D5AC4F2C-C6F4-FEEE-9605-EAFF945BD81B}"/>
              </a:ext>
            </a:extLst>
          </p:cNvPr>
          <p:cNvSpPr txBox="1"/>
          <p:nvPr/>
        </p:nvSpPr>
        <p:spPr>
          <a:xfrm>
            <a:off x="556410" y="5909410"/>
            <a:ext cx="644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Alex Tan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19" name="first_page_address">
            <a:extLst>
              <a:ext uri="{FF2B5EF4-FFF2-40B4-BE49-F238E27FC236}">
                <a16:creationId xmlns:a16="http://schemas.microsoft.com/office/drawing/2014/main" id="{98D16BDA-8FEF-A658-6392-F7ED4F3A1866}"/>
              </a:ext>
            </a:extLst>
          </p:cNvPr>
          <p:cNvSpPr txBox="1"/>
          <p:nvPr/>
        </p:nvSpPr>
        <p:spPr>
          <a:xfrm>
            <a:off x="556409" y="6278742"/>
            <a:ext cx="644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>
                <a:solidFill>
                  <a:srgbClr val="000000"/>
                </a:solidFill>
                <a:latin typeface="Work Sans" pitchFamily="2" charset="77"/>
                <a:sym typeface="Work Sans Light"/>
              </a:rPr>
              <a:t>No.123, Jalan 1/23, Taman Bahagia, KL</a:t>
            </a:r>
            <a:endParaRPr kumimoji="0" lang="en-MY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07D85-9330-7CEF-BC77-0C4D26736F38}"/>
              </a:ext>
            </a:extLst>
          </p:cNvPr>
          <p:cNvSpPr txBox="1"/>
          <p:nvPr/>
        </p:nvSpPr>
        <p:spPr>
          <a:xfrm>
            <a:off x="556409" y="9858098"/>
            <a:ext cx="6446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This proposal follows Solar ATAP installation limits of 5kWac for 1-phase homes and 15kWac for 3-phase homes,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and can be adjusted to suit your requirements.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22CFF-0A13-06C8-B42B-929A743751CC}"/>
              </a:ext>
            </a:extLst>
          </p:cNvPr>
          <p:cNvSpPr/>
          <p:nvPr/>
        </p:nvSpPr>
        <p:spPr>
          <a:xfrm>
            <a:off x="556409" y="7275497"/>
            <a:ext cx="6446856" cy="2160000"/>
          </a:xfrm>
          <a:prstGeom prst="rect">
            <a:avLst/>
          </a:prstGeom>
          <a:solidFill>
            <a:srgbClr val="FFDEFF">
              <a:alpha val="25098"/>
            </a:srgbClr>
          </a:solidFill>
          <a:ln w="571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BA6FC4-E5CE-5220-6DDF-E0DE1AC2CBE5}"/>
              </a:ext>
            </a:extLst>
          </p:cNvPr>
          <p:cNvCxnSpPr>
            <a:cxnSpLocks/>
          </p:cNvCxnSpPr>
          <p:nvPr/>
        </p:nvCxnSpPr>
        <p:spPr>
          <a:xfrm>
            <a:off x="2705361" y="7671585"/>
            <a:ext cx="0" cy="144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C03AF7-6B12-42C4-2143-547131540A76}"/>
              </a:ext>
            </a:extLst>
          </p:cNvPr>
          <p:cNvCxnSpPr>
            <a:cxnSpLocks/>
          </p:cNvCxnSpPr>
          <p:nvPr/>
        </p:nvCxnSpPr>
        <p:spPr>
          <a:xfrm>
            <a:off x="4854313" y="7671585"/>
            <a:ext cx="0" cy="144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ystem_size">
            <a:extLst>
              <a:ext uri="{FF2B5EF4-FFF2-40B4-BE49-F238E27FC236}">
                <a16:creationId xmlns:a16="http://schemas.microsoft.com/office/drawing/2014/main" id="{79E24A04-E0BF-AF7F-42E0-6413FB7D4081}"/>
              </a:ext>
            </a:extLst>
          </p:cNvPr>
          <p:cNvSpPr txBox="1"/>
          <p:nvPr/>
        </p:nvSpPr>
        <p:spPr>
          <a:xfrm>
            <a:off x="2837598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prstClr val="black"/>
                </a:solidFill>
                <a:latin typeface="Work Sans" pitchFamily="2" charset="77"/>
              </a:rPr>
              <a:t>16.32kWp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E4A527-5E67-448F-2A68-85BBE7C82733}"/>
              </a:ext>
            </a:extLst>
          </p:cNvPr>
          <p:cNvSpPr txBox="1"/>
          <p:nvPr/>
        </p:nvSpPr>
        <p:spPr>
          <a:xfrm>
            <a:off x="2837598" y="8201609"/>
            <a:ext cx="18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System Size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2CD0E8A-0E59-FF2C-C41A-D3018204F8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38648" y="7702806"/>
            <a:ext cx="682376" cy="432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4385662-3AAB-0DCD-B3E5-54B24F90AE8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5357" y="7702806"/>
            <a:ext cx="506863" cy="432000"/>
          </a:xfrm>
          <a:prstGeom prst="rect">
            <a:avLst/>
          </a:prstGeom>
        </p:spPr>
      </p:pic>
      <p:sp>
        <p:nvSpPr>
          <p:cNvPr id="32" name="new_tnb_bill">
            <a:extLst>
              <a:ext uri="{FF2B5EF4-FFF2-40B4-BE49-F238E27FC236}">
                <a16:creationId xmlns:a16="http://schemas.microsoft.com/office/drawing/2014/main" id="{F974D886-582E-A2B8-8A5B-9BDB4067EEBB}"/>
              </a:ext>
            </a:extLst>
          </p:cNvPr>
          <p:cNvSpPr txBox="1"/>
          <p:nvPr/>
        </p:nvSpPr>
        <p:spPr>
          <a:xfrm>
            <a:off x="4986550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RM651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7CD14A-8A6A-4F90-619A-7719C6478FFA}"/>
              </a:ext>
            </a:extLst>
          </p:cNvPr>
          <p:cNvSpPr txBox="1"/>
          <p:nvPr/>
        </p:nvSpPr>
        <p:spPr>
          <a:xfrm>
            <a:off x="4986550" y="8201609"/>
            <a:ext cx="188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TNB Bill After Solar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23760-AFEE-DF99-E934-F27C81F4BCDC}"/>
              </a:ext>
            </a:extLst>
          </p:cNvPr>
          <p:cNvSpPr txBox="1"/>
          <p:nvPr/>
        </p:nvSpPr>
        <p:spPr>
          <a:xfrm>
            <a:off x="4816992" y="8853532"/>
            <a:ext cx="218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[Monthly Savings:           ]</a:t>
            </a:r>
          </a:p>
        </p:txBody>
      </p:sp>
      <p:sp>
        <p:nvSpPr>
          <p:cNvPr id="28" name="tnb_bill">
            <a:extLst>
              <a:ext uri="{FF2B5EF4-FFF2-40B4-BE49-F238E27FC236}">
                <a16:creationId xmlns:a16="http://schemas.microsoft.com/office/drawing/2014/main" id="{4EB6F69A-3864-7726-EBC1-0457F0447C9D}"/>
              </a:ext>
            </a:extLst>
          </p:cNvPr>
          <p:cNvSpPr txBox="1"/>
          <p:nvPr/>
        </p:nvSpPr>
        <p:spPr>
          <a:xfrm>
            <a:off x="688647" y="8450627"/>
            <a:ext cx="188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RM1,500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9E108B-FA33-A86F-1A3F-4F417C6A6045}"/>
              </a:ext>
            </a:extLst>
          </p:cNvPr>
          <p:cNvSpPr txBox="1"/>
          <p:nvPr/>
        </p:nvSpPr>
        <p:spPr>
          <a:xfrm>
            <a:off x="622532" y="8201609"/>
            <a:ext cx="201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Before Solar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C9EF19-EFAD-A2F3-D204-3E60C5F0395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14885" y="7596327"/>
            <a:ext cx="432000" cy="538479"/>
          </a:xfrm>
          <a:prstGeom prst="rect">
            <a:avLst/>
          </a:prstGeom>
        </p:spPr>
      </p:pic>
      <p:sp>
        <p:nvSpPr>
          <p:cNvPr id="9" name="solar_savings">
            <a:extLst>
              <a:ext uri="{FF2B5EF4-FFF2-40B4-BE49-F238E27FC236}">
                <a16:creationId xmlns:a16="http://schemas.microsoft.com/office/drawing/2014/main" id="{AA64050B-73D5-88AB-AE6B-FC52BC8C7978}"/>
              </a:ext>
            </a:extLst>
          </p:cNvPr>
          <p:cNvSpPr txBox="1"/>
          <p:nvPr/>
        </p:nvSpPr>
        <p:spPr>
          <a:xfrm>
            <a:off x="5796746" y="8853532"/>
            <a:ext cx="1296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0"/>
              </a:rPr>
              <a:t>RM849</a:t>
            </a:r>
            <a:endParaRPr lang="en-MY" sz="10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61F4F-E109-7975-8D25-8FFA25F05FFE}"/>
              </a:ext>
            </a:extLst>
          </p:cNvPr>
          <p:cNvSpPr txBox="1"/>
          <p:nvPr/>
        </p:nvSpPr>
        <p:spPr>
          <a:xfrm>
            <a:off x="2932515" y="8853533"/>
            <a:ext cx="1694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[     Panels]</a:t>
            </a:r>
          </a:p>
        </p:txBody>
      </p:sp>
      <p:sp>
        <p:nvSpPr>
          <p:cNvPr id="5" name="panel_size">
            <a:extLst>
              <a:ext uri="{FF2B5EF4-FFF2-40B4-BE49-F238E27FC236}">
                <a16:creationId xmlns:a16="http://schemas.microsoft.com/office/drawing/2014/main" id="{CE738FF0-CA9A-00BF-FC68-FD8FEA12A154}"/>
              </a:ext>
            </a:extLst>
          </p:cNvPr>
          <p:cNvSpPr txBox="1"/>
          <p:nvPr/>
        </p:nvSpPr>
        <p:spPr>
          <a:xfrm>
            <a:off x="3414181" y="8861845"/>
            <a:ext cx="429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0"/>
              </a:rPr>
              <a:t>32</a:t>
            </a:r>
            <a:endParaRPr lang="en-MY" sz="10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52DB-308B-E919-30C9-30D0EB4E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A99FA4C-C9BC-9B9C-FEFC-44570B327467}"/>
              </a:ext>
            </a:extLst>
          </p:cNvPr>
          <p:cNvPicPr>
            <a:picLocks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63" y="7001813"/>
            <a:ext cx="7560000" cy="369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C24A38-830A-CF37-6597-4BF40F9B7080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Why Emit Solar</a:t>
            </a:r>
            <a:endParaRPr kumimoji="0" lang="en-US" sz="5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you </a:t>
            </a:r>
            <a:r>
              <a:rPr lang="en-US" sz="1200" dirty="0">
                <a:latin typeface="Work Sans" pitchFamily="2" charset="77"/>
              </a:rPr>
              <a:t>c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an </a:t>
            </a:r>
            <a:r>
              <a:rPr lang="en-US" sz="1200" dirty="0">
                <a:latin typeface="Work Sans" pitchFamily="2" charset="77"/>
              </a:rPr>
              <a:t>count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on, from </a:t>
            </a:r>
            <a:r>
              <a:rPr lang="en-US" sz="1200" dirty="0">
                <a:latin typeface="Work Sans" pitchFamily="2" charset="77"/>
              </a:rPr>
              <a:t>a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brand you </a:t>
            </a:r>
            <a:r>
              <a:rPr lang="en-US" sz="1200" dirty="0">
                <a:latin typeface="Work Sans" pitchFamily="2" charset="77"/>
              </a:rPr>
              <a:t>t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rust.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FFF3E2C-95CA-FA1D-226A-A62D4912B8E8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65BB02B-DB93-E51A-EF29-A91A37B0B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38A46C6-9C22-7004-CE11-79F5CEE4D5B0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bg1"/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22" name="Google Shape;122;p2">
            <a:extLst>
              <a:ext uri="{FF2B5EF4-FFF2-40B4-BE49-F238E27FC236}">
                <a16:creationId xmlns:a16="http://schemas.microsoft.com/office/drawing/2014/main" id="{63317596-9FF8-9EB3-5DCB-101079254786}"/>
              </a:ext>
            </a:extLst>
          </p:cNvPr>
          <p:cNvSpPr/>
          <p:nvPr/>
        </p:nvSpPr>
        <p:spPr>
          <a:xfrm rot="16200000">
            <a:off x="2528827" y="2305171"/>
            <a:ext cx="2502020" cy="8482533"/>
          </a:xfrm>
          <a:custGeom>
            <a:avLst/>
            <a:gdLst/>
            <a:ahLst/>
            <a:cxnLst/>
            <a:rect l="l" t="t" r="r" b="b"/>
            <a:pathLst>
              <a:path w="4861613" h="10427042" extrusionOk="0">
                <a:moveTo>
                  <a:pt x="0" y="0"/>
                </a:moveTo>
                <a:lnTo>
                  <a:pt x="4861613" y="0"/>
                </a:lnTo>
                <a:lnTo>
                  <a:pt x="4861613" y="10427042"/>
                </a:lnTo>
                <a:lnTo>
                  <a:pt x="0" y="10427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25;p2">
            <a:extLst>
              <a:ext uri="{FF2B5EF4-FFF2-40B4-BE49-F238E27FC236}">
                <a16:creationId xmlns:a16="http://schemas.microsoft.com/office/drawing/2014/main" id="{B1FC06E7-8B3C-6295-37CD-AEFB67F7399B}"/>
              </a:ext>
            </a:extLst>
          </p:cNvPr>
          <p:cNvSpPr/>
          <p:nvPr/>
        </p:nvSpPr>
        <p:spPr>
          <a:xfrm>
            <a:off x="362064" y="1568232"/>
            <a:ext cx="6832372" cy="4877474"/>
          </a:xfrm>
          <a:prstGeom prst="rect">
            <a:avLst/>
          </a:prstGeom>
          <a:noFill/>
          <a:ln w="19050" cap="sq" cmpd="sng">
            <a:solidFill>
              <a:srgbClr val="F454C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SzPts val="2800"/>
              <a:buFont typeface="Calibri"/>
              <a:buNone/>
            </a:pPr>
            <a:endParaRPr sz="2800" kern="0">
              <a:solidFill>
                <a:srgbClr val="000000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8" name="Google Shape;127;p2">
            <a:extLst>
              <a:ext uri="{FF2B5EF4-FFF2-40B4-BE49-F238E27FC236}">
                <a16:creationId xmlns:a16="http://schemas.microsoft.com/office/drawing/2014/main" id="{3399CA36-D16A-197D-56E2-3C4EF52BEAB1}"/>
              </a:ext>
            </a:extLst>
          </p:cNvPr>
          <p:cNvGrpSpPr/>
          <p:nvPr/>
        </p:nvGrpSpPr>
        <p:grpSpPr>
          <a:xfrm>
            <a:off x="773173" y="3960331"/>
            <a:ext cx="6010155" cy="360099"/>
            <a:chOff x="749300" y="7660878"/>
            <a:chExt cx="6010155" cy="360099"/>
          </a:xfrm>
        </p:grpSpPr>
        <p:cxnSp>
          <p:nvCxnSpPr>
            <p:cNvPr id="29" name="Google Shape;128;p2">
              <a:extLst>
                <a:ext uri="{FF2B5EF4-FFF2-40B4-BE49-F238E27FC236}">
                  <a16:creationId xmlns:a16="http://schemas.microsoft.com/office/drawing/2014/main" id="{BBCA4DE9-ABDE-8E50-429B-DA1912081AA1}"/>
                </a:ext>
              </a:extLst>
            </p:cNvPr>
            <p:cNvCxnSpPr/>
            <p:nvPr/>
          </p:nvCxnSpPr>
          <p:spPr>
            <a:xfrm>
              <a:off x="749300" y="7857131"/>
              <a:ext cx="6010155" cy="0"/>
            </a:xfrm>
            <a:prstGeom prst="straightConnector1">
              <a:avLst/>
            </a:prstGeom>
            <a:noFill/>
            <a:ln w="19050" cap="flat" cmpd="sng">
              <a:solidFill>
                <a:srgbClr val="F454C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129;p2">
              <a:extLst>
                <a:ext uri="{FF2B5EF4-FFF2-40B4-BE49-F238E27FC236}">
                  <a16:creationId xmlns:a16="http://schemas.microsoft.com/office/drawing/2014/main" id="{EB187CA4-2921-66D1-DF1B-71C413593FAF}"/>
                </a:ext>
              </a:extLst>
            </p:cNvPr>
            <p:cNvSpPr txBox="1"/>
            <p:nvPr/>
          </p:nvSpPr>
          <p:spPr>
            <a:xfrm>
              <a:off x="2537364" y="7660878"/>
              <a:ext cx="2437200" cy="3600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u="none" strike="noStrike" kern="0" cap="none" spc="0" normalizeH="0" baseline="0" noProof="0" dirty="0">
                  <a:ln>
                    <a:noFill/>
                  </a:ln>
                  <a:solidFill>
                    <a:srgbClr val="F454CD"/>
                  </a:solidFill>
                  <a:effectLst/>
                  <a:uLnTx/>
                  <a:uFillTx/>
                  <a:latin typeface="Work Sans" pitchFamily="2" charset="77"/>
                  <a:ea typeface="Work Sans Medium"/>
                  <a:cs typeface="Work Sans Medium"/>
                  <a:sym typeface="Work Sans Medium"/>
                </a:rPr>
                <a:t>Backed by Time</a:t>
              </a:r>
              <a:endParaRPr kumimoji="0" sz="1400" b="1" u="none" strike="noStrike" kern="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42" name="Google Shape;150;p2">
            <a:extLst>
              <a:ext uri="{FF2B5EF4-FFF2-40B4-BE49-F238E27FC236}">
                <a16:creationId xmlns:a16="http://schemas.microsoft.com/office/drawing/2014/main" id="{B2BE98BE-7323-A331-FBA8-FA43EEFAC3DE}"/>
              </a:ext>
            </a:extLst>
          </p:cNvPr>
          <p:cNvSpPr txBox="1"/>
          <p:nvPr/>
        </p:nvSpPr>
        <p:spPr>
          <a:xfrm>
            <a:off x="604236" y="2761979"/>
            <a:ext cx="183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Own</a:t>
            </a:r>
            <a:endParaRPr sz="1200" b="1" kern="0" dirty="0">
              <a:solidFill>
                <a:srgbClr val="FF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Low monthly payments, no credit card required.</a:t>
            </a:r>
          </a:p>
        </p:txBody>
      </p:sp>
      <p:sp>
        <p:nvSpPr>
          <p:cNvPr id="43" name="Google Shape;158;p2">
            <a:extLst>
              <a:ext uri="{FF2B5EF4-FFF2-40B4-BE49-F238E27FC236}">
                <a16:creationId xmlns:a16="http://schemas.microsoft.com/office/drawing/2014/main" id="{5AEEDC75-3178-4DF7-6156-C95942D8069C}"/>
              </a:ext>
            </a:extLst>
          </p:cNvPr>
          <p:cNvSpPr txBox="1"/>
          <p:nvPr/>
        </p:nvSpPr>
        <p:spPr>
          <a:xfrm>
            <a:off x="5116265" y="2761979"/>
            <a:ext cx="183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Use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Supported by brands you can trust.</a:t>
            </a:r>
          </a:p>
        </p:txBody>
      </p:sp>
      <p:sp>
        <p:nvSpPr>
          <p:cNvPr id="44" name="Google Shape;154;p2">
            <a:extLst>
              <a:ext uri="{FF2B5EF4-FFF2-40B4-BE49-F238E27FC236}">
                <a16:creationId xmlns:a16="http://schemas.microsoft.com/office/drawing/2014/main" id="{2720AA79-7B05-A908-6244-375731C88D13}"/>
              </a:ext>
            </a:extLst>
          </p:cNvPr>
          <p:cNvSpPr txBox="1"/>
          <p:nvPr/>
        </p:nvSpPr>
        <p:spPr>
          <a:xfrm>
            <a:off x="2835050" y="2761979"/>
            <a:ext cx="1886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Simple to Save</a:t>
            </a:r>
            <a:endParaRPr sz="1200" b="1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lang="en-US"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lvl="0" algn="ctr" defTabSz="914400">
              <a:defRPr/>
            </a:pPr>
            <a:r>
              <a:rPr lang="en-US" sz="1000" dirty="0">
                <a:latin typeface="Work Sans" pitchFamily="2" charset="77"/>
              </a:rPr>
              <a:t>Real savings on your TNB bill from day one.</a:t>
            </a:r>
          </a:p>
        </p:txBody>
      </p:sp>
      <p:sp>
        <p:nvSpPr>
          <p:cNvPr id="46" name="Google Shape;131;p2">
            <a:extLst>
              <a:ext uri="{FF2B5EF4-FFF2-40B4-BE49-F238E27FC236}">
                <a16:creationId xmlns:a16="http://schemas.microsoft.com/office/drawing/2014/main" id="{43E1A74E-3CF3-3976-975C-BCAD5E9D4EB3}"/>
              </a:ext>
            </a:extLst>
          </p:cNvPr>
          <p:cNvSpPr txBox="1"/>
          <p:nvPr/>
        </p:nvSpPr>
        <p:spPr>
          <a:xfrm>
            <a:off x="546090" y="5411337"/>
            <a:ext cx="2088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Proven Reliability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MY" sz="1000" kern="0" dirty="0">
                <a:solidFill>
                  <a:srgbClr val="000000"/>
                </a:solidFill>
                <a:latin typeface="Work Sans" pitchFamily="2" charset="77"/>
                <a:cs typeface="Arial"/>
                <a:sym typeface="Arial"/>
              </a:rPr>
              <a:t>Decades of quality products, consistent performance and trusted service.</a:t>
            </a:r>
            <a:endParaRPr sz="1400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47" name="Google Shape;136;p2">
            <a:extLst>
              <a:ext uri="{FF2B5EF4-FFF2-40B4-BE49-F238E27FC236}">
                <a16:creationId xmlns:a16="http://schemas.microsoft.com/office/drawing/2014/main" id="{0C85E8D8-40B6-D2D4-5D00-6C07E0D0304A}"/>
              </a:ext>
            </a:extLst>
          </p:cNvPr>
          <p:cNvSpPr txBox="1"/>
          <p:nvPr/>
        </p:nvSpPr>
        <p:spPr>
          <a:xfrm>
            <a:off x="2669990" y="5411337"/>
            <a:ext cx="248793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Complete Expertise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Every system designed, component handpicked and installer trained </a:t>
            </a: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to our highest standards.</a:t>
            </a:r>
          </a:p>
        </p:txBody>
      </p:sp>
      <p:sp>
        <p:nvSpPr>
          <p:cNvPr id="48" name="Google Shape;143;p2">
            <a:extLst>
              <a:ext uri="{FF2B5EF4-FFF2-40B4-BE49-F238E27FC236}">
                <a16:creationId xmlns:a16="http://schemas.microsoft.com/office/drawing/2014/main" id="{0F9C415E-9389-4CED-9872-D2B2B47A7608}"/>
              </a:ext>
            </a:extLst>
          </p:cNvPr>
          <p:cNvSpPr txBox="1"/>
          <p:nvPr/>
        </p:nvSpPr>
        <p:spPr>
          <a:xfrm>
            <a:off x="5193828" y="5411337"/>
            <a:ext cx="1816582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914400">
              <a:buClr>
                <a:srgbClr val="000000"/>
              </a:buClr>
              <a:buSzPts val="1000"/>
              <a:buFont typeface="Work Sans Medium"/>
              <a:buNone/>
            </a:pPr>
            <a:r>
              <a:rPr lang="en-US" sz="1200" b="1" kern="0" dirty="0">
                <a:solidFill>
                  <a:srgbClr val="000000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Certified Safety</a:t>
            </a:r>
            <a:endParaRPr sz="1200" b="1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  <a:p>
            <a:pPr algn="ctr" defTabSz="914400">
              <a:buClr>
                <a:srgbClr val="000000"/>
              </a:buClr>
              <a:buSzPts val="400"/>
              <a:buFont typeface="Calibri"/>
              <a:buNone/>
            </a:pPr>
            <a:endParaRPr sz="400" kern="0" dirty="0">
              <a:solidFill>
                <a:srgbClr val="000000"/>
              </a:solidFill>
              <a:latin typeface="Work Sans" pitchFamily="2" charset="77"/>
              <a:ea typeface="Work Sans Medium"/>
              <a:cs typeface="Work Sans Medium"/>
              <a:sym typeface="Work Sans Medium"/>
            </a:endParaRPr>
          </a:p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10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Fully licensed operations, highly skilled teams and strict safety standards.</a:t>
            </a:r>
            <a:endParaRPr sz="1400" kern="0" dirty="0">
              <a:solidFill>
                <a:srgbClr val="000000"/>
              </a:solidFill>
              <a:latin typeface="Work Sans" pitchFamily="2" charset="77"/>
              <a:cs typeface="Arial"/>
              <a:sym typeface="Arial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25F347E-31BB-B64F-B1E4-18F926BB1D7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8237" y="2169430"/>
            <a:ext cx="576000" cy="576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EAE7FD6-834F-C6E3-C8BF-01D94691B5C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2090" y="4694637"/>
            <a:ext cx="576000" cy="576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0560468-D1FD-6962-592B-BFD25614937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4119" y="4699048"/>
            <a:ext cx="576000" cy="576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EBAE92A-CA2E-46DE-0CEC-7D1C5A6A3DF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5959" y="4694637"/>
            <a:ext cx="576000" cy="576000"/>
          </a:xfrm>
          <a:prstGeom prst="rect">
            <a:avLst/>
          </a:prstGeom>
        </p:spPr>
      </p:pic>
      <p:sp>
        <p:nvSpPr>
          <p:cNvPr id="61" name="Google Shape;126;p2">
            <a:extLst>
              <a:ext uri="{FF2B5EF4-FFF2-40B4-BE49-F238E27FC236}">
                <a16:creationId xmlns:a16="http://schemas.microsoft.com/office/drawing/2014/main" id="{78C54958-2BC4-9369-E0FA-51E4268E5D8E}"/>
              </a:ext>
            </a:extLst>
          </p:cNvPr>
          <p:cNvSpPr/>
          <p:nvPr/>
        </p:nvSpPr>
        <p:spPr>
          <a:xfrm>
            <a:off x="2559673" y="1385155"/>
            <a:ext cx="2437155" cy="3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Pts val="1800"/>
              <a:buFont typeface="Work Sans Medium"/>
              <a:buNone/>
            </a:pPr>
            <a:r>
              <a:rPr lang="en-US" sz="1800" b="1" u="none" strike="noStrike" cap="none" dirty="0">
                <a:solidFill>
                  <a:srgbClr val="F454CD"/>
                </a:solidFill>
                <a:latin typeface="Work Sans" pitchFamily="2" charset="77"/>
                <a:ea typeface="Work Sans Medium"/>
                <a:cs typeface="Work Sans Medium"/>
                <a:sym typeface="Work Sans Medium"/>
              </a:rPr>
              <a:t>Solar Made Simple</a:t>
            </a:r>
            <a:endParaRPr b="1" dirty="0">
              <a:solidFill>
                <a:srgbClr val="F454CD"/>
              </a:solidFill>
              <a:latin typeface="Work Sans" pitchFamily="2" charset="77"/>
            </a:endParaRPr>
          </a:p>
        </p:txBody>
      </p:sp>
      <p:pic>
        <p:nvPicPr>
          <p:cNvPr id="2" name="Picture 1" descr="A black screen with pink icons&#10;&#10;AI-generated content may be incorrect.">
            <a:extLst>
              <a:ext uri="{FF2B5EF4-FFF2-40B4-BE49-F238E27FC236}">
                <a16:creationId xmlns:a16="http://schemas.microsoft.com/office/drawing/2014/main" id="{E6C4DD96-56DC-84E8-8DAA-FFDB213FBD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3673" r="84509" b="58202"/>
          <a:stretch>
            <a:fillRect/>
          </a:stretch>
        </p:blipFill>
        <p:spPr>
          <a:xfrm>
            <a:off x="1346993" y="2186280"/>
            <a:ext cx="486194" cy="517744"/>
          </a:xfrm>
          <a:prstGeom prst="rect">
            <a:avLst/>
          </a:prstGeom>
        </p:spPr>
      </p:pic>
      <p:pic>
        <p:nvPicPr>
          <p:cNvPr id="3" name="Picture 2" descr="A black screen with pink icons&#10;&#10;AI-generated content may be incorrect.">
            <a:extLst>
              <a:ext uri="{FF2B5EF4-FFF2-40B4-BE49-F238E27FC236}">
                <a16:creationId xmlns:a16="http://schemas.microsoft.com/office/drawing/2014/main" id="{590F3170-F9CC-8AB6-AE04-B9F797A809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4572" b="83048"/>
          <a:stretch>
            <a:fillRect/>
          </a:stretch>
        </p:blipFill>
        <p:spPr>
          <a:xfrm>
            <a:off x="3537622" y="2169430"/>
            <a:ext cx="575963" cy="5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9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7182-A542-F3A3-BB3F-6937D4D2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Google Shape;179;p3">
            <a:extLst>
              <a:ext uri="{FF2B5EF4-FFF2-40B4-BE49-F238E27FC236}">
                <a16:creationId xmlns:a16="http://schemas.microsoft.com/office/drawing/2014/main" id="{79040442-93AD-6814-DB67-F1B468666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179902"/>
              </p:ext>
            </p:extLst>
          </p:nvPr>
        </p:nvGraphicFramePr>
        <p:xfrm>
          <a:off x="327706" y="2975512"/>
          <a:ext cx="6904262" cy="66914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400">
                  <a:extLst>
                    <a:ext uri="{9D8B030D-6E8A-4147-A177-3AD203B41FA5}">
                      <a16:colId xmlns:a16="http://schemas.microsoft.com/office/drawing/2014/main" val="3549424417"/>
                    </a:ext>
                  </a:extLst>
                </a:gridCol>
                <a:gridCol w="1050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0931">
                  <a:extLst>
                    <a:ext uri="{9D8B030D-6E8A-4147-A177-3AD203B41FA5}">
                      <a16:colId xmlns:a16="http://schemas.microsoft.com/office/drawing/2014/main" val="2949957867"/>
                    </a:ext>
                  </a:extLst>
                </a:gridCol>
              </a:tblGrid>
              <a:tr h="54000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454CD"/>
                          </a:solidFill>
                          <a:latin typeface="Work Sans" pitchFamily="2" charset="77"/>
                        </a:rPr>
                        <a:t>TNB Bill Estimates</a:t>
                      </a:r>
                      <a:endParaRPr lang="en-US" sz="18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44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RM</a:t>
                      </a: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RM</a:t>
                      </a: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33956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MY"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Monthly Solar Savings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N/A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        Savings]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10-Year Solar Savings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N/A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[Payback:                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647892"/>
                  </a:ext>
                </a:extLst>
              </a:tr>
              <a:tr h="540000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Savings are based on Solar Generation of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(+/-)                 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, assuming a Daytime Electricity Use of 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(+/-)                   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. Additional savings may be achieved by switching to TNB’s Time of Use 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ToU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) Tariff.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06349"/>
                  </a:ext>
                </a:extLst>
              </a:tr>
              <a:tr h="582222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Pricing &amp; Purchase Options</a:t>
                      </a: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"/>
                        <a:cs typeface="Work Sans"/>
                      </a:endParaRPr>
                    </a:p>
                  </a:txBody>
                  <a:tcPr marL="91450" marR="91450" marT="45724" marB="45724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565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Outright Purchase</a:t>
                      </a:r>
                      <a:endParaRPr sz="12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EzSolar</a:t>
                      </a:r>
                    </a:p>
                  </a:txBody>
                  <a:tcPr marL="91450" marR="91450" marT="45724" marB="45724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704926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Amount Payable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6646"/>
                  </a:ext>
                </a:extLst>
              </a:tr>
              <a:tr h="180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Notes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MY" sz="1000" b="0" kern="1200" dirty="0">
                          <a:solidFill>
                            <a:schemeClr val="tx1"/>
                          </a:solidFill>
                          <a:effectLst/>
                          <a:latin typeface="Work Sans" pitchFamily="2" charset="77"/>
                          <a:ea typeface="+mn-ea"/>
                          <a:cs typeface="+mn-cs"/>
                        </a:rPr>
                        <a:t>Up to 60 months 0% interest credit card instalment plans with selected banks</a:t>
                      </a:r>
                    </a:p>
                    <a:p>
                      <a:pPr marL="171450" indent="-171450" algn="l"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kern="1200" dirty="0">
                          <a:solidFill>
                            <a:schemeClr val="tx1"/>
                          </a:solidFill>
                          <a:effectLst/>
                          <a:latin typeface="Work Sans" pitchFamily="2" charset="77"/>
                          <a:ea typeface="+mn-ea"/>
                          <a:cs typeface="+mn-cs"/>
                        </a:rPr>
                        <a:t>Purchases without credit card instalment plans are entitled to 7.5% discount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Payable monthly over 60 months.</a:t>
                      </a: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Payable monthly over 120 months.</a:t>
                      </a: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540000">
                <a:tc gridSpan="4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 deposit equivalent to RM1,000 (Outright Purchase) or 3 months’ payment (Emit EzSolar) is payable upon proposal acceptance for system reservation; offsets your balance payment or first 3 bills after installation.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30940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49D3B-8A9B-8290-146A-47725EDCAA5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793C31-BCD6-3108-7B6D-082F8223F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9727C4-9C13-7B9D-E661-BF9BF8CAF9A7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89B51-D8BF-6EEC-B3EF-AF6752110AD6}"/>
              </a:ext>
            </a:extLst>
          </p:cNvPr>
          <p:cNvSpPr/>
          <p:nvPr/>
        </p:nvSpPr>
        <p:spPr>
          <a:xfrm>
            <a:off x="321806" y="1315280"/>
            <a:ext cx="6916062" cy="1468092"/>
          </a:xfrm>
          <a:prstGeom prst="rect">
            <a:avLst/>
          </a:prstGeom>
          <a:solidFill>
            <a:srgbClr val="FFDEFF">
              <a:alpha val="25098"/>
            </a:srgbClr>
          </a:solidFill>
          <a:ln w="571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0AC1F8-6A90-FD74-4BA0-816BB8F5C0B5}"/>
              </a:ext>
            </a:extLst>
          </p:cNvPr>
          <p:cNvCxnSpPr>
            <a:cxnSpLocks/>
          </p:cNvCxnSpPr>
          <p:nvPr/>
        </p:nvCxnSpPr>
        <p:spPr>
          <a:xfrm>
            <a:off x="2651161" y="1509326"/>
            <a:ext cx="0" cy="108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999B14-7A23-79B5-3932-F3697D46A605}"/>
              </a:ext>
            </a:extLst>
          </p:cNvPr>
          <p:cNvCxnSpPr>
            <a:cxnSpLocks/>
          </p:cNvCxnSpPr>
          <p:nvPr/>
        </p:nvCxnSpPr>
        <p:spPr>
          <a:xfrm>
            <a:off x="4944515" y="1509326"/>
            <a:ext cx="0" cy="1080000"/>
          </a:xfrm>
          <a:prstGeom prst="line">
            <a:avLst/>
          </a:prstGeom>
          <a:ln w="19050">
            <a:solidFill>
              <a:srgbClr val="F454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nel_size">
            <a:extLst>
              <a:ext uri="{FF2B5EF4-FFF2-40B4-BE49-F238E27FC236}">
                <a16:creationId xmlns:a16="http://schemas.microsoft.com/office/drawing/2014/main" id="{C0AC3B38-D9FB-CE4C-3322-649212E8D1D1}"/>
              </a:ext>
            </a:extLst>
          </p:cNvPr>
          <p:cNvSpPr txBox="1"/>
          <p:nvPr/>
        </p:nvSpPr>
        <p:spPr>
          <a:xfrm>
            <a:off x="820483" y="2260510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32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DF62EB-637A-7B1E-6975-B6DBF35CF120}"/>
              </a:ext>
            </a:extLst>
          </p:cNvPr>
          <p:cNvSpPr txBox="1"/>
          <p:nvPr/>
        </p:nvSpPr>
        <p:spPr>
          <a:xfrm>
            <a:off x="820483" y="2038954"/>
            <a:ext cx="133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Number of Panels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CFDC4-C73A-2130-4B25-07CCAF381D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6483" y="1623958"/>
            <a:ext cx="540000" cy="327525"/>
          </a:xfrm>
          <a:prstGeom prst="rect">
            <a:avLst/>
          </a:prstGeom>
        </p:spPr>
      </p:pic>
      <p:sp>
        <p:nvSpPr>
          <p:cNvPr id="25" name="inverter_size">
            <a:extLst>
              <a:ext uri="{FF2B5EF4-FFF2-40B4-BE49-F238E27FC236}">
                <a16:creationId xmlns:a16="http://schemas.microsoft.com/office/drawing/2014/main" id="{A08BDB14-188C-F716-3715-25ABA534DC02}"/>
              </a:ext>
            </a:extLst>
          </p:cNvPr>
          <p:cNvSpPr txBox="1"/>
          <p:nvPr/>
        </p:nvSpPr>
        <p:spPr>
          <a:xfrm>
            <a:off x="3149838" y="2260510"/>
            <a:ext cx="12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12kWac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11212-B54A-9ACF-50B5-76FBCC52DE9D}"/>
              </a:ext>
            </a:extLst>
          </p:cNvPr>
          <p:cNvSpPr txBox="1"/>
          <p:nvPr/>
        </p:nvSpPr>
        <p:spPr>
          <a:xfrm>
            <a:off x="3149838" y="2038954"/>
            <a:ext cx="129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Inverter Sizing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EBA8F6-ED8E-06F7-72A6-E9412D750B7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49189" y="1486810"/>
            <a:ext cx="297298" cy="468000"/>
          </a:xfrm>
          <a:prstGeom prst="rect">
            <a:avLst/>
          </a:prstGeom>
        </p:spPr>
      </p:pic>
      <p:sp>
        <p:nvSpPr>
          <p:cNvPr id="29" name="solar_generation_1">
            <a:extLst>
              <a:ext uri="{FF2B5EF4-FFF2-40B4-BE49-F238E27FC236}">
                <a16:creationId xmlns:a16="http://schemas.microsoft.com/office/drawing/2014/main" id="{B8595E1A-2F19-AC06-E8F4-7086025911D6}"/>
              </a:ext>
            </a:extLst>
          </p:cNvPr>
          <p:cNvSpPr txBox="1"/>
          <p:nvPr/>
        </p:nvSpPr>
        <p:spPr>
          <a:xfrm>
            <a:off x="5230190" y="2260510"/>
            <a:ext cx="179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1,673kWh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CE1105-AE85-E539-1AE0-B646F4E29AD3}"/>
              </a:ext>
            </a:extLst>
          </p:cNvPr>
          <p:cNvSpPr txBox="1"/>
          <p:nvPr/>
        </p:nvSpPr>
        <p:spPr>
          <a:xfrm>
            <a:off x="5318524" y="2038954"/>
            <a:ext cx="1618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Generation (+/-)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9063A4-8BE0-7243-BBBC-BF68C71310E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54791" y="1468810"/>
            <a:ext cx="545469" cy="50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58593A-9115-C8CC-8C66-D65BC4D73698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2" name="old_bill">
            <a:extLst>
              <a:ext uri="{FF2B5EF4-FFF2-40B4-BE49-F238E27FC236}">
                <a16:creationId xmlns:a16="http://schemas.microsoft.com/office/drawing/2014/main" id="{37D9A4CC-DB2F-86E5-6835-E9FC6653ADA0}"/>
              </a:ext>
            </a:extLst>
          </p:cNvPr>
          <p:cNvSpPr txBox="1"/>
          <p:nvPr/>
        </p:nvSpPr>
        <p:spPr>
          <a:xfrm>
            <a:off x="3270786" y="4052448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lang="en-MY" sz="1200" dirty="0"/>
          </a:p>
        </p:txBody>
      </p:sp>
      <p:sp>
        <p:nvSpPr>
          <p:cNvPr id="5" name="new_bill">
            <a:extLst>
              <a:ext uri="{FF2B5EF4-FFF2-40B4-BE49-F238E27FC236}">
                <a16:creationId xmlns:a16="http://schemas.microsoft.com/office/drawing/2014/main" id="{95F36732-BE1A-02A0-E407-36367E69E452}"/>
              </a:ext>
            </a:extLst>
          </p:cNvPr>
          <p:cNvSpPr txBox="1"/>
          <p:nvPr/>
        </p:nvSpPr>
        <p:spPr>
          <a:xfrm>
            <a:off x="5374858" y="4052448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lang="en-MY" sz="1200" dirty="0"/>
          </a:p>
        </p:txBody>
      </p:sp>
      <p:sp>
        <p:nvSpPr>
          <p:cNvPr id="12" name="monthly_savings">
            <a:extLst>
              <a:ext uri="{FF2B5EF4-FFF2-40B4-BE49-F238E27FC236}">
                <a16:creationId xmlns:a16="http://schemas.microsoft.com/office/drawing/2014/main" id="{AC542D07-EB0E-F508-D640-B5D21B72DE19}"/>
              </a:ext>
            </a:extLst>
          </p:cNvPr>
          <p:cNvSpPr txBox="1"/>
          <p:nvPr/>
        </p:nvSpPr>
        <p:spPr>
          <a:xfrm>
            <a:off x="5382416" y="4466945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lang="en-MY" sz="1200" dirty="0"/>
          </a:p>
        </p:txBody>
      </p:sp>
      <p:sp>
        <p:nvSpPr>
          <p:cNvPr id="14" name="savings_percent">
            <a:extLst>
              <a:ext uri="{FF2B5EF4-FFF2-40B4-BE49-F238E27FC236}">
                <a16:creationId xmlns:a16="http://schemas.microsoft.com/office/drawing/2014/main" id="{A7A304FC-D290-C9D5-36C0-C30A3F533481}"/>
              </a:ext>
            </a:extLst>
          </p:cNvPr>
          <p:cNvSpPr txBox="1"/>
          <p:nvPr/>
        </p:nvSpPr>
        <p:spPr>
          <a:xfrm>
            <a:off x="5368642" y="4620837"/>
            <a:ext cx="1260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Work Sans Light"/>
              </a:rPr>
              <a:t>57%</a:t>
            </a:r>
            <a:endParaRPr lang="en-MY" sz="800" dirty="0"/>
          </a:p>
        </p:txBody>
      </p:sp>
      <p:sp>
        <p:nvSpPr>
          <p:cNvPr id="15" name="10y_savings">
            <a:extLst>
              <a:ext uri="{FF2B5EF4-FFF2-40B4-BE49-F238E27FC236}">
                <a16:creationId xmlns:a16="http://schemas.microsoft.com/office/drawing/2014/main" id="{186E46CC-F95D-58A1-61F5-AE75DA93142D}"/>
              </a:ext>
            </a:extLst>
          </p:cNvPr>
          <p:cNvSpPr txBox="1"/>
          <p:nvPr/>
        </p:nvSpPr>
        <p:spPr>
          <a:xfrm>
            <a:off x="5382416" y="4917902"/>
            <a:ext cx="1602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RM101,926</a:t>
            </a:r>
            <a:endParaRPr lang="en-MY" sz="1200" dirty="0"/>
          </a:p>
        </p:txBody>
      </p:sp>
      <p:sp>
        <p:nvSpPr>
          <p:cNvPr id="19" name="payback">
            <a:extLst>
              <a:ext uri="{FF2B5EF4-FFF2-40B4-BE49-F238E27FC236}">
                <a16:creationId xmlns:a16="http://schemas.microsoft.com/office/drawing/2014/main" id="{8A7D1953-909A-E8DA-5B6D-C0F0742921B7}"/>
              </a:ext>
            </a:extLst>
          </p:cNvPr>
          <p:cNvSpPr txBox="1"/>
          <p:nvPr/>
        </p:nvSpPr>
        <p:spPr>
          <a:xfrm>
            <a:off x="5772763" y="5094737"/>
            <a:ext cx="12600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Work Sans Light"/>
              </a:rPr>
              <a:t>3.5  Years</a:t>
            </a:r>
            <a:endParaRPr lang="en-MY" sz="800" dirty="0"/>
          </a:p>
        </p:txBody>
      </p:sp>
      <p:sp>
        <p:nvSpPr>
          <p:cNvPr id="20" name="solar_generation_2">
            <a:extLst>
              <a:ext uri="{FF2B5EF4-FFF2-40B4-BE49-F238E27FC236}">
                <a16:creationId xmlns:a16="http://schemas.microsoft.com/office/drawing/2014/main" id="{CE7EF0F6-732E-FDE8-2387-0B7B0F03D0AF}"/>
              </a:ext>
            </a:extLst>
          </p:cNvPr>
          <p:cNvSpPr txBox="1"/>
          <p:nvPr/>
        </p:nvSpPr>
        <p:spPr>
          <a:xfrm>
            <a:off x="3280311" y="5420011"/>
            <a:ext cx="8723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1,673kWh</a:t>
            </a:r>
            <a:endParaRPr lang="en-MY" sz="1000" dirty="0"/>
          </a:p>
        </p:txBody>
      </p:sp>
      <p:sp>
        <p:nvSpPr>
          <p:cNvPr id="23" name="daytime_usage">
            <a:extLst>
              <a:ext uri="{FF2B5EF4-FFF2-40B4-BE49-F238E27FC236}">
                <a16:creationId xmlns:a16="http://schemas.microsoft.com/office/drawing/2014/main" id="{DFA2ABD3-8743-882C-8E28-E760291326A6}"/>
              </a:ext>
            </a:extLst>
          </p:cNvPr>
          <p:cNvSpPr txBox="1"/>
          <p:nvPr/>
        </p:nvSpPr>
        <p:spPr>
          <a:xfrm>
            <a:off x="26639" y="5571696"/>
            <a:ext cx="2133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1,016kWh</a:t>
            </a:r>
            <a:endParaRPr lang="en-MY" sz="1000" dirty="0"/>
          </a:p>
        </p:txBody>
      </p:sp>
      <p:sp>
        <p:nvSpPr>
          <p:cNvPr id="27" name="op_price_1">
            <a:extLst>
              <a:ext uri="{FF2B5EF4-FFF2-40B4-BE49-F238E27FC236}">
                <a16:creationId xmlns:a16="http://schemas.microsoft.com/office/drawing/2014/main" id="{241A26F9-77E5-E716-D3D4-196A082CDB72}"/>
              </a:ext>
            </a:extLst>
          </p:cNvPr>
          <p:cNvSpPr txBox="1"/>
          <p:nvPr/>
        </p:nvSpPr>
        <p:spPr>
          <a:xfrm>
            <a:off x="2914650" y="6978822"/>
            <a:ext cx="2219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RM35,600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32" name="5y_price">
            <a:extLst>
              <a:ext uri="{FF2B5EF4-FFF2-40B4-BE49-F238E27FC236}">
                <a16:creationId xmlns:a16="http://schemas.microsoft.com/office/drawing/2014/main" id="{E0E4F8D7-1DE1-645D-C49F-0E5FDC854D10}"/>
              </a:ext>
            </a:extLst>
          </p:cNvPr>
          <p:cNvSpPr txBox="1"/>
          <p:nvPr/>
        </p:nvSpPr>
        <p:spPr>
          <a:xfrm>
            <a:off x="5211764" y="6955757"/>
            <a:ext cx="848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RM593</a:t>
            </a:r>
          </a:p>
        </p:txBody>
      </p:sp>
      <p:sp>
        <p:nvSpPr>
          <p:cNvPr id="35" name="10y_price">
            <a:extLst>
              <a:ext uri="{FF2B5EF4-FFF2-40B4-BE49-F238E27FC236}">
                <a16:creationId xmlns:a16="http://schemas.microsoft.com/office/drawing/2014/main" id="{CC0033EC-DFD1-6D54-1385-6AE3E696A8C2}"/>
              </a:ext>
            </a:extLst>
          </p:cNvPr>
          <p:cNvSpPr txBox="1"/>
          <p:nvPr/>
        </p:nvSpPr>
        <p:spPr>
          <a:xfrm>
            <a:off x="6191250" y="6955756"/>
            <a:ext cx="104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RM371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2D8F9-B0F1-EF0E-BDD3-AA90C9052A26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                  Solar System</a:t>
            </a:r>
            <a:endParaRPr lang="en-US" sz="700" dirty="0">
              <a:latin typeface="Work Sans" pitchFamily="2" charset="77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Savings and system cost.</a:t>
            </a:r>
          </a:p>
        </p:txBody>
      </p:sp>
      <p:sp>
        <p:nvSpPr>
          <p:cNvPr id="10" name="system_size">
            <a:extLst>
              <a:ext uri="{FF2B5EF4-FFF2-40B4-BE49-F238E27FC236}">
                <a16:creationId xmlns:a16="http://schemas.microsoft.com/office/drawing/2014/main" id="{5AEADC9E-B88B-C3CA-A04A-83FBA7BAA7D7}"/>
              </a:ext>
            </a:extLst>
          </p:cNvPr>
          <p:cNvSpPr txBox="1"/>
          <p:nvPr/>
        </p:nvSpPr>
        <p:spPr>
          <a:xfrm>
            <a:off x="321806" y="395207"/>
            <a:ext cx="2208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>
                <a:solidFill>
                  <a:srgbClr val="F454CD"/>
                </a:solidFill>
                <a:latin typeface="Work Sans" pitchFamily="2" charset="77"/>
              </a:rPr>
              <a:t>16.32kWp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96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31B6-9705-FE8F-D8BF-5E2250CF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9170A4A-178A-EBDF-5B77-CFF5EE6AD115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5A4D2B-582A-C4C2-1099-981BC045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EE0B1C-D6FF-FA40-AD19-12EA1CCB4D54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12F3DA-A7D9-B4F6-C9F0-69FA7F644179}"/>
              </a:ext>
            </a:extLst>
          </p:cNvPr>
          <p:cNvGrpSpPr/>
          <p:nvPr/>
        </p:nvGrpSpPr>
        <p:grpSpPr>
          <a:xfrm>
            <a:off x="321806" y="1315280"/>
            <a:ext cx="6916062" cy="1468092"/>
            <a:chOff x="321806" y="1315280"/>
            <a:chExt cx="6916062" cy="146809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471C70-BEEC-2F24-E63F-C114EB2430E3}"/>
                </a:ext>
              </a:extLst>
            </p:cNvPr>
            <p:cNvSpPr/>
            <p:nvPr/>
          </p:nvSpPr>
          <p:spPr>
            <a:xfrm>
              <a:off x="321806" y="1315280"/>
              <a:ext cx="6916062" cy="1468092"/>
            </a:xfrm>
            <a:prstGeom prst="rect">
              <a:avLst/>
            </a:prstGeom>
            <a:solidFill>
              <a:srgbClr val="FFDEFF">
                <a:alpha val="25098"/>
              </a:srgbClr>
            </a:solidFill>
            <a:ln w="57150">
              <a:solidFill>
                <a:srgbClr val="F45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B6BB255-D2A9-E9A4-914E-67AE7B2408DF}"/>
                </a:ext>
              </a:extLst>
            </p:cNvPr>
            <p:cNvCxnSpPr>
              <a:cxnSpLocks/>
            </p:cNvCxnSpPr>
            <p:nvPr/>
          </p:nvCxnSpPr>
          <p:spPr>
            <a:xfrm>
              <a:off x="2153479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935599-CF4A-B1BB-86A0-F26CF598C432}"/>
                </a:ext>
              </a:extLst>
            </p:cNvPr>
            <p:cNvCxnSpPr>
              <a:cxnSpLocks/>
            </p:cNvCxnSpPr>
            <p:nvPr/>
          </p:nvCxnSpPr>
          <p:spPr>
            <a:xfrm>
              <a:off x="3656825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045BF3D-A154-9357-6360-E541CE618D4B}"/>
                </a:ext>
              </a:extLst>
            </p:cNvPr>
            <p:cNvCxnSpPr>
              <a:cxnSpLocks/>
            </p:cNvCxnSpPr>
            <p:nvPr/>
          </p:nvCxnSpPr>
          <p:spPr>
            <a:xfrm>
              <a:off x="5520171" y="1513846"/>
              <a:ext cx="0" cy="1080000"/>
            </a:xfrm>
            <a:prstGeom prst="line">
              <a:avLst/>
            </a:prstGeom>
            <a:ln w="190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5756C5-94C1-5451-F795-0901E51046CB}"/>
                </a:ext>
              </a:extLst>
            </p:cNvPr>
            <p:cNvSpPr txBox="1"/>
            <p:nvPr/>
          </p:nvSpPr>
          <p:spPr>
            <a:xfrm>
              <a:off x="2257152" y="1887518"/>
              <a:ext cx="129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Solar Generation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E5D0E3-24CE-F055-3DF5-72E8888E4485}"/>
                </a:ext>
              </a:extLst>
            </p:cNvPr>
            <p:cNvSpPr txBox="1"/>
            <p:nvPr/>
          </p:nvSpPr>
          <p:spPr>
            <a:xfrm>
              <a:off x="3751688" y="1895861"/>
              <a:ext cx="1665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Daytime Electricity Use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0F65C7-46BF-65CD-191D-5F32328ADD85}"/>
                </a:ext>
              </a:extLst>
            </p:cNvPr>
            <p:cNvSpPr txBox="1"/>
            <p:nvPr/>
          </p:nvSpPr>
          <p:spPr>
            <a:xfrm>
              <a:off x="321806" y="1887518"/>
              <a:ext cx="1728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Home Electricity Usage (+/-)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9A0B62-01CF-E9B3-EE83-034C48FB241A}"/>
                </a:ext>
              </a:extLst>
            </p:cNvPr>
            <p:cNvSpPr txBox="1"/>
            <p:nvPr/>
          </p:nvSpPr>
          <p:spPr>
            <a:xfrm>
              <a:off x="5623844" y="1887518"/>
              <a:ext cx="151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Solar Export to TNB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(+/-)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DC7C936-FD79-703D-FE0E-DB77572DE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83311" y="1461422"/>
              <a:ext cx="504000" cy="40541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4254C56-CE46-9FDD-FA89-2E4C21937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32417" y="1373960"/>
              <a:ext cx="545469" cy="5040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9E2D6F0-CA4C-BF49-E7EE-DE26D0FB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332361" y="1464005"/>
              <a:ext cx="504000" cy="406800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661CBAF-958F-618C-268C-66E5FE08DCFE}"/>
                </a:ext>
              </a:extLst>
            </p:cNvPr>
            <p:cNvGrpSpPr/>
            <p:nvPr/>
          </p:nvGrpSpPr>
          <p:grpSpPr>
            <a:xfrm>
              <a:off x="5842984" y="1464746"/>
              <a:ext cx="1073720" cy="406800"/>
              <a:chOff x="5954124" y="1489254"/>
              <a:chExt cx="1073720" cy="406800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C40046F-9D25-FB38-BE10-67D4C6385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0640" y="1692654"/>
                <a:ext cx="288000" cy="0"/>
              </a:xfrm>
              <a:prstGeom prst="straightConnector1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E9A58DC-71C4-04E6-175C-3B230C64C2EE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954124" y="1489254"/>
                <a:ext cx="504000" cy="4068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5BE2043C-7D70-116C-28EA-8C3DD43B2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771155" y="1489254"/>
                <a:ext cx="256689" cy="406800"/>
              </a:xfrm>
              <a:prstGeom prst="rect">
                <a:avLst/>
              </a:prstGeom>
            </p:spPr>
          </p:pic>
        </p:grpSp>
      </p:grpSp>
      <p:graphicFrame>
        <p:nvGraphicFramePr>
          <p:cNvPr id="41" name="Google Shape;179;p3">
            <a:extLst>
              <a:ext uri="{FF2B5EF4-FFF2-40B4-BE49-F238E27FC236}">
                <a16:creationId xmlns:a16="http://schemas.microsoft.com/office/drawing/2014/main" id="{66175A80-356F-E8A3-C4D5-4D72B9AE2205}"/>
              </a:ext>
            </a:extLst>
          </p:cNvPr>
          <p:cNvGraphicFramePr/>
          <p:nvPr/>
        </p:nvGraphicFramePr>
        <p:xfrm>
          <a:off x="251803" y="2945862"/>
          <a:ext cx="7056068" cy="66457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535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Electricity Consumption</a:t>
                      </a:r>
                      <a:endParaRPr sz="105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kWh</a:t>
                      </a:r>
                    </a:p>
                  </a:txBody>
                  <a:tcPr marL="91450" marR="91450" marT="45725" marB="45725" anchor="b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(+/-) kWh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 </a:t>
                      </a: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25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Electricity Consumption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 (powered by solar)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Electricity Consumption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12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 i="0" dirty="0">
                        <a:solidFill>
                          <a:srgbClr val="F454CD"/>
                        </a:solidFill>
                        <a:latin typeface="Work Sans Light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Light" pitchFamily="2" charset="0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Light" pitchFamily="2" charset="0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42044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Charges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Energy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664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Capacity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Network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Automatic Fuel Adjustment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Energy Efficiency Incentive (EEI)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Retail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KWTBB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1442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SST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483223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Electricity Charges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16916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Less Solar Export Credits [               ]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466798"/>
                  </a:ext>
                </a:extLst>
              </a:tr>
              <a:tr h="262821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EEI Adjustment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    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64317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TNB Bill</a:t>
                      </a:r>
                      <a:endParaRPr sz="14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571710"/>
                  </a:ext>
                </a:extLst>
              </a:tr>
              <a:tr h="12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 b="1" i="0" dirty="0">
                        <a:solidFill>
                          <a:schemeClr val="bg1"/>
                        </a:solidFill>
                        <a:latin typeface="Work Sans Light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Work Sans Medium" pitchFamily="2" charset="0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 Medium" pitchFamily="2" charset="0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573824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kern="120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Solar Savings</a:t>
                      </a:r>
                      <a:endParaRPr sz="1400" b="1" i="0" kern="120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Before Solar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After Solar</a:t>
                      </a:r>
                      <a:endParaRPr kumimoji="0" 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 RM</a:t>
                      </a: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4373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Savings from Daytime Electricity Use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17172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Savings from Solar Export to TNB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07271"/>
                  </a:ext>
                </a:extLst>
              </a:tr>
              <a:tr h="262821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Total Savings</a:t>
                      </a:r>
                      <a:endParaRPr sz="1400" b="1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0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0421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756421-B676-0531-F955-1A2E08B16658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             TNB Bill Savings</a:t>
            </a:r>
            <a:endParaRPr lang="en-US" sz="700" dirty="0">
              <a:latin typeface="Work Sans" pitchFamily="2" charset="77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How it’s achieved.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5AFFE-909D-DBAA-59CE-D1F16FD48EDB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2" name="monthly_saving">
            <a:extLst>
              <a:ext uri="{FF2B5EF4-FFF2-40B4-BE49-F238E27FC236}">
                <a16:creationId xmlns:a16="http://schemas.microsoft.com/office/drawing/2014/main" id="{3CF8E1B2-1000-B2B1-E469-2796CC40244B}"/>
              </a:ext>
            </a:extLst>
          </p:cNvPr>
          <p:cNvSpPr txBox="1"/>
          <p:nvPr/>
        </p:nvSpPr>
        <p:spPr>
          <a:xfrm>
            <a:off x="301448" y="423613"/>
            <a:ext cx="1667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RM268</a:t>
            </a:r>
            <a:endParaRPr lang="en-MY" sz="3200" dirty="0"/>
          </a:p>
        </p:txBody>
      </p:sp>
      <p:sp>
        <p:nvSpPr>
          <p:cNvPr id="22" name="solar_kwh">
            <a:extLst>
              <a:ext uri="{FF2B5EF4-FFF2-40B4-BE49-F238E27FC236}">
                <a16:creationId xmlns:a16="http://schemas.microsoft.com/office/drawing/2014/main" id="{EC84C5E5-62B0-A638-4B31-9F377950C4CB}"/>
              </a:ext>
            </a:extLst>
          </p:cNvPr>
          <p:cNvSpPr txBox="1"/>
          <p:nvPr/>
        </p:nvSpPr>
        <p:spPr>
          <a:xfrm>
            <a:off x="2033688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732kWh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4" name="daytime_kwh_1">
            <a:extLst>
              <a:ext uri="{FF2B5EF4-FFF2-40B4-BE49-F238E27FC236}">
                <a16:creationId xmlns:a16="http://schemas.microsoft.com/office/drawing/2014/main" id="{2C9E040C-E3E7-55FF-0C20-E1E92BC206ED}"/>
              </a:ext>
            </a:extLst>
          </p:cNvPr>
          <p:cNvSpPr txBox="1"/>
          <p:nvPr/>
        </p:nvSpPr>
        <p:spPr>
          <a:xfrm>
            <a:off x="3712897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262kWh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5" name="old_kwh_1">
            <a:extLst>
              <a:ext uri="{FF2B5EF4-FFF2-40B4-BE49-F238E27FC236}">
                <a16:creationId xmlns:a16="http://schemas.microsoft.com/office/drawing/2014/main" id="{03DA21EA-58A9-5627-35B3-6983B8555ED1}"/>
              </a:ext>
            </a:extLst>
          </p:cNvPr>
          <p:cNvSpPr txBox="1"/>
          <p:nvPr/>
        </p:nvSpPr>
        <p:spPr>
          <a:xfrm>
            <a:off x="290135" y="2232899"/>
            <a:ext cx="176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1,048kWh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6" name="export_kwh_1">
            <a:extLst>
              <a:ext uri="{FF2B5EF4-FFF2-40B4-BE49-F238E27FC236}">
                <a16:creationId xmlns:a16="http://schemas.microsoft.com/office/drawing/2014/main" id="{CA4AB542-22F2-0EAA-DD18-B4C8B7685B44}"/>
              </a:ext>
            </a:extLst>
          </p:cNvPr>
          <p:cNvSpPr txBox="1"/>
          <p:nvPr/>
        </p:nvSpPr>
        <p:spPr>
          <a:xfrm>
            <a:off x="5508380" y="2232899"/>
            <a:ext cx="171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Work Sans" pitchFamily="2" charset="77"/>
              </a:rPr>
              <a:t>470kWh</a:t>
            </a:r>
            <a:endParaRPr lang="en-US" b="1" dirty="0">
              <a:latin typeface="Work Sa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33688F-5DDB-C64B-2C1C-B9DF35CA157B}"/>
              </a:ext>
            </a:extLst>
          </p:cNvPr>
          <p:cNvSpPr txBox="1"/>
          <p:nvPr/>
        </p:nvSpPr>
        <p:spPr>
          <a:xfrm>
            <a:off x="3756361" y="2475141"/>
            <a:ext cx="165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[        of Home Usage]</a:t>
            </a:r>
          </a:p>
        </p:txBody>
      </p:sp>
      <p:sp>
        <p:nvSpPr>
          <p:cNvPr id="29" name="savings_percent">
            <a:extLst>
              <a:ext uri="{FF2B5EF4-FFF2-40B4-BE49-F238E27FC236}">
                <a16:creationId xmlns:a16="http://schemas.microsoft.com/office/drawing/2014/main" id="{19CD4835-AF43-8605-7C95-B9E11C1401F4}"/>
              </a:ext>
            </a:extLst>
          </p:cNvPr>
          <p:cNvSpPr txBox="1"/>
          <p:nvPr/>
        </p:nvSpPr>
        <p:spPr>
          <a:xfrm>
            <a:off x="3994409" y="2475602"/>
            <a:ext cx="418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25%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Work Sans" pitchFamily="2" charset="77"/>
            </a:endParaRPr>
          </a:p>
        </p:txBody>
      </p:sp>
      <p:sp>
        <p:nvSpPr>
          <p:cNvPr id="50" name="export_kwh_2">
            <a:extLst>
              <a:ext uri="{FF2B5EF4-FFF2-40B4-BE49-F238E27FC236}">
                <a16:creationId xmlns:a16="http://schemas.microsoft.com/office/drawing/2014/main" id="{D70D4061-DBC1-93BD-5B7B-65EFF64B732E}"/>
              </a:ext>
            </a:extLst>
          </p:cNvPr>
          <p:cNvSpPr txBox="1"/>
          <p:nvPr/>
        </p:nvSpPr>
        <p:spPr>
          <a:xfrm>
            <a:off x="1211354" y="7316453"/>
            <a:ext cx="3107185" cy="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470kWh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78" name="before_total_kwh">
            <a:extLst>
              <a:ext uri="{FF2B5EF4-FFF2-40B4-BE49-F238E27FC236}">
                <a16:creationId xmlns:a16="http://schemas.microsoft.com/office/drawing/2014/main" id="{B5762A0E-256B-4F92-5D4D-5AF07C8AEF87}"/>
              </a:ext>
            </a:extLst>
          </p:cNvPr>
          <p:cNvSpPr txBox="1"/>
          <p:nvPr/>
        </p:nvSpPr>
        <p:spPr>
          <a:xfrm>
            <a:off x="4633667" y="3995482"/>
            <a:ext cx="88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1048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79" name="old_kwh_2">
            <a:extLst>
              <a:ext uri="{FF2B5EF4-FFF2-40B4-BE49-F238E27FC236}">
                <a16:creationId xmlns:a16="http://schemas.microsoft.com/office/drawing/2014/main" id="{EF1BFE34-A39B-12FC-2E20-ED2EF00A3B14}"/>
              </a:ext>
            </a:extLst>
          </p:cNvPr>
          <p:cNvSpPr txBox="1"/>
          <p:nvPr/>
        </p:nvSpPr>
        <p:spPr>
          <a:xfrm>
            <a:off x="4584362" y="342309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1048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0" name="after_total_kwh">
            <a:extLst>
              <a:ext uri="{FF2B5EF4-FFF2-40B4-BE49-F238E27FC236}">
                <a16:creationId xmlns:a16="http://schemas.microsoft.com/office/drawing/2014/main" id="{1204FCCE-2321-DB0F-3A88-267F9F099015}"/>
              </a:ext>
            </a:extLst>
          </p:cNvPr>
          <p:cNvSpPr txBox="1"/>
          <p:nvPr/>
        </p:nvSpPr>
        <p:spPr>
          <a:xfrm>
            <a:off x="6482234" y="3983096"/>
            <a:ext cx="88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1048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1" name="old_energy">
            <a:extLst>
              <a:ext uri="{FF2B5EF4-FFF2-40B4-BE49-F238E27FC236}">
                <a16:creationId xmlns:a16="http://schemas.microsoft.com/office/drawing/2014/main" id="{33A33DEF-EAA3-D235-CCE4-5F2776EBFF2A}"/>
              </a:ext>
            </a:extLst>
          </p:cNvPr>
          <p:cNvSpPr txBox="1"/>
          <p:nvPr/>
        </p:nvSpPr>
        <p:spPr>
          <a:xfrm>
            <a:off x="4566108" y="4870677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283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2" name="old_capacity">
            <a:extLst>
              <a:ext uri="{FF2B5EF4-FFF2-40B4-BE49-F238E27FC236}">
                <a16:creationId xmlns:a16="http://schemas.microsoft.com/office/drawing/2014/main" id="{74770D39-1AC6-875A-7AD1-EDBCAD542252}"/>
              </a:ext>
            </a:extLst>
          </p:cNvPr>
          <p:cNvSpPr txBox="1"/>
          <p:nvPr/>
        </p:nvSpPr>
        <p:spPr>
          <a:xfrm>
            <a:off x="4560425" y="513703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3" name="old_network">
            <a:extLst>
              <a:ext uri="{FF2B5EF4-FFF2-40B4-BE49-F238E27FC236}">
                <a16:creationId xmlns:a16="http://schemas.microsoft.com/office/drawing/2014/main" id="{FE6A3FDF-E68E-0846-1BC1-524C23A57D31}"/>
              </a:ext>
            </a:extLst>
          </p:cNvPr>
          <p:cNvSpPr txBox="1"/>
          <p:nvPr/>
        </p:nvSpPr>
        <p:spPr>
          <a:xfrm>
            <a:off x="4559360" y="542274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135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4" name="old_afa">
            <a:extLst>
              <a:ext uri="{FF2B5EF4-FFF2-40B4-BE49-F238E27FC236}">
                <a16:creationId xmlns:a16="http://schemas.microsoft.com/office/drawing/2014/main" id="{2016A721-EDA3-EA1C-16F6-1D7480CA9FDE}"/>
              </a:ext>
            </a:extLst>
          </p:cNvPr>
          <p:cNvSpPr txBox="1"/>
          <p:nvPr/>
        </p:nvSpPr>
        <p:spPr>
          <a:xfrm>
            <a:off x="4567718" y="5689112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5" name="old_eei">
            <a:extLst>
              <a:ext uri="{FF2B5EF4-FFF2-40B4-BE49-F238E27FC236}">
                <a16:creationId xmlns:a16="http://schemas.microsoft.com/office/drawing/2014/main" id="{0E036A79-A293-2564-94AA-9B4E4E1EC4D6}"/>
              </a:ext>
            </a:extLst>
          </p:cNvPr>
          <p:cNvSpPr txBox="1"/>
          <p:nvPr/>
        </p:nvSpPr>
        <p:spPr>
          <a:xfrm>
            <a:off x="4563174" y="596130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6" name="old_retail">
            <a:extLst>
              <a:ext uri="{FF2B5EF4-FFF2-40B4-BE49-F238E27FC236}">
                <a16:creationId xmlns:a16="http://schemas.microsoft.com/office/drawing/2014/main" id="{2E27CAF1-E484-9732-7874-5B253D73FC08}"/>
              </a:ext>
            </a:extLst>
          </p:cNvPr>
          <p:cNvSpPr txBox="1"/>
          <p:nvPr/>
        </p:nvSpPr>
        <p:spPr>
          <a:xfrm>
            <a:off x="4563175" y="624311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7" name="old_kwtbb">
            <a:extLst>
              <a:ext uri="{FF2B5EF4-FFF2-40B4-BE49-F238E27FC236}">
                <a16:creationId xmlns:a16="http://schemas.microsoft.com/office/drawing/2014/main" id="{051A73DB-528B-BB42-772B-DF728F28D219}"/>
              </a:ext>
            </a:extLst>
          </p:cNvPr>
          <p:cNvSpPr txBox="1"/>
          <p:nvPr/>
        </p:nvSpPr>
        <p:spPr>
          <a:xfrm>
            <a:off x="4563171" y="651215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8" name="old_sst">
            <a:extLst>
              <a:ext uri="{FF2B5EF4-FFF2-40B4-BE49-F238E27FC236}">
                <a16:creationId xmlns:a16="http://schemas.microsoft.com/office/drawing/2014/main" id="{E45B3881-C454-3952-ADEE-6177F703C5AD}"/>
              </a:ext>
            </a:extLst>
          </p:cNvPr>
          <p:cNvSpPr txBox="1"/>
          <p:nvPr/>
        </p:nvSpPr>
        <p:spPr>
          <a:xfrm>
            <a:off x="4567317" y="6775508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9" name="new_energy">
            <a:extLst>
              <a:ext uri="{FF2B5EF4-FFF2-40B4-BE49-F238E27FC236}">
                <a16:creationId xmlns:a16="http://schemas.microsoft.com/office/drawing/2014/main" id="{9A9C947C-EE5E-1A36-35B7-0EC7EA847A74}"/>
              </a:ext>
            </a:extLst>
          </p:cNvPr>
          <p:cNvSpPr txBox="1"/>
          <p:nvPr/>
        </p:nvSpPr>
        <p:spPr>
          <a:xfrm>
            <a:off x="6408014" y="4862251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212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0" name="new_capacity">
            <a:extLst>
              <a:ext uri="{FF2B5EF4-FFF2-40B4-BE49-F238E27FC236}">
                <a16:creationId xmlns:a16="http://schemas.microsoft.com/office/drawing/2014/main" id="{B4D94913-1C6A-BB09-D6A2-2A2CFCCC017B}"/>
              </a:ext>
            </a:extLst>
          </p:cNvPr>
          <p:cNvSpPr txBox="1"/>
          <p:nvPr/>
        </p:nvSpPr>
        <p:spPr>
          <a:xfrm>
            <a:off x="6408014" y="512860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36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1" name="new_network">
            <a:extLst>
              <a:ext uri="{FF2B5EF4-FFF2-40B4-BE49-F238E27FC236}">
                <a16:creationId xmlns:a16="http://schemas.microsoft.com/office/drawing/2014/main" id="{3FADBB8C-250B-FD56-DEE2-D2F4B3A1320F}"/>
              </a:ext>
            </a:extLst>
          </p:cNvPr>
          <p:cNvSpPr txBox="1"/>
          <p:nvPr/>
        </p:nvSpPr>
        <p:spPr>
          <a:xfrm>
            <a:off x="6408014" y="5414320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2" name="new_afa">
            <a:extLst>
              <a:ext uri="{FF2B5EF4-FFF2-40B4-BE49-F238E27FC236}">
                <a16:creationId xmlns:a16="http://schemas.microsoft.com/office/drawing/2014/main" id="{921435E8-883F-2A65-AADD-235F1FD59F12}"/>
              </a:ext>
            </a:extLst>
          </p:cNvPr>
          <p:cNvSpPr txBox="1"/>
          <p:nvPr/>
        </p:nvSpPr>
        <p:spPr>
          <a:xfrm>
            <a:off x="6408014" y="568068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3" name="new_eei">
            <a:extLst>
              <a:ext uri="{FF2B5EF4-FFF2-40B4-BE49-F238E27FC236}">
                <a16:creationId xmlns:a16="http://schemas.microsoft.com/office/drawing/2014/main" id="{2761641E-9A15-E4F1-F27C-0549D072B4CA}"/>
              </a:ext>
            </a:extLst>
          </p:cNvPr>
          <p:cNvSpPr txBox="1"/>
          <p:nvPr/>
        </p:nvSpPr>
        <p:spPr>
          <a:xfrm>
            <a:off x="6408014" y="595287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-31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4" name="new_retail">
            <a:extLst>
              <a:ext uri="{FF2B5EF4-FFF2-40B4-BE49-F238E27FC236}">
                <a16:creationId xmlns:a16="http://schemas.microsoft.com/office/drawing/2014/main" id="{DA46DE38-69BE-B65B-D6A5-7BDDF0C01C03}"/>
              </a:ext>
            </a:extLst>
          </p:cNvPr>
          <p:cNvSpPr txBox="1"/>
          <p:nvPr/>
        </p:nvSpPr>
        <p:spPr>
          <a:xfrm>
            <a:off x="6408014" y="623468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5" name="new_kwtbb">
            <a:extLst>
              <a:ext uri="{FF2B5EF4-FFF2-40B4-BE49-F238E27FC236}">
                <a16:creationId xmlns:a16="http://schemas.microsoft.com/office/drawing/2014/main" id="{4429845F-2266-C4F9-E59F-178C37CC5BCB}"/>
              </a:ext>
            </a:extLst>
          </p:cNvPr>
          <p:cNvSpPr txBox="1"/>
          <p:nvPr/>
        </p:nvSpPr>
        <p:spPr>
          <a:xfrm>
            <a:off x="6408014" y="6503725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6" name="new_sst">
            <a:extLst>
              <a:ext uri="{FF2B5EF4-FFF2-40B4-BE49-F238E27FC236}">
                <a16:creationId xmlns:a16="http://schemas.microsoft.com/office/drawing/2014/main" id="{68C32A79-9B07-AD1E-3C40-A585795F16CC}"/>
              </a:ext>
            </a:extLst>
          </p:cNvPr>
          <p:cNvSpPr txBox="1"/>
          <p:nvPr/>
        </p:nvSpPr>
        <p:spPr>
          <a:xfrm>
            <a:off x="6408014" y="6767082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97" name="old_total_charges">
            <a:extLst>
              <a:ext uri="{FF2B5EF4-FFF2-40B4-BE49-F238E27FC236}">
                <a16:creationId xmlns:a16="http://schemas.microsoft.com/office/drawing/2014/main" id="{5501C7CE-7290-54D2-0D8C-4EEAE3DB8698}"/>
              </a:ext>
            </a:extLst>
          </p:cNvPr>
          <p:cNvSpPr txBox="1"/>
          <p:nvPr/>
        </p:nvSpPr>
        <p:spPr>
          <a:xfrm>
            <a:off x="4644424" y="7057318"/>
            <a:ext cx="74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500</a:t>
            </a:r>
            <a:endParaRPr lang="en-MY" sz="1200" dirty="0"/>
          </a:p>
        </p:txBody>
      </p:sp>
      <p:sp>
        <p:nvSpPr>
          <p:cNvPr id="98" name="new_total_charges">
            <a:extLst>
              <a:ext uri="{FF2B5EF4-FFF2-40B4-BE49-F238E27FC236}">
                <a16:creationId xmlns:a16="http://schemas.microsoft.com/office/drawing/2014/main" id="{A8BB8910-3023-C32E-3924-3C02F943C7C2}"/>
              </a:ext>
            </a:extLst>
          </p:cNvPr>
          <p:cNvSpPr txBox="1"/>
          <p:nvPr/>
        </p:nvSpPr>
        <p:spPr>
          <a:xfrm>
            <a:off x="6493534" y="7053615"/>
            <a:ext cx="74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340</a:t>
            </a:r>
          </a:p>
        </p:txBody>
      </p:sp>
      <p:sp>
        <p:nvSpPr>
          <p:cNvPr id="99" name="solar_export_credit">
            <a:extLst>
              <a:ext uri="{FF2B5EF4-FFF2-40B4-BE49-F238E27FC236}">
                <a16:creationId xmlns:a16="http://schemas.microsoft.com/office/drawing/2014/main" id="{7E9DA73B-3200-924F-58FA-B8F8117812E2}"/>
              </a:ext>
            </a:extLst>
          </p:cNvPr>
          <p:cNvSpPr txBox="1"/>
          <p:nvPr/>
        </p:nvSpPr>
        <p:spPr>
          <a:xfrm>
            <a:off x="6408014" y="732566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-127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0" name="old_total_bill">
            <a:extLst>
              <a:ext uri="{FF2B5EF4-FFF2-40B4-BE49-F238E27FC236}">
                <a16:creationId xmlns:a16="http://schemas.microsoft.com/office/drawing/2014/main" id="{78F360E7-6D34-FD34-7D53-0E07D3558E79}"/>
              </a:ext>
            </a:extLst>
          </p:cNvPr>
          <p:cNvSpPr txBox="1"/>
          <p:nvPr/>
        </p:nvSpPr>
        <p:spPr>
          <a:xfrm>
            <a:off x="4558904" y="7846510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500</a:t>
            </a:r>
            <a:endParaRPr lang="en-MY" sz="1400" dirty="0"/>
          </a:p>
        </p:txBody>
      </p:sp>
      <p:sp>
        <p:nvSpPr>
          <p:cNvPr id="101" name="new_total_bill">
            <a:extLst>
              <a:ext uri="{FF2B5EF4-FFF2-40B4-BE49-F238E27FC236}">
                <a16:creationId xmlns:a16="http://schemas.microsoft.com/office/drawing/2014/main" id="{84D577EF-5E63-E642-5B43-06092D5FCA88}"/>
              </a:ext>
            </a:extLst>
          </p:cNvPr>
          <p:cNvSpPr txBox="1"/>
          <p:nvPr/>
        </p:nvSpPr>
        <p:spPr>
          <a:xfrm>
            <a:off x="6408014" y="7866428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232</a:t>
            </a:r>
            <a:endParaRPr lang="en-MY" sz="1400" dirty="0"/>
          </a:p>
        </p:txBody>
      </p:sp>
      <p:sp>
        <p:nvSpPr>
          <p:cNvPr id="102" name="daytime_savings">
            <a:extLst>
              <a:ext uri="{FF2B5EF4-FFF2-40B4-BE49-F238E27FC236}">
                <a16:creationId xmlns:a16="http://schemas.microsoft.com/office/drawing/2014/main" id="{F907C344-2249-7151-4412-0DAB850CBF5E}"/>
              </a:ext>
            </a:extLst>
          </p:cNvPr>
          <p:cNvSpPr txBox="1"/>
          <p:nvPr/>
        </p:nvSpPr>
        <p:spPr>
          <a:xfrm>
            <a:off x="6391399" y="8750337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160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3" name="export_savings">
            <a:extLst>
              <a:ext uri="{FF2B5EF4-FFF2-40B4-BE49-F238E27FC236}">
                <a16:creationId xmlns:a16="http://schemas.microsoft.com/office/drawing/2014/main" id="{E822E33C-7ECF-FB9E-E30C-9071DB41D665}"/>
              </a:ext>
            </a:extLst>
          </p:cNvPr>
          <p:cNvSpPr txBox="1"/>
          <p:nvPr/>
        </p:nvSpPr>
        <p:spPr>
          <a:xfrm>
            <a:off x="6391395" y="9019378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108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4" name="total_savings">
            <a:extLst>
              <a:ext uri="{FF2B5EF4-FFF2-40B4-BE49-F238E27FC236}">
                <a16:creationId xmlns:a16="http://schemas.microsoft.com/office/drawing/2014/main" id="{3A40B016-9701-8EA7-6E98-2C27AA5A054B}"/>
              </a:ext>
            </a:extLst>
          </p:cNvPr>
          <p:cNvSpPr txBox="1"/>
          <p:nvPr/>
        </p:nvSpPr>
        <p:spPr>
          <a:xfrm>
            <a:off x="6404938" y="9300923"/>
            <a:ext cx="8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268</a:t>
            </a:r>
            <a:endParaRPr lang="en-MY" sz="1400" dirty="0">
              <a:solidFill>
                <a:srgbClr val="F454CD"/>
              </a:solidFill>
            </a:endParaRPr>
          </a:p>
        </p:txBody>
      </p:sp>
      <p:sp>
        <p:nvSpPr>
          <p:cNvPr id="3" name="new_kwh">
            <a:extLst>
              <a:ext uri="{FF2B5EF4-FFF2-40B4-BE49-F238E27FC236}">
                <a16:creationId xmlns:a16="http://schemas.microsoft.com/office/drawing/2014/main" id="{75BDBDE6-9642-C300-09B7-3B7621011FD3}"/>
              </a:ext>
            </a:extLst>
          </p:cNvPr>
          <p:cNvSpPr txBox="1"/>
          <p:nvPr/>
        </p:nvSpPr>
        <p:spPr>
          <a:xfrm>
            <a:off x="6394087" y="3419046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786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8" name="daytime_kwh_2">
            <a:extLst>
              <a:ext uri="{FF2B5EF4-FFF2-40B4-BE49-F238E27FC236}">
                <a16:creationId xmlns:a16="http://schemas.microsoft.com/office/drawing/2014/main" id="{04C1A9F5-D692-52D2-F37C-F4BC29075272}"/>
              </a:ext>
            </a:extLst>
          </p:cNvPr>
          <p:cNvSpPr txBox="1"/>
          <p:nvPr/>
        </p:nvSpPr>
        <p:spPr>
          <a:xfrm>
            <a:off x="6390870" y="3712154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262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0" name="eei_adjust">
            <a:extLst>
              <a:ext uri="{FF2B5EF4-FFF2-40B4-BE49-F238E27FC236}">
                <a16:creationId xmlns:a16="http://schemas.microsoft.com/office/drawing/2014/main" id="{70CE43E4-B30F-4F54-8536-7B476F85CFF6}"/>
              </a:ext>
            </a:extLst>
          </p:cNvPr>
          <p:cNvSpPr txBox="1"/>
          <p:nvPr/>
        </p:nvSpPr>
        <p:spPr>
          <a:xfrm>
            <a:off x="6408014" y="7584449"/>
            <a:ext cx="82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19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8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CBD88-3C2C-9F22-30A2-C0F6AB89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142E2DA-FB1F-2039-512E-B42273845EFB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B88FBC-EB0C-10E0-DE72-383E560E9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5D36DA-20C4-1B25-E3A2-EA8A64AFBF7F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aphicFrame>
        <p:nvGraphicFramePr>
          <p:cNvPr id="2" name="Google Shape;179;p3">
            <a:extLst>
              <a:ext uri="{FF2B5EF4-FFF2-40B4-BE49-F238E27FC236}">
                <a16:creationId xmlns:a16="http://schemas.microsoft.com/office/drawing/2014/main" id="{26EC1611-5515-A20A-C63A-E89C5F4825B4}"/>
              </a:ext>
            </a:extLst>
          </p:cNvPr>
          <p:cNvGraphicFramePr/>
          <p:nvPr/>
        </p:nvGraphicFramePr>
        <p:xfrm>
          <a:off x="323837" y="1249923"/>
          <a:ext cx="6912000" cy="85729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769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Benefit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Outright Purchase</a:t>
                      </a:r>
                      <a:endParaRPr lang="en-US"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EzSolar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Payment Options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How you can pay for the system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Cash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Credit card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Interest-free monthly payments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Credit Card Limit Utilisation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Credit limit reduced by the full purchase amount</a:t>
                      </a:r>
                      <a:endParaRPr lang="en-MY"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Yes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No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7665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 Warranty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Covers workmanship defects during installation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1 year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1 year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19287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System Warranty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Ensures the system works as installed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2 years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2 years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4478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Extended Support Package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Support for system faults caused by faulty components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Not Applicable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Up to 10 years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[contract duration]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1099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EV-Ready Energy Hub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Quick setup with solar-first and dynamic load charging capability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39683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Energy Storage System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Store Solar Electricity for use at night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74152"/>
                  </a:ext>
                </a:extLst>
              </a:tr>
              <a:tr h="97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Energy Backup System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Run essential appliances during blackouts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Optional add-on</a:t>
                      </a: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175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061619-3F9F-0D5A-1D5A-CC0C58E46292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Purchase Options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latin typeface="Work Sans" pitchFamily="2" charset="77"/>
              </a:rPr>
              <a:t>Flexible payment terms to suit your need and budget.</a:t>
            </a:r>
          </a:p>
        </p:txBody>
      </p:sp>
    </p:spTree>
    <p:extLst>
      <p:ext uri="{BB962C8B-B14F-4D97-AF65-F5344CB8AC3E}">
        <p14:creationId xmlns:p14="http://schemas.microsoft.com/office/powerpoint/2010/main" val="305872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AFEBC-D0E2-B576-FE36-4253FCF4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3A9C6-0649-3777-D9AD-DF494257DACE}"/>
              </a:ext>
            </a:extLst>
          </p:cNvPr>
          <p:cNvSpPr txBox="1"/>
          <p:nvPr/>
        </p:nvSpPr>
        <p:spPr>
          <a:xfrm>
            <a:off x="323837" y="8341042"/>
            <a:ext cx="691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Understand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Your Solar Savings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lang="en-MY" sz="1400" dirty="0">
                <a:solidFill>
                  <a:schemeClr val="bg1"/>
                </a:solidFill>
                <a:latin typeface="Work Sans" pitchFamily="2" charset="77"/>
              </a:rPr>
              <a:t>How solar works, what affects savings, and why results can differ.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309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86D7-25F6-7697-2D79-2BA430C2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D3257B-375F-950C-2754-1C48E4AEF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737571"/>
              </p:ext>
            </p:extLst>
          </p:nvPr>
        </p:nvGraphicFramePr>
        <p:xfrm>
          <a:off x="293455" y="7953174"/>
          <a:ext cx="6972764" cy="1442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7191">
                  <a:extLst>
                    <a:ext uri="{9D8B030D-6E8A-4147-A177-3AD203B41FA5}">
                      <a16:colId xmlns:a16="http://schemas.microsoft.com/office/drawing/2014/main" val="805824610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214481236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140870791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104035185"/>
                    </a:ext>
                  </a:extLst>
                </a:gridCol>
                <a:gridCol w="1347191">
                  <a:extLst>
                    <a:ext uri="{9D8B030D-6E8A-4147-A177-3AD203B41FA5}">
                      <a16:colId xmlns:a16="http://schemas.microsoft.com/office/drawing/2014/main" val="3676158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65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Solar Panels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Inverter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Home DB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Battery (Optional)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Work Sans" pitchFamily="2" charset="77"/>
                        </a:rPr>
                        <a:t>Power Grid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94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Capture sunlight and convert it into Direct Current (DC).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Converts DC into usable electricity (AC) for your home.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Distributes solar (when available) and TNB power.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Stores excess Solar Electricity for night use.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Exports leftover solar and supplies power when needed.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61562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9E7F806-EFD9-D4CD-E48B-E10BE34BC4E6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5CC84CE-37FB-DBE7-88D2-1B66568FD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587797-B628-2D1A-E70A-394B7D646D6B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FAD275D-C600-75E6-BC04-B241B2F7A3B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1806" y="1647166"/>
            <a:ext cx="6916063" cy="581415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649AEBE-06DC-2F55-A400-584F47B412EF}"/>
              </a:ext>
            </a:extLst>
          </p:cNvPr>
          <p:cNvSpPr>
            <a:spLocks noChangeAspect="1"/>
          </p:cNvSpPr>
          <p:nvPr/>
        </p:nvSpPr>
        <p:spPr>
          <a:xfrm>
            <a:off x="382127" y="8009834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2628E1-A858-A1BD-F59B-0CB52700FF4E}"/>
              </a:ext>
            </a:extLst>
          </p:cNvPr>
          <p:cNvSpPr>
            <a:spLocks noChangeAspect="1"/>
          </p:cNvSpPr>
          <p:nvPr/>
        </p:nvSpPr>
        <p:spPr>
          <a:xfrm>
            <a:off x="1741535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6EE92A-BF76-2E7D-A09A-A7CF64D2B619}"/>
              </a:ext>
            </a:extLst>
          </p:cNvPr>
          <p:cNvSpPr>
            <a:spLocks noChangeAspect="1"/>
          </p:cNvSpPr>
          <p:nvPr/>
        </p:nvSpPr>
        <p:spPr>
          <a:xfrm>
            <a:off x="3085646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2C9B114-73B0-CDEE-C3DD-C67A11FEDA08}"/>
              </a:ext>
            </a:extLst>
          </p:cNvPr>
          <p:cNvSpPr>
            <a:spLocks noChangeAspect="1"/>
          </p:cNvSpPr>
          <p:nvPr/>
        </p:nvSpPr>
        <p:spPr>
          <a:xfrm>
            <a:off x="4436501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D81747F-6D06-A70E-56B7-134EBF0DBF5C}"/>
              </a:ext>
            </a:extLst>
          </p:cNvPr>
          <p:cNvSpPr>
            <a:spLocks noChangeAspect="1"/>
          </p:cNvSpPr>
          <p:nvPr/>
        </p:nvSpPr>
        <p:spPr>
          <a:xfrm>
            <a:off x="6022749" y="8029858"/>
            <a:ext cx="216000" cy="216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454CD"/>
                </a:solidFill>
                <a:latin typeface="Work Sans" pitchFamily="2" charset="77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E627C-0FC8-905C-0FB9-46A8BA8BE3E1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Solar in Action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solidFill>
                  <a:prstClr val="black"/>
                </a:solidFill>
                <a:latin typeface="Work Sans" pitchFamily="2" charset="77"/>
              </a:rPr>
              <a:t>A simple look at how your solar system works.</a:t>
            </a:r>
          </a:p>
        </p:txBody>
      </p:sp>
    </p:spTree>
    <p:extLst>
      <p:ext uri="{BB962C8B-B14F-4D97-AF65-F5344CB8AC3E}">
        <p14:creationId xmlns:p14="http://schemas.microsoft.com/office/powerpoint/2010/main" val="17314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909A-1888-9C04-5033-52662FB4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F67889-2E2B-82E2-2D07-A52AFCA473C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A30376C-EA2A-D5B1-5CE5-3ADDD7896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0F37E5-7B4C-33CA-D044-0D2E3FCC3D61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17D264-522E-5A2B-0B77-76D1141C0D57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Maximise Your Solar Savings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Use more Solar Electricity during the day to reduce grid imports and maximise savings.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DA9CE4-EE36-49EC-F713-CF64F4B46AF3}"/>
              </a:ext>
            </a:extLst>
          </p:cNvPr>
          <p:cNvSpPr/>
          <p:nvPr/>
        </p:nvSpPr>
        <p:spPr>
          <a:xfrm>
            <a:off x="332248" y="6361239"/>
            <a:ext cx="6916062" cy="16885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85D8113-D3A8-457F-60F6-CDB4EC0A6310}"/>
              </a:ext>
            </a:extLst>
          </p:cNvPr>
          <p:cNvGrpSpPr/>
          <p:nvPr/>
        </p:nvGrpSpPr>
        <p:grpSpPr>
          <a:xfrm>
            <a:off x="500536" y="1825611"/>
            <a:ext cx="6558603" cy="5305819"/>
            <a:chOff x="500535" y="1495552"/>
            <a:chExt cx="6558603" cy="5305819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47AE888-9309-ECB4-750B-628D95E0DD10}"/>
                </a:ext>
              </a:extLst>
            </p:cNvPr>
            <p:cNvCxnSpPr>
              <a:cxnSpLocks/>
            </p:cNvCxnSpPr>
            <p:nvPr/>
          </p:nvCxnSpPr>
          <p:spPr>
            <a:xfrm>
              <a:off x="5758904" y="1919710"/>
              <a:ext cx="288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811CA8-BA72-EBD5-0000-EC44C98A9CE8}"/>
                </a:ext>
              </a:extLst>
            </p:cNvPr>
            <p:cNvSpPr/>
            <p:nvPr/>
          </p:nvSpPr>
          <p:spPr>
            <a:xfrm>
              <a:off x="1818497" y="1495552"/>
              <a:ext cx="3955926" cy="8568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  <a:latin typeface="Work Sans" pitchFamily="2" charset="77"/>
                </a:rPr>
                <a:t>             Solar Electricity Generation</a:t>
              </a:r>
            </a:p>
            <a:p>
              <a:pPr marL="755650"/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Based on system size; influenced by factors such as roof design, tilt and orientation.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5063638-103A-D613-EF5E-1BE108D6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957591" y="1659788"/>
              <a:ext cx="571870" cy="528394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AFE19A-55B1-D01D-07D1-A99D4273B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2771" y="1919710"/>
              <a:ext cx="288000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ED64DA2-188D-5764-8C0B-3A0DDB08C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2771" y="1919710"/>
              <a:ext cx="0" cy="57600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513B627-4271-0C6D-F7A5-E5AFEABA1BFB}"/>
                </a:ext>
              </a:extLst>
            </p:cNvPr>
            <p:cNvCxnSpPr>
              <a:cxnSpLocks/>
            </p:cNvCxnSpPr>
            <p:nvPr/>
          </p:nvCxnSpPr>
          <p:spPr>
            <a:xfrm>
              <a:off x="1512770" y="2495710"/>
              <a:ext cx="2011766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B86570B-650A-E26F-91C8-43DFC9FC5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536" y="2495710"/>
              <a:ext cx="0" cy="57600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28F055-8702-012E-689F-9400CD6A6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537" y="3064339"/>
              <a:ext cx="2699999" cy="0"/>
            </a:xfrm>
            <a:prstGeom prst="line">
              <a:avLst/>
            </a:prstGeom>
            <a:ln w="1270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CD5A4B1-13C7-E98C-A0A2-8F612023AA1D}"/>
                </a:ext>
              </a:extLst>
            </p:cNvPr>
            <p:cNvGrpSpPr/>
            <p:nvPr/>
          </p:nvGrpSpPr>
          <p:grpSpPr>
            <a:xfrm>
              <a:off x="1133643" y="3433560"/>
              <a:ext cx="2390893" cy="3367811"/>
              <a:chOff x="1133632" y="3712719"/>
              <a:chExt cx="2390893" cy="3367811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B004ED7-B0BC-00BB-CE90-BD768B07F3D4}"/>
                  </a:ext>
                </a:extLst>
              </p:cNvPr>
              <p:cNvSpPr/>
              <p:nvPr/>
            </p:nvSpPr>
            <p:spPr>
              <a:xfrm>
                <a:off x="1133632" y="3712719"/>
                <a:ext cx="2390893" cy="3367811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F2A93ED9-53AC-2B3E-83B9-6E7C27BEFD5A}"/>
                  </a:ext>
                </a:extLst>
              </p:cNvPr>
              <p:cNvGrpSpPr/>
              <p:nvPr/>
            </p:nvGrpSpPr>
            <p:grpSpPr>
              <a:xfrm>
                <a:off x="1195078" y="3924952"/>
                <a:ext cx="2268000" cy="2974122"/>
                <a:chOff x="1195078" y="3908517"/>
                <a:chExt cx="2268000" cy="2974122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7F84C97-A724-FFF3-9030-272705526528}"/>
                    </a:ext>
                  </a:extLst>
                </p:cNvPr>
                <p:cNvSpPr txBox="1"/>
                <p:nvPr/>
              </p:nvSpPr>
              <p:spPr>
                <a:xfrm>
                  <a:off x="1195078" y="3908517"/>
                  <a:ext cx="2268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F454CD"/>
                      </a:solidFill>
                      <a:latin typeface="Work Sans" pitchFamily="2" charset="77"/>
                    </a:rPr>
                    <a:t>1. Daytime Use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0D46C4-921B-54AD-97A4-AB64F422C313}"/>
                    </a:ext>
                  </a:extLst>
                </p:cNvPr>
                <p:cNvSpPr txBox="1"/>
                <p:nvPr/>
              </p:nvSpPr>
              <p:spPr>
                <a:xfrm>
                  <a:off x="1213078" y="4319040"/>
                  <a:ext cx="2232000" cy="14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Solar Electricity powers your home as it’s generated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Avoids importing electricity from TNB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Delivers the highest savings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7C0C16C-3953-514C-04A5-C1C8C5787E13}"/>
                    </a:ext>
                  </a:extLst>
                </p:cNvPr>
                <p:cNvSpPr txBox="1"/>
                <p:nvPr/>
              </p:nvSpPr>
              <p:spPr>
                <a:xfrm>
                  <a:off x="1213078" y="5928532"/>
                  <a:ext cx="2232000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100"/>
                  </a:pPr>
                  <a:r>
                    <a:rPr lang="en-US" sz="1200" dirty="0">
                      <a:solidFill>
                        <a:schemeClr val="tx1"/>
                      </a:solidFill>
                      <a:latin typeface="Work Sans" pitchFamily="2" charset="77"/>
                    </a:rPr>
                    <a:t>Savings</a:t>
                  </a:r>
                  <a:endParaRPr lang="en-US" sz="1200" dirty="0"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400" b="1" dirty="0">
                      <a:solidFill>
                        <a:srgbClr val="F454CD"/>
                      </a:solidFill>
                      <a:latin typeface="Work Sans" pitchFamily="2" charset="77"/>
                    </a:rPr>
                    <a:t>RM0.49–RM0.60</a:t>
                  </a:r>
                  <a:r>
                    <a:rPr lang="en-US" sz="1000" dirty="0">
                      <a:latin typeface="Work Sans" pitchFamily="2" charset="77"/>
                    </a:rPr>
                    <a:t>/</a:t>
                  </a:r>
                  <a:r>
                    <a:rPr lang="en-US" sz="1000" dirty="0">
                      <a:solidFill>
                        <a:schemeClr val="tx1"/>
                      </a:solidFill>
                      <a:latin typeface="Work Sans" pitchFamily="2" charset="77"/>
                    </a:rPr>
                    <a:t>kWh</a:t>
                  </a:r>
                </a:p>
                <a:p>
                  <a:pPr>
                    <a:defRPr sz="1100"/>
                  </a:pPr>
                  <a:endParaRPr lang="en-US" sz="1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0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Work Sans" pitchFamily="2" charset="77"/>
                    </a:rPr>
                    <a:t>Offsets Energy, Capacity, Network, SST &amp; KWTBB charges</a:t>
                  </a:r>
                </a:p>
              </p:txBody>
            </p: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C68033B4-912F-EC99-6E98-BFE40F68C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3078" y="5825786"/>
                  <a:ext cx="2232000" cy="0"/>
                </a:xfrm>
                <a:prstGeom prst="line">
                  <a:avLst/>
                </a:prstGeom>
                <a:ln w="6350">
                  <a:solidFill>
                    <a:srgbClr val="F454C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F0D060D-669B-94CC-4DA6-B3F9B7FEC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6904" y="1919710"/>
              <a:ext cx="0" cy="57600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E168A91-7A73-D9D3-0440-F95FBF1D5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5139" y="2495710"/>
              <a:ext cx="2011766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D358231-ABFE-D4ED-6052-DB1B7FBBEB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5139" y="2495710"/>
              <a:ext cx="0" cy="57600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FF49E12-6C31-6240-8151-FE931F90FF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5139" y="3064339"/>
              <a:ext cx="2699999" cy="11073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14D22F0-BBA4-647C-CDF4-107347462A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535" y="2736712"/>
              <a:ext cx="648000" cy="6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45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3F71F6E-A1E4-5460-D8A7-5040B0851C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11138" y="2753926"/>
              <a:ext cx="648000" cy="64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E1F4ED81-0D36-2417-A3C6-71DBAA900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1526" y="2897926"/>
              <a:ext cx="446017" cy="360000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8EF882AC-389C-58D8-4CAE-67EDBFEE4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606794" y="2874526"/>
              <a:ext cx="256689" cy="406800"/>
            </a:xfrm>
            <a:prstGeom prst="rect">
              <a:avLst/>
            </a:prstGeom>
          </p:spPr>
        </p:pic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6EC3A4B-533F-14A1-0E08-2D0560552F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13351" y="1869985"/>
              <a:ext cx="108000" cy="108000"/>
            </a:xfrm>
            <a:prstGeom prst="ellipse">
              <a:avLst/>
            </a:prstGeom>
            <a:solidFill>
              <a:srgbClr val="F454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D69B25C-04C5-EE05-1AE2-D1DD7B29B6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7410" y="1861079"/>
              <a:ext cx="108000" cy="108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" dirty="0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65564BCF-515D-9747-8E87-05400F9F48DB}"/>
                </a:ext>
              </a:extLst>
            </p:cNvPr>
            <p:cNvGrpSpPr/>
            <p:nvPr/>
          </p:nvGrpSpPr>
          <p:grpSpPr>
            <a:xfrm>
              <a:off x="4035139" y="3433559"/>
              <a:ext cx="2390893" cy="3367811"/>
              <a:chOff x="1133632" y="3712719"/>
              <a:chExt cx="2390893" cy="3367811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3E0F836-169D-B6B6-16C9-C50DB84F633B}"/>
                  </a:ext>
                </a:extLst>
              </p:cNvPr>
              <p:cNvSpPr/>
              <p:nvPr/>
            </p:nvSpPr>
            <p:spPr>
              <a:xfrm>
                <a:off x="1133632" y="3712719"/>
                <a:ext cx="2390893" cy="3367811"/>
              </a:xfrm>
              <a:prstGeom prst="rect">
                <a:avLst/>
              </a:prstGeom>
              <a:solidFill>
                <a:srgbClr val="F9FC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A595DAB-78E2-604C-AF1F-C13C34AED624}"/>
                  </a:ext>
                </a:extLst>
              </p:cNvPr>
              <p:cNvGrpSpPr/>
              <p:nvPr/>
            </p:nvGrpSpPr>
            <p:grpSpPr>
              <a:xfrm>
                <a:off x="1195078" y="3924952"/>
                <a:ext cx="2268000" cy="2820234"/>
                <a:chOff x="1195078" y="3908517"/>
                <a:chExt cx="2268000" cy="2820234"/>
              </a:xfrm>
            </p:grpSpPr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238DCB9-E7FE-6C36-95DD-9C98BC4B3CA8}"/>
                    </a:ext>
                  </a:extLst>
                </p:cNvPr>
                <p:cNvSpPr txBox="1"/>
                <p:nvPr/>
              </p:nvSpPr>
              <p:spPr>
                <a:xfrm>
                  <a:off x="1195078" y="3908517"/>
                  <a:ext cx="2268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Work Sans" pitchFamily="2" charset="77"/>
                    </a:rPr>
                    <a:t>2. Export to Grid</a:t>
                  </a: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8886AB-95ED-5C03-6961-B49417581D76}"/>
                    </a:ext>
                  </a:extLst>
                </p:cNvPr>
                <p:cNvSpPr txBox="1"/>
                <p:nvPr/>
              </p:nvSpPr>
              <p:spPr>
                <a:xfrm>
                  <a:off x="1213078" y="4319040"/>
                  <a:ext cx="2232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Unused Solar Electricity is sent to the grid</a:t>
                  </a:r>
                </a:p>
                <a:p>
                  <a:pPr marL="171450" indent="-171450">
                    <a:buClr>
                      <a:srgbClr val="F454CD"/>
                    </a:buClr>
                    <a:buFont typeface="Arial" panose="020B0604020202020204" pitchFamily="34" charset="0"/>
                    <a:buChar char="•"/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Offsets the Energy charge on your TNB bill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EAD9F0B-5773-6C43-8828-7059C66E0058}"/>
                    </a:ext>
                  </a:extLst>
                </p:cNvPr>
                <p:cNvSpPr txBox="1"/>
                <p:nvPr/>
              </p:nvSpPr>
              <p:spPr>
                <a:xfrm>
                  <a:off x="1213078" y="5928532"/>
                  <a:ext cx="2232000" cy="800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 sz="1100"/>
                  </a:pPr>
                  <a:r>
                    <a:rPr lang="en-US" sz="1200" dirty="0">
                      <a:latin typeface="Work Sans" pitchFamily="2" charset="77"/>
                    </a:rPr>
                    <a:t>Savings</a:t>
                  </a:r>
                </a:p>
                <a:p>
                  <a:pPr>
                    <a:defRPr sz="1100"/>
                  </a:pPr>
                  <a:r>
                    <a:rPr lang="en-US" sz="1400" b="1" dirty="0">
                      <a:latin typeface="Work Sans" pitchFamily="2" charset="77"/>
                    </a:rPr>
                    <a:t>RM0.27–RM0.37</a:t>
                  </a:r>
                  <a:r>
                    <a:rPr lang="en-US" sz="1000" dirty="0">
                      <a:latin typeface="Work Sans" pitchFamily="2" charset="77"/>
                    </a:rPr>
                    <a:t>/kWh</a:t>
                  </a:r>
                </a:p>
                <a:p>
                  <a:pPr>
                    <a:defRPr sz="1100"/>
                  </a:pPr>
                  <a:endParaRPr lang="en-US" sz="1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Work Sans" pitchFamily="2" charset="77"/>
                  </a:endParaRPr>
                </a:p>
                <a:p>
                  <a:pPr>
                    <a:defRPr sz="1100"/>
                  </a:pPr>
                  <a:r>
                    <a:rPr lang="en-US" sz="1000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Work Sans" pitchFamily="2" charset="77"/>
                    </a:rPr>
                    <a:t>Offsets Energy charge only</a:t>
                  </a:r>
                </a:p>
              </p:txBody>
            </p: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56389A6E-5A02-E7CD-105F-50B1B19E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3078" y="5825786"/>
                  <a:ext cx="2232000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3017CE-CEDE-8C4E-FA55-0E00B29955B9}"/>
              </a:ext>
            </a:extLst>
          </p:cNvPr>
          <p:cNvGrpSpPr/>
          <p:nvPr/>
        </p:nvGrpSpPr>
        <p:grpSpPr>
          <a:xfrm>
            <a:off x="332248" y="7781745"/>
            <a:ext cx="6895178" cy="1581729"/>
            <a:chOff x="332248" y="6123963"/>
            <a:chExt cx="6895178" cy="158172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D9F817-D928-DA9F-83B8-D6AF278E5669}"/>
                </a:ext>
              </a:extLst>
            </p:cNvPr>
            <p:cNvGrpSpPr/>
            <p:nvPr/>
          </p:nvGrpSpPr>
          <p:grpSpPr>
            <a:xfrm>
              <a:off x="332248" y="6625692"/>
              <a:ext cx="6895178" cy="1080000"/>
              <a:chOff x="332248" y="6751868"/>
              <a:chExt cx="6895178" cy="1080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02704C2-B4A2-052B-F6D6-F0F7BAE4C1DF}"/>
                  </a:ext>
                </a:extLst>
              </p:cNvPr>
              <p:cNvSpPr/>
              <p:nvPr/>
            </p:nvSpPr>
            <p:spPr>
              <a:xfrm>
                <a:off x="3878209" y="6751868"/>
                <a:ext cx="3349217" cy="10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Consider TNB’s </a:t>
                </a:r>
                <a:r>
                  <a:rPr lang="en-US" sz="1100" b="1" dirty="0" err="1">
                    <a:solidFill>
                      <a:schemeClr val="tx1"/>
                    </a:solidFill>
                    <a:latin typeface="Work Sans SemiBold" pitchFamily="2" charset="77"/>
                  </a:rPr>
                  <a:t>ToU</a:t>
                </a: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 Tariff</a:t>
                </a:r>
              </a:p>
              <a:p>
                <a:pPr>
                  <a:buClr>
                    <a:srgbClr val="F454CD"/>
                  </a:buClr>
                </a:pPr>
                <a:endParaRPr lang="en-US" sz="5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May improve savings for homes with flexible usage patterns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Exported Solar Electricity may offset higher-priced peak charges first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FFBD751-43F5-CCC8-B48C-665DEE4C8273}"/>
                  </a:ext>
                </a:extLst>
              </p:cNvPr>
              <p:cNvSpPr/>
              <p:nvPr/>
            </p:nvSpPr>
            <p:spPr>
              <a:xfrm>
                <a:off x="332248" y="6751868"/>
                <a:ext cx="3370100" cy="10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100" b="1" dirty="0">
                    <a:solidFill>
                      <a:schemeClr val="tx1"/>
                    </a:solidFill>
                    <a:latin typeface="Work Sans SemiBold" pitchFamily="2" charset="77"/>
                  </a:rPr>
                  <a:t>Use More Solar During The Day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endParaRPr lang="en-US" sz="5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Run appliances (e.g. washing machine) during solar generation hours (8am-6pm)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Charge your EV when the sun is shining</a:t>
                </a:r>
              </a:p>
              <a:p>
                <a:pPr marL="285750" indent="-2857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Work Sans" pitchFamily="2" charset="77"/>
                  </a:rPr>
                  <a:t>Schedule high-usage activities for daytime</a:t>
                </a:r>
              </a:p>
            </p:txBody>
          </p:sp>
        </p:grpSp>
        <p:sp>
          <p:nvSpPr>
            <p:cNvPr id="5" name="Google Shape;129;p2">
              <a:extLst>
                <a:ext uri="{FF2B5EF4-FFF2-40B4-BE49-F238E27FC236}">
                  <a16:creationId xmlns:a16="http://schemas.microsoft.com/office/drawing/2014/main" id="{DBE0CDA6-AD67-5A31-0A1D-83DC97F958AF}"/>
                </a:ext>
              </a:extLst>
            </p:cNvPr>
            <p:cNvSpPr txBox="1"/>
            <p:nvPr/>
          </p:nvSpPr>
          <p:spPr>
            <a:xfrm>
              <a:off x="413961" y="6123963"/>
              <a:ext cx="4258046" cy="240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Work Sans" pitchFamily="2" charset="77"/>
                  <a:ea typeface="Work Sans Medium"/>
                  <a:cs typeface="Work Sans Medium"/>
                  <a:sym typeface="Work Sans Medium"/>
                </a:rPr>
                <a:t>How to Increase Your Savings</a:t>
              </a:r>
              <a:endParaRPr kumimoji="0" sz="12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cs typeface="Arial"/>
                <a:sym typeface="Arial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66891E-4C5D-EDD4-3550-1F22E1608536}"/>
                </a:ext>
              </a:extLst>
            </p:cNvPr>
            <p:cNvCxnSpPr>
              <a:cxnSpLocks/>
            </p:cNvCxnSpPr>
            <p:nvPr/>
          </p:nvCxnSpPr>
          <p:spPr>
            <a:xfrm>
              <a:off x="421088" y="6553367"/>
              <a:ext cx="6775669" cy="0"/>
            </a:xfrm>
            <a:prstGeom prst="line">
              <a:avLst/>
            </a:prstGeom>
            <a:ln w="6350">
              <a:solidFill>
                <a:srgbClr val="F454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429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3331-0378-C2C9-9874-357C57D6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107B20B-5CF9-FCF7-44F9-6811DB31276D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62E097-6451-52E0-956C-423FF4226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FAC2C0-1D1F-E011-ED94-6D164CFF3EF9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aphicFrame>
        <p:nvGraphicFramePr>
          <p:cNvPr id="2" name="Google Shape;179;p3">
            <a:extLst>
              <a:ext uri="{FF2B5EF4-FFF2-40B4-BE49-F238E27FC236}">
                <a16:creationId xmlns:a16="http://schemas.microsoft.com/office/drawing/2014/main" id="{95D7E335-54B6-0FE4-3302-7C16CF1678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654377"/>
              </p:ext>
            </p:extLst>
          </p:nvPr>
        </p:nvGraphicFramePr>
        <p:xfrm>
          <a:off x="284533" y="1887927"/>
          <a:ext cx="6972852" cy="7776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83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357186722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93904043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The tables below illustrates estimated solar savings from a                 system under different TNB bill and Daytime Electricity Use scenarios. Variations in savings are primarily driven by two factors: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How TNB calculates your electricity bill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MY" sz="1000" b="0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The Solar ATAP mechanism, which affects how excess Solar Electricity exports are valued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61595"/>
                  </a:ext>
                </a:extLst>
              </a:tr>
              <a:tr h="720000">
                <a:tc gridSpan="5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600" b="1" i="0" dirty="0">
                          <a:solidFill>
                            <a:srgbClr val="F454CD"/>
                          </a:solidFill>
                          <a:latin typeface="Work Sans" pitchFamily="2" charset="77"/>
                        </a:rPr>
                        <a:t>Different TNB Bill Before Solar</a:t>
                      </a:r>
                      <a:endParaRPr sz="11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24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Before Solar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After Solar (+/-)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Solar Savings (+/-)</a:t>
                      </a: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Payback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</a:t>
                      </a:r>
                    </a:p>
                  </a:txBody>
                  <a:tcPr marL="91450" marR="91450" marT="45725" marB="45725"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 ]</a:t>
                      </a:r>
                      <a:endParaRPr sz="8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68291"/>
                  </a:ext>
                </a:extLst>
              </a:tr>
              <a:tr h="720000">
                <a:tc gridSpan="5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Different Daytime Electricity Use %</a:t>
                      </a:r>
                      <a:endParaRPr kumimoji="0" lang="en-MY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74902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Before Solar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Daytime Electricity Use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TNB Bill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After Solar (+/-)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Solar Savings (+/-)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Payback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(+/-)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1442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 ]</a:t>
                      </a:r>
                      <a:endParaRPr sz="8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rgbClr val="F454CD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F454CD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483223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16916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 ]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      ]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[         ]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cs typeface="Arial"/>
                          <a:sym typeface="Arial"/>
                        </a:rPr>
                        <a:t>  </a:t>
                      </a:r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4667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93CDF6-C6B5-A86A-9D77-930B8EAFB896}"/>
              </a:ext>
            </a:extLst>
          </p:cNvPr>
          <p:cNvSpPr txBox="1"/>
          <p:nvPr/>
        </p:nvSpPr>
        <p:spPr>
          <a:xfrm>
            <a:off x="321806" y="9754132"/>
            <a:ext cx="691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(+/–) All figures are estimates and are based on current tariff and Solar ATAP policy.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TNB bill calculations use the general (non-</a:t>
            </a:r>
            <a:r>
              <a:rPr kumimoji="0" lang="en-MY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ToU</a:t>
            </a:r>
            <a:r>
              <a:rPr kumimoji="0" lang="en-MY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) tariff and exclude the Automatic Fuel Adjustment (AFA), which changes monthly and may be a charge or rebate.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775C2-A445-6237-906E-42CD8A724069}"/>
              </a:ext>
            </a:extLst>
          </p:cNvPr>
          <p:cNvSpPr txBox="1"/>
          <p:nvPr/>
        </p:nvSpPr>
        <p:spPr>
          <a:xfrm>
            <a:off x="323837" y="405855"/>
            <a:ext cx="691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Savings Across Different Usage Scenarios</a:t>
            </a:r>
            <a:endParaRPr lang="en-US" sz="700" dirty="0">
              <a:solidFill>
                <a:prstClr val="black"/>
              </a:solidFill>
              <a:latin typeface="Work Sans" pitchFamily="2" charset="77"/>
            </a:endParaRPr>
          </a:p>
          <a:p>
            <a:pPr lvl="0">
              <a:defRPr/>
            </a:pPr>
            <a:r>
              <a:rPr lang="en-MY" sz="1200" dirty="0">
                <a:latin typeface="Work Sans" pitchFamily="2" charset="77"/>
              </a:rPr>
              <a:t>Understand how usage patterns can impact estimated solar savings.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  <p:sp>
        <p:nvSpPr>
          <p:cNvPr id="89" name="old_bill_1">
            <a:extLst>
              <a:ext uri="{FF2B5EF4-FFF2-40B4-BE49-F238E27FC236}">
                <a16:creationId xmlns:a16="http://schemas.microsoft.com/office/drawing/2014/main" id="{8725F3FB-1770-5323-1246-0550B527BB44}"/>
              </a:ext>
            </a:extLst>
          </p:cNvPr>
          <p:cNvSpPr txBox="1"/>
          <p:nvPr/>
        </p:nvSpPr>
        <p:spPr>
          <a:xfrm>
            <a:off x="495235" y="384761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RM1,400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0" name="old_kwh_1">
            <a:extLst>
              <a:ext uri="{FF2B5EF4-FFF2-40B4-BE49-F238E27FC236}">
                <a16:creationId xmlns:a16="http://schemas.microsoft.com/office/drawing/2014/main" id="{EAB64BD7-2DDB-A7AE-1EC2-63CB3D750BC0}"/>
              </a:ext>
            </a:extLst>
          </p:cNvPr>
          <p:cNvSpPr txBox="1"/>
          <p:nvPr/>
        </p:nvSpPr>
        <p:spPr>
          <a:xfrm>
            <a:off x="282395" y="4010770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2,372 kWh</a:t>
            </a:r>
            <a:endParaRPr lang="en-MY" sz="900" dirty="0"/>
          </a:p>
        </p:txBody>
      </p:sp>
      <p:sp>
        <p:nvSpPr>
          <p:cNvPr id="91" name="daytime_percent_1">
            <a:extLst>
              <a:ext uri="{FF2B5EF4-FFF2-40B4-BE49-F238E27FC236}">
                <a16:creationId xmlns:a16="http://schemas.microsoft.com/office/drawing/2014/main" id="{2E163C9F-172B-76A2-3F51-2F5901247860}"/>
              </a:ext>
            </a:extLst>
          </p:cNvPr>
          <p:cNvSpPr txBox="1"/>
          <p:nvPr/>
        </p:nvSpPr>
        <p:spPr>
          <a:xfrm>
            <a:off x="1878657" y="383090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2" name="daytime_kwh_1">
            <a:extLst>
              <a:ext uri="{FF2B5EF4-FFF2-40B4-BE49-F238E27FC236}">
                <a16:creationId xmlns:a16="http://schemas.microsoft.com/office/drawing/2014/main" id="{0EEC62AD-F25D-E811-4069-C8B6CAFC0B02}"/>
              </a:ext>
            </a:extLst>
          </p:cNvPr>
          <p:cNvSpPr txBox="1"/>
          <p:nvPr/>
        </p:nvSpPr>
        <p:spPr>
          <a:xfrm>
            <a:off x="1580154" y="4014876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948 kWh</a:t>
            </a:r>
            <a:endParaRPr lang="en-MY" sz="900" dirty="0"/>
          </a:p>
        </p:txBody>
      </p:sp>
      <p:sp>
        <p:nvSpPr>
          <p:cNvPr id="93" name="new_bill_1">
            <a:extLst>
              <a:ext uri="{FF2B5EF4-FFF2-40B4-BE49-F238E27FC236}">
                <a16:creationId xmlns:a16="http://schemas.microsoft.com/office/drawing/2014/main" id="{AC7FB353-1366-35CB-0158-6D8A248590EB}"/>
              </a:ext>
            </a:extLst>
          </p:cNvPr>
          <p:cNvSpPr txBox="1"/>
          <p:nvPr/>
        </p:nvSpPr>
        <p:spPr>
          <a:xfrm>
            <a:off x="3313802" y="390700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RM487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4" name="savings_1">
            <a:extLst>
              <a:ext uri="{FF2B5EF4-FFF2-40B4-BE49-F238E27FC236}">
                <a16:creationId xmlns:a16="http://schemas.microsoft.com/office/drawing/2014/main" id="{D05D12A9-8332-B0FD-A6AA-B9B572DE0B6B}"/>
              </a:ext>
            </a:extLst>
          </p:cNvPr>
          <p:cNvSpPr txBox="1"/>
          <p:nvPr/>
        </p:nvSpPr>
        <p:spPr>
          <a:xfrm>
            <a:off x="4705114" y="384993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RM913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5" name="savings_percent_1">
            <a:extLst>
              <a:ext uri="{FF2B5EF4-FFF2-40B4-BE49-F238E27FC236}">
                <a16:creationId xmlns:a16="http://schemas.microsoft.com/office/drawing/2014/main" id="{789A1252-379E-44F9-9DFB-A54C4239E2A0}"/>
              </a:ext>
            </a:extLst>
          </p:cNvPr>
          <p:cNvSpPr txBox="1"/>
          <p:nvPr/>
        </p:nvSpPr>
        <p:spPr>
          <a:xfrm>
            <a:off x="4827734" y="4004907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65%</a:t>
            </a:r>
            <a:endParaRPr lang="en-MY" sz="900" dirty="0"/>
          </a:p>
        </p:txBody>
      </p:sp>
      <p:sp>
        <p:nvSpPr>
          <p:cNvPr id="96" name="payback_1">
            <a:extLst>
              <a:ext uri="{FF2B5EF4-FFF2-40B4-BE49-F238E27FC236}">
                <a16:creationId xmlns:a16="http://schemas.microsoft.com/office/drawing/2014/main" id="{602FE730-5B8D-B9AC-BB5B-2D8C96365996}"/>
              </a:ext>
            </a:extLst>
          </p:cNvPr>
          <p:cNvSpPr txBox="1"/>
          <p:nvPr/>
        </p:nvSpPr>
        <p:spPr>
          <a:xfrm>
            <a:off x="6099074" y="38828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3.3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7" name="old_bill_2">
            <a:extLst>
              <a:ext uri="{FF2B5EF4-FFF2-40B4-BE49-F238E27FC236}">
                <a16:creationId xmlns:a16="http://schemas.microsoft.com/office/drawing/2014/main" id="{5D6F770C-B286-652C-0638-C981B760AC42}"/>
              </a:ext>
            </a:extLst>
          </p:cNvPr>
          <p:cNvSpPr txBox="1"/>
          <p:nvPr/>
        </p:nvSpPr>
        <p:spPr>
          <a:xfrm>
            <a:off x="495235" y="431678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RM1,450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8" name="old_kwh_2">
            <a:extLst>
              <a:ext uri="{FF2B5EF4-FFF2-40B4-BE49-F238E27FC236}">
                <a16:creationId xmlns:a16="http://schemas.microsoft.com/office/drawing/2014/main" id="{50AFDDCD-C515-D2CF-A868-064591C1D142}"/>
              </a:ext>
            </a:extLst>
          </p:cNvPr>
          <p:cNvSpPr txBox="1"/>
          <p:nvPr/>
        </p:nvSpPr>
        <p:spPr>
          <a:xfrm>
            <a:off x="282395" y="448447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2,456 kWh</a:t>
            </a:r>
            <a:endParaRPr lang="en-MY" sz="900" dirty="0"/>
          </a:p>
        </p:txBody>
      </p:sp>
      <p:sp>
        <p:nvSpPr>
          <p:cNvPr id="99" name="daytime_percent_2">
            <a:extLst>
              <a:ext uri="{FF2B5EF4-FFF2-40B4-BE49-F238E27FC236}">
                <a16:creationId xmlns:a16="http://schemas.microsoft.com/office/drawing/2014/main" id="{A9163C03-1AA4-12E7-D11C-291012779B57}"/>
              </a:ext>
            </a:extLst>
          </p:cNvPr>
          <p:cNvSpPr txBox="1"/>
          <p:nvPr/>
        </p:nvSpPr>
        <p:spPr>
          <a:xfrm>
            <a:off x="1878657" y="429054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0" name="daytime_kwh_2">
            <a:extLst>
              <a:ext uri="{FF2B5EF4-FFF2-40B4-BE49-F238E27FC236}">
                <a16:creationId xmlns:a16="http://schemas.microsoft.com/office/drawing/2014/main" id="{6CB3A54E-47CB-79F8-1E41-714A545D4BF2}"/>
              </a:ext>
            </a:extLst>
          </p:cNvPr>
          <p:cNvSpPr txBox="1"/>
          <p:nvPr/>
        </p:nvSpPr>
        <p:spPr>
          <a:xfrm>
            <a:off x="1565640" y="4474520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982 kWh</a:t>
            </a:r>
            <a:endParaRPr lang="en-MY" sz="900" dirty="0"/>
          </a:p>
        </p:txBody>
      </p:sp>
      <p:sp>
        <p:nvSpPr>
          <p:cNvPr id="101" name="new_bill_2">
            <a:extLst>
              <a:ext uri="{FF2B5EF4-FFF2-40B4-BE49-F238E27FC236}">
                <a16:creationId xmlns:a16="http://schemas.microsoft.com/office/drawing/2014/main" id="{20257088-F9DD-3801-E0CA-D333A730635F}"/>
              </a:ext>
            </a:extLst>
          </p:cNvPr>
          <p:cNvSpPr txBox="1"/>
          <p:nvPr/>
        </p:nvSpPr>
        <p:spPr>
          <a:xfrm>
            <a:off x="3313802" y="437617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RM520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2" name="savings_2">
            <a:extLst>
              <a:ext uri="{FF2B5EF4-FFF2-40B4-BE49-F238E27FC236}">
                <a16:creationId xmlns:a16="http://schemas.microsoft.com/office/drawing/2014/main" id="{FFA59D94-A5AC-1D0C-AFCF-C22A34AEED0C}"/>
              </a:ext>
            </a:extLst>
          </p:cNvPr>
          <p:cNvSpPr txBox="1"/>
          <p:nvPr/>
        </p:nvSpPr>
        <p:spPr>
          <a:xfrm>
            <a:off x="4705114" y="43191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RM929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3" name="savings_percent_2">
            <a:extLst>
              <a:ext uri="{FF2B5EF4-FFF2-40B4-BE49-F238E27FC236}">
                <a16:creationId xmlns:a16="http://schemas.microsoft.com/office/drawing/2014/main" id="{6ABD94C1-9AE7-2D5D-E990-3E27D1619B29}"/>
              </a:ext>
            </a:extLst>
          </p:cNvPr>
          <p:cNvSpPr txBox="1"/>
          <p:nvPr/>
        </p:nvSpPr>
        <p:spPr>
          <a:xfrm>
            <a:off x="4828180" y="447407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64%</a:t>
            </a:r>
            <a:endParaRPr lang="en-MY" sz="900" dirty="0"/>
          </a:p>
        </p:txBody>
      </p:sp>
      <p:sp>
        <p:nvSpPr>
          <p:cNvPr id="104" name="payback_2">
            <a:extLst>
              <a:ext uri="{FF2B5EF4-FFF2-40B4-BE49-F238E27FC236}">
                <a16:creationId xmlns:a16="http://schemas.microsoft.com/office/drawing/2014/main" id="{3F80D1B2-37F2-AE7D-2F1E-93140F385DBA}"/>
              </a:ext>
            </a:extLst>
          </p:cNvPr>
          <p:cNvSpPr txBox="1"/>
          <p:nvPr/>
        </p:nvSpPr>
        <p:spPr>
          <a:xfrm>
            <a:off x="6099074" y="439069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3.2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5" name="old_bill_3">
            <a:extLst>
              <a:ext uri="{FF2B5EF4-FFF2-40B4-BE49-F238E27FC236}">
                <a16:creationId xmlns:a16="http://schemas.microsoft.com/office/drawing/2014/main" id="{6404886A-B5D4-5136-9122-C087A26AE4A0}"/>
              </a:ext>
            </a:extLst>
          </p:cNvPr>
          <p:cNvSpPr txBox="1"/>
          <p:nvPr/>
        </p:nvSpPr>
        <p:spPr>
          <a:xfrm>
            <a:off x="495235" y="476338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</a:p>
        </p:txBody>
      </p:sp>
      <p:sp>
        <p:nvSpPr>
          <p:cNvPr id="106" name="old_kwh_3">
            <a:extLst>
              <a:ext uri="{FF2B5EF4-FFF2-40B4-BE49-F238E27FC236}">
                <a16:creationId xmlns:a16="http://schemas.microsoft.com/office/drawing/2014/main" id="{69A23F96-43B6-224C-CA05-786FDF655819}"/>
              </a:ext>
            </a:extLst>
          </p:cNvPr>
          <p:cNvSpPr txBox="1"/>
          <p:nvPr/>
        </p:nvSpPr>
        <p:spPr>
          <a:xfrm>
            <a:off x="296020" y="4931079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07" name="daytime_percent_3">
            <a:extLst>
              <a:ext uri="{FF2B5EF4-FFF2-40B4-BE49-F238E27FC236}">
                <a16:creationId xmlns:a16="http://schemas.microsoft.com/office/drawing/2014/main" id="{AEB7EDC0-F2D0-A724-52A9-1AD8CE4CA81C}"/>
              </a:ext>
            </a:extLst>
          </p:cNvPr>
          <p:cNvSpPr txBox="1"/>
          <p:nvPr/>
        </p:nvSpPr>
        <p:spPr>
          <a:xfrm>
            <a:off x="1878657" y="477480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</a:p>
        </p:txBody>
      </p:sp>
      <p:sp>
        <p:nvSpPr>
          <p:cNvPr id="108" name="daytime_kwh_3">
            <a:extLst>
              <a:ext uri="{FF2B5EF4-FFF2-40B4-BE49-F238E27FC236}">
                <a16:creationId xmlns:a16="http://schemas.microsoft.com/office/drawing/2014/main" id="{8E120EF0-18AA-A251-5261-6B6E78636271}"/>
              </a:ext>
            </a:extLst>
          </p:cNvPr>
          <p:cNvSpPr txBox="1"/>
          <p:nvPr/>
        </p:nvSpPr>
        <p:spPr>
          <a:xfrm>
            <a:off x="1566086" y="4930647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09" name="new_bill_3">
            <a:extLst>
              <a:ext uri="{FF2B5EF4-FFF2-40B4-BE49-F238E27FC236}">
                <a16:creationId xmlns:a16="http://schemas.microsoft.com/office/drawing/2014/main" id="{FF1DDA52-8213-9030-F57E-2B97183C10C5}"/>
              </a:ext>
            </a:extLst>
          </p:cNvPr>
          <p:cNvSpPr txBox="1"/>
          <p:nvPr/>
        </p:nvSpPr>
        <p:spPr>
          <a:xfrm>
            <a:off x="3313802" y="484637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0" name="savings_3">
            <a:extLst>
              <a:ext uri="{FF2B5EF4-FFF2-40B4-BE49-F238E27FC236}">
                <a16:creationId xmlns:a16="http://schemas.microsoft.com/office/drawing/2014/main" id="{FCF15D6A-B433-CB89-85DA-531F4BF04642}"/>
              </a:ext>
            </a:extLst>
          </p:cNvPr>
          <p:cNvSpPr txBox="1"/>
          <p:nvPr/>
        </p:nvSpPr>
        <p:spPr>
          <a:xfrm>
            <a:off x="4705114" y="478930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1" name="savings_percent_3">
            <a:extLst>
              <a:ext uri="{FF2B5EF4-FFF2-40B4-BE49-F238E27FC236}">
                <a16:creationId xmlns:a16="http://schemas.microsoft.com/office/drawing/2014/main" id="{71E14B76-3425-AC56-6D6D-6F5E535D333F}"/>
              </a:ext>
            </a:extLst>
          </p:cNvPr>
          <p:cNvSpPr txBox="1"/>
          <p:nvPr/>
        </p:nvSpPr>
        <p:spPr>
          <a:xfrm>
            <a:off x="4828180" y="4930931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F454CD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57%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12" name="payback_3">
            <a:extLst>
              <a:ext uri="{FF2B5EF4-FFF2-40B4-BE49-F238E27FC236}">
                <a16:creationId xmlns:a16="http://schemas.microsoft.com/office/drawing/2014/main" id="{6EDF1115-C17E-0711-A32D-E1C3CACCA805}"/>
              </a:ext>
            </a:extLst>
          </p:cNvPr>
          <p:cNvSpPr txBox="1"/>
          <p:nvPr/>
        </p:nvSpPr>
        <p:spPr>
          <a:xfrm>
            <a:off x="6099074" y="48221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3" name="old_bill_4">
            <a:extLst>
              <a:ext uri="{FF2B5EF4-FFF2-40B4-BE49-F238E27FC236}">
                <a16:creationId xmlns:a16="http://schemas.microsoft.com/office/drawing/2014/main" id="{86BE3DC8-1E87-03A9-05C0-63B4DDD5AAAE}"/>
              </a:ext>
            </a:extLst>
          </p:cNvPr>
          <p:cNvSpPr txBox="1"/>
          <p:nvPr/>
        </p:nvSpPr>
        <p:spPr>
          <a:xfrm>
            <a:off x="495235" y="524662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4" name="old_kwh_4">
            <a:extLst>
              <a:ext uri="{FF2B5EF4-FFF2-40B4-BE49-F238E27FC236}">
                <a16:creationId xmlns:a16="http://schemas.microsoft.com/office/drawing/2014/main" id="{230CEEE9-0576-DA0A-2254-5FFFBDFDF972}"/>
              </a:ext>
            </a:extLst>
          </p:cNvPr>
          <p:cNvSpPr txBox="1"/>
          <p:nvPr/>
        </p:nvSpPr>
        <p:spPr>
          <a:xfrm>
            <a:off x="282395" y="5409780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2,623 kWh</a:t>
            </a:r>
            <a:endParaRPr lang="en-MY" sz="900" dirty="0"/>
          </a:p>
        </p:txBody>
      </p:sp>
      <p:sp>
        <p:nvSpPr>
          <p:cNvPr id="115" name="daytime_percent_4">
            <a:extLst>
              <a:ext uri="{FF2B5EF4-FFF2-40B4-BE49-F238E27FC236}">
                <a16:creationId xmlns:a16="http://schemas.microsoft.com/office/drawing/2014/main" id="{AE811DFE-CFA7-7C6A-1A3E-37FFBF84A993}"/>
              </a:ext>
            </a:extLst>
          </p:cNvPr>
          <p:cNvSpPr txBox="1"/>
          <p:nvPr/>
        </p:nvSpPr>
        <p:spPr>
          <a:xfrm>
            <a:off x="1878657" y="522991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6" name="daytime_kwh_4">
            <a:extLst>
              <a:ext uri="{FF2B5EF4-FFF2-40B4-BE49-F238E27FC236}">
                <a16:creationId xmlns:a16="http://schemas.microsoft.com/office/drawing/2014/main" id="{2C02D669-A779-F665-B9EE-58E2CBEB7818}"/>
              </a:ext>
            </a:extLst>
          </p:cNvPr>
          <p:cNvSpPr txBox="1"/>
          <p:nvPr/>
        </p:nvSpPr>
        <p:spPr>
          <a:xfrm>
            <a:off x="1565640" y="5404806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dirty="0"/>
          </a:p>
        </p:txBody>
      </p:sp>
      <p:sp>
        <p:nvSpPr>
          <p:cNvPr id="117" name="new_bill_4">
            <a:extLst>
              <a:ext uri="{FF2B5EF4-FFF2-40B4-BE49-F238E27FC236}">
                <a16:creationId xmlns:a16="http://schemas.microsoft.com/office/drawing/2014/main" id="{951CEAF3-E17C-99D6-66B0-6BF564E56F58}"/>
              </a:ext>
            </a:extLst>
          </p:cNvPr>
          <p:cNvSpPr txBox="1"/>
          <p:nvPr/>
        </p:nvSpPr>
        <p:spPr>
          <a:xfrm>
            <a:off x="3313802" y="531554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8" name="savings_4">
            <a:extLst>
              <a:ext uri="{FF2B5EF4-FFF2-40B4-BE49-F238E27FC236}">
                <a16:creationId xmlns:a16="http://schemas.microsoft.com/office/drawing/2014/main" id="{498A5EA4-FD91-2927-9BF0-E507318D09F2}"/>
              </a:ext>
            </a:extLst>
          </p:cNvPr>
          <p:cNvSpPr txBox="1"/>
          <p:nvPr/>
        </p:nvSpPr>
        <p:spPr>
          <a:xfrm>
            <a:off x="4705114" y="52584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9" name="savings_percent_4">
            <a:extLst>
              <a:ext uri="{FF2B5EF4-FFF2-40B4-BE49-F238E27FC236}">
                <a16:creationId xmlns:a16="http://schemas.microsoft.com/office/drawing/2014/main" id="{7BD4072C-2528-BB7B-0EBA-119F07F2E008}"/>
              </a:ext>
            </a:extLst>
          </p:cNvPr>
          <p:cNvSpPr txBox="1"/>
          <p:nvPr/>
        </p:nvSpPr>
        <p:spPr>
          <a:xfrm>
            <a:off x="4827734" y="5413442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55%</a:t>
            </a:r>
            <a:endParaRPr lang="en-MY" sz="900" dirty="0"/>
          </a:p>
        </p:txBody>
      </p:sp>
      <p:sp>
        <p:nvSpPr>
          <p:cNvPr id="120" name="payback_4">
            <a:extLst>
              <a:ext uri="{FF2B5EF4-FFF2-40B4-BE49-F238E27FC236}">
                <a16:creationId xmlns:a16="http://schemas.microsoft.com/office/drawing/2014/main" id="{574FC8CB-AA54-6660-4316-5251AD1083CF}"/>
              </a:ext>
            </a:extLst>
          </p:cNvPr>
          <p:cNvSpPr txBox="1"/>
          <p:nvPr/>
        </p:nvSpPr>
        <p:spPr>
          <a:xfrm>
            <a:off x="6099074" y="533005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1" name="old_bill_5">
            <a:extLst>
              <a:ext uri="{FF2B5EF4-FFF2-40B4-BE49-F238E27FC236}">
                <a16:creationId xmlns:a16="http://schemas.microsoft.com/office/drawing/2014/main" id="{236080B1-9290-A382-7B8B-F74FAAFFAB32}"/>
              </a:ext>
            </a:extLst>
          </p:cNvPr>
          <p:cNvSpPr txBox="1"/>
          <p:nvPr/>
        </p:nvSpPr>
        <p:spPr>
          <a:xfrm>
            <a:off x="495235" y="571266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RM1,600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2" name="old_kwh_5">
            <a:extLst>
              <a:ext uri="{FF2B5EF4-FFF2-40B4-BE49-F238E27FC236}">
                <a16:creationId xmlns:a16="http://schemas.microsoft.com/office/drawing/2014/main" id="{3B7EBDA4-81C0-1771-D8A5-0243E8A96616}"/>
              </a:ext>
            </a:extLst>
          </p:cNvPr>
          <p:cNvSpPr txBox="1"/>
          <p:nvPr/>
        </p:nvSpPr>
        <p:spPr>
          <a:xfrm>
            <a:off x="291273" y="5875824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2,707 kWh</a:t>
            </a:r>
            <a:endParaRPr lang="en-MY" sz="900" dirty="0"/>
          </a:p>
        </p:txBody>
      </p:sp>
      <p:sp>
        <p:nvSpPr>
          <p:cNvPr id="123" name="daytime_percent_5">
            <a:extLst>
              <a:ext uri="{FF2B5EF4-FFF2-40B4-BE49-F238E27FC236}">
                <a16:creationId xmlns:a16="http://schemas.microsoft.com/office/drawing/2014/main" id="{52E574C8-DCFC-10AE-FBAD-B41332FCB766}"/>
              </a:ext>
            </a:extLst>
          </p:cNvPr>
          <p:cNvSpPr txBox="1"/>
          <p:nvPr/>
        </p:nvSpPr>
        <p:spPr>
          <a:xfrm>
            <a:off x="1878657" y="568642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4" name="daytime_kwh_5">
            <a:extLst>
              <a:ext uri="{FF2B5EF4-FFF2-40B4-BE49-F238E27FC236}">
                <a16:creationId xmlns:a16="http://schemas.microsoft.com/office/drawing/2014/main" id="{E3B49521-39BF-CDA5-6F7E-0FB3979784CA}"/>
              </a:ext>
            </a:extLst>
          </p:cNvPr>
          <p:cNvSpPr txBox="1"/>
          <p:nvPr/>
        </p:nvSpPr>
        <p:spPr>
          <a:xfrm>
            <a:off x="1565640" y="5870851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dirty="0"/>
          </a:p>
        </p:txBody>
      </p:sp>
      <p:sp>
        <p:nvSpPr>
          <p:cNvPr id="126" name="new_bill_5">
            <a:extLst>
              <a:ext uri="{FF2B5EF4-FFF2-40B4-BE49-F238E27FC236}">
                <a16:creationId xmlns:a16="http://schemas.microsoft.com/office/drawing/2014/main" id="{4CD39766-E6B4-DA41-1DAC-9B0EB62DDC4C}"/>
              </a:ext>
            </a:extLst>
          </p:cNvPr>
          <p:cNvSpPr txBox="1"/>
          <p:nvPr/>
        </p:nvSpPr>
        <p:spPr>
          <a:xfrm>
            <a:off x="3313802" y="577206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RM750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7" name="savings_5">
            <a:extLst>
              <a:ext uri="{FF2B5EF4-FFF2-40B4-BE49-F238E27FC236}">
                <a16:creationId xmlns:a16="http://schemas.microsoft.com/office/drawing/2014/main" id="{E2A24BE6-9AC6-6519-BCFD-A738BCEB0DFE}"/>
              </a:ext>
            </a:extLst>
          </p:cNvPr>
          <p:cNvSpPr txBox="1"/>
          <p:nvPr/>
        </p:nvSpPr>
        <p:spPr>
          <a:xfrm>
            <a:off x="4705114" y="571498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8" name="savings_percent_5">
            <a:extLst>
              <a:ext uri="{FF2B5EF4-FFF2-40B4-BE49-F238E27FC236}">
                <a16:creationId xmlns:a16="http://schemas.microsoft.com/office/drawing/2014/main" id="{57D13A05-8583-3C04-46AA-E451837BB7BD}"/>
              </a:ext>
            </a:extLst>
          </p:cNvPr>
          <p:cNvSpPr txBox="1"/>
          <p:nvPr/>
        </p:nvSpPr>
        <p:spPr>
          <a:xfrm>
            <a:off x="4827734" y="5884475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53%</a:t>
            </a:r>
            <a:endParaRPr lang="en-MY" sz="900" dirty="0"/>
          </a:p>
        </p:txBody>
      </p:sp>
      <p:sp>
        <p:nvSpPr>
          <p:cNvPr id="129" name="payback_5">
            <a:extLst>
              <a:ext uri="{FF2B5EF4-FFF2-40B4-BE49-F238E27FC236}">
                <a16:creationId xmlns:a16="http://schemas.microsoft.com/office/drawing/2014/main" id="{65238902-F90A-3755-CE06-3DC153B04871}"/>
              </a:ext>
            </a:extLst>
          </p:cNvPr>
          <p:cNvSpPr txBox="1"/>
          <p:nvPr/>
        </p:nvSpPr>
        <p:spPr>
          <a:xfrm>
            <a:off x="6099074" y="578657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1" name="old_bill_6">
            <a:extLst>
              <a:ext uri="{FF2B5EF4-FFF2-40B4-BE49-F238E27FC236}">
                <a16:creationId xmlns:a16="http://schemas.microsoft.com/office/drawing/2014/main" id="{A0BEBCA6-2048-1EA3-6B70-221FA2D65236}"/>
              </a:ext>
            </a:extLst>
          </p:cNvPr>
          <p:cNvSpPr txBox="1"/>
          <p:nvPr/>
        </p:nvSpPr>
        <p:spPr>
          <a:xfrm>
            <a:off x="495235" y="735201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2" name="old_kwh_6">
            <a:extLst>
              <a:ext uri="{FF2B5EF4-FFF2-40B4-BE49-F238E27FC236}">
                <a16:creationId xmlns:a16="http://schemas.microsoft.com/office/drawing/2014/main" id="{6DBB7824-5D43-38F3-50B7-BF2A3CC1C670}"/>
              </a:ext>
            </a:extLst>
          </p:cNvPr>
          <p:cNvSpPr txBox="1"/>
          <p:nvPr/>
        </p:nvSpPr>
        <p:spPr>
          <a:xfrm>
            <a:off x="282395" y="752015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33" name="daytime_percent_6">
            <a:extLst>
              <a:ext uri="{FF2B5EF4-FFF2-40B4-BE49-F238E27FC236}">
                <a16:creationId xmlns:a16="http://schemas.microsoft.com/office/drawing/2014/main" id="{BE26FBF7-FB31-F88B-D96D-5E4D619BBAB8}"/>
              </a:ext>
            </a:extLst>
          </p:cNvPr>
          <p:cNvSpPr txBox="1"/>
          <p:nvPr/>
        </p:nvSpPr>
        <p:spPr>
          <a:xfrm>
            <a:off x="1874759" y="733683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4" name="daytime_kwh_6">
            <a:extLst>
              <a:ext uri="{FF2B5EF4-FFF2-40B4-BE49-F238E27FC236}">
                <a16:creationId xmlns:a16="http://schemas.microsoft.com/office/drawing/2014/main" id="{AAB734FF-7EC9-20BF-18AC-8064BF128810}"/>
              </a:ext>
            </a:extLst>
          </p:cNvPr>
          <p:cNvSpPr txBox="1"/>
          <p:nvPr/>
        </p:nvSpPr>
        <p:spPr>
          <a:xfrm>
            <a:off x="1576256" y="7525792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762 kWh</a:t>
            </a:r>
            <a:endParaRPr lang="en-MY" sz="900" dirty="0"/>
          </a:p>
        </p:txBody>
      </p:sp>
      <p:sp>
        <p:nvSpPr>
          <p:cNvPr id="135" name="new_bill_6">
            <a:extLst>
              <a:ext uri="{FF2B5EF4-FFF2-40B4-BE49-F238E27FC236}">
                <a16:creationId xmlns:a16="http://schemas.microsoft.com/office/drawing/2014/main" id="{329DC87F-9D73-7071-6675-DCFC51C8408B}"/>
              </a:ext>
            </a:extLst>
          </p:cNvPr>
          <p:cNvSpPr txBox="1"/>
          <p:nvPr/>
        </p:nvSpPr>
        <p:spPr>
          <a:xfrm>
            <a:off x="3309904" y="742246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RM708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6" name="savings_6">
            <a:extLst>
              <a:ext uri="{FF2B5EF4-FFF2-40B4-BE49-F238E27FC236}">
                <a16:creationId xmlns:a16="http://schemas.microsoft.com/office/drawing/2014/main" id="{DEB20B50-756F-4CA4-1DB5-08C8BDE0DC64}"/>
              </a:ext>
            </a:extLst>
          </p:cNvPr>
          <p:cNvSpPr txBox="1"/>
          <p:nvPr/>
        </p:nvSpPr>
        <p:spPr>
          <a:xfrm>
            <a:off x="4701216" y="735586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RM792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7" name="savings_percent_6">
            <a:extLst>
              <a:ext uri="{FF2B5EF4-FFF2-40B4-BE49-F238E27FC236}">
                <a16:creationId xmlns:a16="http://schemas.microsoft.com/office/drawing/2014/main" id="{C5C53A9F-FD8A-88A3-6F13-7B3117D0070F}"/>
              </a:ext>
            </a:extLst>
          </p:cNvPr>
          <p:cNvSpPr txBox="1"/>
          <p:nvPr/>
        </p:nvSpPr>
        <p:spPr>
          <a:xfrm>
            <a:off x="4823836" y="752798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53%</a:t>
            </a:r>
            <a:endParaRPr lang="en-MY" sz="900" dirty="0"/>
          </a:p>
        </p:txBody>
      </p:sp>
      <p:sp>
        <p:nvSpPr>
          <p:cNvPr id="138" name="payback_6">
            <a:extLst>
              <a:ext uri="{FF2B5EF4-FFF2-40B4-BE49-F238E27FC236}">
                <a16:creationId xmlns:a16="http://schemas.microsoft.com/office/drawing/2014/main" id="{D496C789-503E-E25E-E84A-CA09970A6317}"/>
              </a:ext>
            </a:extLst>
          </p:cNvPr>
          <p:cNvSpPr txBox="1"/>
          <p:nvPr/>
        </p:nvSpPr>
        <p:spPr>
          <a:xfrm>
            <a:off x="6095176" y="739826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3.7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9" name="old_bill_7">
            <a:extLst>
              <a:ext uri="{FF2B5EF4-FFF2-40B4-BE49-F238E27FC236}">
                <a16:creationId xmlns:a16="http://schemas.microsoft.com/office/drawing/2014/main" id="{1C0D2F63-633E-6DAA-C425-09C673DB1F86}"/>
              </a:ext>
            </a:extLst>
          </p:cNvPr>
          <p:cNvSpPr txBox="1"/>
          <p:nvPr/>
        </p:nvSpPr>
        <p:spPr>
          <a:xfrm>
            <a:off x="495235" y="782118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0" name="old_kwh_7">
            <a:extLst>
              <a:ext uri="{FF2B5EF4-FFF2-40B4-BE49-F238E27FC236}">
                <a16:creationId xmlns:a16="http://schemas.microsoft.com/office/drawing/2014/main" id="{DCD571F7-DE55-660D-7B78-4D315737A986}"/>
              </a:ext>
            </a:extLst>
          </p:cNvPr>
          <p:cNvSpPr txBox="1"/>
          <p:nvPr/>
        </p:nvSpPr>
        <p:spPr>
          <a:xfrm>
            <a:off x="282395" y="8004118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41" name="daytime_percent_7">
            <a:extLst>
              <a:ext uri="{FF2B5EF4-FFF2-40B4-BE49-F238E27FC236}">
                <a16:creationId xmlns:a16="http://schemas.microsoft.com/office/drawing/2014/main" id="{ED032BCB-66BC-B850-A272-8715069A8FAA}"/>
              </a:ext>
            </a:extLst>
          </p:cNvPr>
          <p:cNvSpPr txBox="1"/>
          <p:nvPr/>
        </p:nvSpPr>
        <p:spPr>
          <a:xfrm>
            <a:off x="1874759" y="780600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2" name="daytime_kwh_7">
            <a:extLst>
              <a:ext uri="{FF2B5EF4-FFF2-40B4-BE49-F238E27FC236}">
                <a16:creationId xmlns:a16="http://schemas.microsoft.com/office/drawing/2014/main" id="{CFEB9852-C7E4-2F6A-3E75-6CE4DC610207}"/>
              </a:ext>
            </a:extLst>
          </p:cNvPr>
          <p:cNvSpPr txBox="1"/>
          <p:nvPr/>
        </p:nvSpPr>
        <p:spPr>
          <a:xfrm>
            <a:off x="1561742" y="8009029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889 kWh</a:t>
            </a:r>
            <a:endParaRPr lang="en-MY" sz="900" dirty="0"/>
          </a:p>
        </p:txBody>
      </p:sp>
      <p:sp>
        <p:nvSpPr>
          <p:cNvPr id="143" name="new_bill_7">
            <a:extLst>
              <a:ext uri="{FF2B5EF4-FFF2-40B4-BE49-F238E27FC236}">
                <a16:creationId xmlns:a16="http://schemas.microsoft.com/office/drawing/2014/main" id="{B8BC1962-B87B-9ED5-0FE7-650CF71560D9}"/>
              </a:ext>
            </a:extLst>
          </p:cNvPr>
          <p:cNvSpPr txBox="1"/>
          <p:nvPr/>
        </p:nvSpPr>
        <p:spPr>
          <a:xfrm>
            <a:off x="3309904" y="7891637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RM679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4" name="savings_7">
            <a:extLst>
              <a:ext uri="{FF2B5EF4-FFF2-40B4-BE49-F238E27FC236}">
                <a16:creationId xmlns:a16="http://schemas.microsoft.com/office/drawing/2014/main" id="{1ABF2BA3-0F2A-72DD-AF4B-1EB664E9D14F}"/>
              </a:ext>
            </a:extLst>
          </p:cNvPr>
          <p:cNvSpPr txBox="1"/>
          <p:nvPr/>
        </p:nvSpPr>
        <p:spPr>
          <a:xfrm>
            <a:off x="4701216" y="782503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RM821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5" name="savings_percent_7">
            <a:extLst>
              <a:ext uri="{FF2B5EF4-FFF2-40B4-BE49-F238E27FC236}">
                <a16:creationId xmlns:a16="http://schemas.microsoft.com/office/drawing/2014/main" id="{44B0A005-50CB-0616-167D-10DBE53DBE83}"/>
              </a:ext>
            </a:extLst>
          </p:cNvPr>
          <p:cNvSpPr txBox="1"/>
          <p:nvPr/>
        </p:nvSpPr>
        <p:spPr>
          <a:xfrm>
            <a:off x="4838350" y="8000232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55%</a:t>
            </a:r>
            <a:endParaRPr lang="en-MY" sz="900" dirty="0"/>
          </a:p>
        </p:txBody>
      </p:sp>
      <p:sp>
        <p:nvSpPr>
          <p:cNvPr id="146" name="payback_7">
            <a:extLst>
              <a:ext uri="{FF2B5EF4-FFF2-40B4-BE49-F238E27FC236}">
                <a16:creationId xmlns:a16="http://schemas.microsoft.com/office/drawing/2014/main" id="{591BB8E3-5FB3-44E7-6C32-AB8C2E78D6F2}"/>
              </a:ext>
            </a:extLst>
          </p:cNvPr>
          <p:cNvSpPr txBox="1"/>
          <p:nvPr/>
        </p:nvSpPr>
        <p:spPr>
          <a:xfrm>
            <a:off x="6095176" y="790615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3.6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7" name="old_bill_8">
            <a:extLst>
              <a:ext uri="{FF2B5EF4-FFF2-40B4-BE49-F238E27FC236}">
                <a16:creationId xmlns:a16="http://schemas.microsoft.com/office/drawing/2014/main" id="{0B68CFEC-D557-2733-0378-DE0889AF3E3F}"/>
              </a:ext>
            </a:extLst>
          </p:cNvPr>
          <p:cNvSpPr txBox="1"/>
          <p:nvPr/>
        </p:nvSpPr>
        <p:spPr>
          <a:xfrm>
            <a:off x="509305" y="829138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</a:p>
        </p:txBody>
      </p:sp>
      <p:sp>
        <p:nvSpPr>
          <p:cNvPr id="148" name="old_kwh_8">
            <a:extLst>
              <a:ext uri="{FF2B5EF4-FFF2-40B4-BE49-F238E27FC236}">
                <a16:creationId xmlns:a16="http://schemas.microsoft.com/office/drawing/2014/main" id="{C9C9F8F6-4D6E-B864-B6C9-A84DFF8D41E9}"/>
              </a:ext>
            </a:extLst>
          </p:cNvPr>
          <p:cNvSpPr txBox="1"/>
          <p:nvPr/>
        </p:nvSpPr>
        <p:spPr>
          <a:xfrm>
            <a:off x="281951" y="8469772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49" name="daytime_percent_8">
            <a:extLst>
              <a:ext uri="{FF2B5EF4-FFF2-40B4-BE49-F238E27FC236}">
                <a16:creationId xmlns:a16="http://schemas.microsoft.com/office/drawing/2014/main" id="{27C969C2-D3B3-1FD9-F7AD-BC56A23A46A2}"/>
              </a:ext>
            </a:extLst>
          </p:cNvPr>
          <p:cNvSpPr txBox="1"/>
          <p:nvPr/>
        </p:nvSpPr>
        <p:spPr>
          <a:xfrm>
            <a:off x="1888827" y="827620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40%</a:t>
            </a:r>
          </a:p>
        </p:txBody>
      </p:sp>
      <p:sp>
        <p:nvSpPr>
          <p:cNvPr id="150" name="daytime_kwh_8">
            <a:extLst>
              <a:ext uri="{FF2B5EF4-FFF2-40B4-BE49-F238E27FC236}">
                <a16:creationId xmlns:a16="http://schemas.microsoft.com/office/drawing/2014/main" id="{ED1201C1-B77E-8E7E-5B0E-9548BB23FB44}"/>
              </a:ext>
            </a:extLst>
          </p:cNvPr>
          <p:cNvSpPr txBox="1"/>
          <p:nvPr/>
        </p:nvSpPr>
        <p:spPr>
          <a:xfrm>
            <a:off x="1576256" y="8469701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1,016 kWh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51" name="new_bill_8">
            <a:extLst>
              <a:ext uri="{FF2B5EF4-FFF2-40B4-BE49-F238E27FC236}">
                <a16:creationId xmlns:a16="http://schemas.microsoft.com/office/drawing/2014/main" id="{B59413DC-8F35-120E-EC5C-35B6E3FD285A}"/>
              </a:ext>
            </a:extLst>
          </p:cNvPr>
          <p:cNvSpPr txBox="1"/>
          <p:nvPr/>
        </p:nvSpPr>
        <p:spPr>
          <a:xfrm>
            <a:off x="3309904" y="836183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RM651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2" name="savings_8">
            <a:extLst>
              <a:ext uri="{FF2B5EF4-FFF2-40B4-BE49-F238E27FC236}">
                <a16:creationId xmlns:a16="http://schemas.microsoft.com/office/drawing/2014/main" id="{7F1C5F86-7CE5-5082-6142-A9BD8D0AF806}"/>
              </a:ext>
            </a:extLst>
          </p:cNvPr>
          <p:cNvSpPr txBox="1"/>
          <p:nvPr/>
        </p:nvSpPr>
        <p:spPr>
          <a:xfrm>
            <a:off x="4701216" y="8295235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RM849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3" name="savings_percent_8">
            <a:extLst>
              <a:ext uri="{FF2B5EF4-FFF2-40B4-BE49-F238E27FC236}">
                <a16:creationId xmlns:a16="http://schemas.microsoft.com/office/drawing/2014/main" id="{ABD2F9E6-5536-DF20-A406-E3FB834A707F}"/>
              </a:ext>
            </a:extLst>
          </p:cNvPr>
          <p:cNvSpPr txBox="1"/>
          <p:nvPr/>
        </p:nvSpPr>
        <p:spPr>
          <a:xfrm>
            <a:off x="4838350" y="8461630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>
                <a:solidFill>
                  <a:srgbClr val="F454CD"/>
                </a:solidFill>
                <a:latin typeface="Work Sans" pitchFamily="2" charset="77"/>
                <a:ea typeface="Work Sans Light"/>
                <a:cs typeface="Work Sans Light"/>
                <a:sym typeface="Work Sans Light"/>
              </a:rPr>
              <a:t>57%</a:t>
            </a:r>
            <a:endParaRPr lang="en-MY" sz="900" b="1" dirty="0">
              <a:solidFill>
                <a:srgbClr val="F454CD"/>
              </a:solidFill>
            </a:endParaRPr>
          </a:p>
        </p:txBody>
      </p:sp>
      <p:sp>
        <p:nvSpPr>
          <p:cNvPr id="154" name="payback_8">
            <a:extLst>
              <a:ext uri="{FF2B5EF4-FFF2-40B4-BE49-F238E27FC236}">
                <a16:creationId xmlns:a16="http://schemas.microsoft.com/office/drawing/2014/main" id="{B9AA26DB-6F6B-6567-5C4B-FB0082DF156D}"/>
              </a:ext>
            </a:extLst>
          </p:cNvPr>
          <p:cNvSpPr txBox="1"/>
          <p:nvPr/>
        </p:nvSpPr>
        <p:spPr>
          <a:xfrm>
            <a:off x="6095176" y="833762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3.5  Years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5" name="old_bill_9">
            <a:extLst>
              <a:ext uri="{FF2B5EF4-FFF2-40B4-BE49-F238E27FC236}">
                <a16:creationId xmlns:a16="http://schemas.microsoft.com/office/drawing/2014/main" id="{D1A11BC6-C5D5-7C80-C6B5-7C68B4C2F08C}"/>
              </a:ext>
            </a:extLst>
          </p:cNvPr>
          <p:cNvSpPr txBox="1"/>
          <p:nvPr/>
        </p:nvSpPr>
        <p:spPr>
          <a:xfrm>
            <a:off x="495235" y="8760551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6" name="old_kwh_9">
            <a:extLst>
              <a:ext uri="{FF2B5EF4-FFF2-40B4-BE49-F238E27FC236}">
                <a16:creationId xmlns:a16="http://schemas.microsoft.com/office/drawing/2014/main" id="{05827620-2956-1DD9-33C9-46B859006316}"/>
              </a:ext>
            </a:extLst>
          </p:cNvPr>
          <p:cNvSpPr txBox="1"/>
          <p:nvPr/>
        </p:nvSpPr>
        <p:spPr>
          <a:xfrm>
            <a:off x="282395" y="8938215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57" name="daytime_percent_9">
            <a:extLst>
              <a:ext uri="{FF2B5EF4-FFF2-40B4-BE49-F238E27FC236}">
                <a16:creationId xmlns:a16="http://schemas.microsoft.com/office/drawing/2014/main" id="{D1CD391A-A41C-3176-C509-8B41647CB26D}"/>
              </a:ext>
            </a:extLst>
          </p:cNvPr>
          <p:cNvSpPr txBox="1"/>
          <p:nvPr/>
        </p:nvSpPr>
        <p:spPr>
          <a:xfrm>
            <a:off x="1874759" y="874536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45%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8" name="daytime_kwh_9">
            <a:extLst>
              <a:ext uri="{FF2B5EF4-FFF2-40B4-BE49-F238E27FC236}">
                <a16:creationId xmlns:a16="http://schemas.microsoft.com/office/drawing/2014/main" id="{FFEC0C46-AFB8-4D9B-9A29-DDD0C86B11DC}"/>
              </a:ext>
            </a:extLst>
          </p:cNvPr>
          <p:cNvSpPr txBox="1"/>
          <p:nvPr/>
        </p:nvSpPr>
        <p:spPr>
          <a:xfrm>
            <a:off x="1561742" y="8953384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1,143 kWh</a:t>
            </a:r>
            <a:endParaRPr lang="en-MY" sz="900" dirty="0"/>
          </a:p>
        </p:txBody>
      </p:sp>
      <p:sp>
        <p:nvSpPr>
          <p:cNvPr id="159" name="new_bill_9">
            <a:extLst>
              <a:ext uri="{FF2B5EF4-FFF2-40B4-BE49-F238E27FC236}">
                <a16:creationId xmlns:a16="http://schemas.microsoft.com/office/drawing/2014/main" id="{2243E497-4042-5A49-50FE-6E86B68FD1B3}"/>
              </a:ext>
            </a:extLst>
          </p:cNvPr>
          <p:cNvSpPr txBox="1"/>
          <p:nvPr/>
        </p:nvSpPr>
        <p:spPr>
          <a:xfrm>
            <a:off x="3309904" y="883100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RM526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0" name="savings_9">
            <a:extLst>
              <a:ext uri="{FF2B5EF4-FFF2-40B4-BE49-F238E27FC236}">
                <a16:creationId xmlns:a16="http://schemas.microsoft.com/office/drawing/2014/main" id="{B0DA94C4-8404-81CA-220E-73551679570F}"/>
              </a:ext>
            </a:extLst>
          </p:cNvPr>
          <p:cNvSpPr txBox="1"/>
          <p:nvPr/>
        </p:nvSpPr>
        <p:spPr>
          <a:xfrm>
            <a:off x="4701216" y="8764404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RM973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1" name="savings_percent_9">
            <a:extLst>
              <a:ext uri="{FF2B5EF4-FFF2-40B4-BE49-F238E27FC236}">
                <a16:creationId xmlns:a16="http://schemas.microsoft.com/office/drawing/2014/main" id="{9C9B8624-8B4A-6A17-F609-2D04A3440E91}"/>
              </a:ext>
            </a:extLst>
          </p:cNvPr>
          <p:cNvSpPr txBox="1"/>
          <p:nvPr/>
        </p:nvSpPr>
        <p:spPr>
          <a:xfrm>
            <a:off x="4823836" y="8936521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65%</a:t>
            </a:r>
            <a:endParaRPr lang="en-MY" sz="900" dirty="0"/>
          </a:p>
        </p:txBody>
      </p:sp>
      <p:sp>
        <p:nvSpPr>
          <p:cNvPr id="162" name="payback_9">
            <a:extLst>
              <a:ext uri="{FF2B5EF4-FFF2-40B4-BE49-F238E27FC236}">
                <a16:creationId xmlns:a16="http://schemas.microsoft.com/office/drawing/2014/main" id="{D6CCFF0A-0EF2-F794-5C0B-86A6406B30D9}"/>
              </a:ext>
            </a:extLst>
          </p:cNvPr>
          <p:cNvSpPr txBox="1"/>
          <p:nvPr/>
        </p:nvSpPr>
        <p:spPr>
          <a:xfrm>
            <a:off x="6095176" y="8831449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3.0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3" name="old_bill_10">
            <a:extLst>
              <a:ext uri="{FF2B5EF4-FFF2-40B4-BE49-F238E27FC236}">
                <a16:creationId xmlns:a16="http://schemas.microsoft.com/office/drawing/2014/main" id="{7B02F7A8-7060-7216-2305-9F8877FE1E6D}"/>
              </a:ext>
            </a:extLst>
          </p:cNvPr>
          <p:cNvSpPr txBox="1"/>
          <p:nvPr/>
        </p:nvSpPr>
        <p:spPr>
          <a:xfrm>
            <a:off x="495235" y="9217070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RM1,500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4" name="old_kwh_10">
            <a:extLst>
              <a:ext uri="{FF2B5EF4-FFF2-40B4-BE49-F238E27FC236}">
                <a16:creationId xmlns:a16="http://schemas.microsoft.com/office/drawing/2014/main" id="{84B3A361-BB7B-01E7-B0BB-1E763354C44B}"/>
              </a:ext>
            </a:extLst>
          </p:cNvPr>
          <p:cNvSpPr txBox="1"/>
          <p:nvPr/>
        </p:nvSpPr>
        <p:spPr>
          <a:xfrm>
            <a:off x="282395" y="9408802"/>
            <a:ext cx="13814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2,540kWh</a:t>
            </a:r>
            <a:endParaRPr lang="en-MY" sz="900" dirty="0"/>
          </a:p>
        </p:txBody>
      </p:sp>
      <p:sp>
        <p:nvSpPr>
          <p:cNvPr id="165" name="daytime_percent_10">
            <a:extLst>
              <a:ext uri="{FF2B5EF4-FFF2-40B4-BE49-F238E27FC236}">
                <a16:creationId xmlns:a16="http://schemas.microsoft.com/office/drawing/2014/main" id="{40C6BD19-DB88-5E67-0E20-D55D5F229AEC}"/>
              </a:ext>
            </a:extLst>
          </p:cNvPr>
          <p:cNvSpPr txBox="1"/>
          <p:nvPr/>
        </p:nvSpPr>
        <p:spPr>
          <a:xfrm>
            <a:off x="1874759" y="9201888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50%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6" name="daytime_kwh_10">
            <a:extLst>
              <a:ext uri="{FF2B5EF4-FFF2-40B4-BE49-F238E27FC236}">
                <a16:creationId xmlns:a16="http://schemas.microsoft.com/office/drawing/2014/main" id="{B72B2E4C-BE10-E221-AA1B-D7696E5789AD}"/>
              </a:ext>
            </a:extLst>
          </p:cNvPr>
          <p:cNvSpPr txBox="1"/>
          <p:nvPr/>
        </p:nvSpPr>
        <p:spPr>
          <a:xfrm>
            <a:off x="1561742" y="9395835"/>
            <a:ext cx="16099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1,270 kWh</a:t>
            </a:r>
            <a:endParaRPr lang="en-MY" sz="900" dirty="0"/>
          </a:p>
        </p:txBody>
      </p:sp>
      <p:sp>
        <p:nvSpPr>
          <p:cNvPr id="167" name="new_bill_10">
            <a:extLst>
              <a:ext uri="{FF2B5EF4-FFF2-40B4-BE49-F238E27FC236}">
                <a16:creationId xmlns:a16="http://schemas.microsoft.com/office/drawing/2014/main" id="{925CBD8D-CAA0-8129-1EC0-34F186A5DE99}"/>
              </a:ext>
            </a:extLst>
          </p:cNvPr>
          <p:cNvSpPr txBox="1"/>
          <p:nvPr/>
        </p:nvSpPr>
        <p:spPr>
          <a:xfrm>
            <a:off x="3309904" y="9287522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RM499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8" name="savings_10">
            <a:extLst>
              <a:ext uri="{FF2B5EF4-FFF2-40B4-BE49-F238E27FC236}">
                <a16:creationId xmlns:a16="http://schemas.microsoft.com/office/drawing/2014/main" id="{2F95AB1B-924F-FDB0-25CF-02837495E5F3}"/>
              </a:ext>
            </a:extLst>
          </p:cNvPr>
          <p:cNvSpPr txBox="1"/>
          <p:nvPr/>
        </p:nvSpPr>
        <p:spPr>
          <a:xfrm>
            <a:off x="4701216" y="9220923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RM1,001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9" name="savings_percent_10">
            <a:extLst>
              <a:ext uri="{FF2B5EF4-FFF2-40B4-BE49-F238E27FC236}">
                <a16:creationId xmlns:a16="http://schemas.microsoft.com/office/drawing/2014/main" id="{3CB05930-A337-407F-3F75-7EA0EE34C25E}"/>
              </a:ext>
            </a:extLst>
          </p:cNvPr>
          <p:cNvSpPr txBox="1"/>
          <p:nvPr/>
        </p:nvSpPr>
        <p:spPr>
          <a:xfrm>
            <a:off x="4823836" y="9393486"/>
            <a:ext cx="736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Work Sans" pitchFamily="2" charset="77"/>
                <a:ea typeface="Work Sans Light"/>
                <a:cs typeface="Work Sans Light"/>
                <a:sym typeface="Work Sans Light"/>
              </a:rPr>
              <a:t>67%</a:t>
            </a:r>
            <a:endParaRPr lang="en-MY" sz="900" dirty="0"/>
          </a:p>
        </p:txBody>
      </p:sp>
      <p:sp>
        <p:nvSpPr>
          <p:cNvPr id="170" name="payback_10">
            <a:extLst>
              <a:ext uri="{FF2B5EF4-FFF2-40B4-BE49-F238E27FC236}">
                <a16:creationId xmlns:a16="http://schemas.microsoft.com/office/drawing/2014/main" id="{D293DB4B-DEEE-F313-2030-39E67DD26A57}"/>
              </a:ext>
            </a:extLst>
          </p:cNvPr>
          <p:cNvSpPr txBox="1"/>
          <p:nvPr/>
        </p:nvSpPr>
        <p:spPr>
          <a:xfrm>
            <a:off x="6095176" y="9302036"/>
            <a:ext cx="95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7559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Work Sans" pitchFamily="2" charset="77"/>
                <a:ea typeface="Work Sans Light"/>
                <a:cs typeface="Work Sans Light"/>
                <a:sym typeface="Work Sans Light"/>
              </a:rPr>
              <a:t>3.0  Years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4" name="kwp_top">
            <a:extLst>
              <a:ext uri="{FF2B5EF4-FFF2-40B4-BE49-F238E27FC236}">
                <a16:creationId xmlns:a16="http://schemas.microsoft.com/office/drawing/2014/main" id="{19A69E48-02B4-AFA1-05D8-8A2A673F067B}"/>
              </a:ext>
            </a:extLst>
          </p:cNvPr>
          <p:cNvSpPr txBox="1"/>
          <p:nvPr/>
        </p:nvSpPr>
        <p:spPr>
          <a:xfrm>
            <a:off x="3398308" y="1913273"/>
            <a:ext cx="20925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000" b="0" i="0">
                <a:solidFill>
                  <a:schemeClr val="tx1"/>
                </a:solidFill>
                <a:latin typeface="Work Sans" pitchFamily="2" charset="77"/>
              </a:rPr>
              <a:t>16.32kWp</a:t>
            </a:r>
            <a:endParaRPr lang="en-MY" sz="1000" dirty="0"/>
          </a:p>
        </p:txBody>
      </p:sp>
    </p:spTree>
    <p:extLst>
      <p:ext uri="{BB962C8B-B14F-4D97-AF65-F5344CB8AC3E}">
        <p14:creationId xmlns:p14="http://schemas.microsoft.com/office/powerpoint/2010/main" val="329730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3A336-2F44-C77F-E931-177CC1A6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DC8C4E-BC0D-9392-9DED-6E4DD1DE4319}"/>
              </a:ext>
            </a:extLst>
          </p:cNvPr>
          <p:cNvSpPr/>
          <p:nvPr/>
        </p:nvSpPr>
        <p:spPr>
          <a:xfrm>
            <a:off x="-325" y="8041707"/>
            <a:ext cx="7560000" cy="216832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8841A-A616-03BC-D7A4-36C036560195}"/>
              </a:ext>
            </a:extLst>
          </p:cNvPr>
          <p:cNvSpPr txBox="1"/>
          <p:nvPr/>
        </p:nvSpPr>
        <p:spPr>
          <a:xfrm>
            <a:off x="323837" y="8125598"/>
            <a:ext cx="691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Review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Your Installation Plan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lang="en-MY" sz="1400" dirty="0">
                <a:solidFill>
                  <a:prstClr val="white"/>
                </a:solidFill>
                <a:latin typeface="Work Sans" pitchFamily="2" charset="77"/>
              </a:rPr>
              <a:t>From panel layout to equipment placement, planned specifically for your home.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773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DD75-2387-B52E-8ED6-36875567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37F605D-8B35-4F39-53CC-383380C519D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B69BF4F-D10A-FB99-2811-C821ECC7C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32AAAD3-917B-C3BC-7A70-7C369584DE9E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811EDD7-B34A-18E0-9647-8798E1B38070}"/>
              </a:ext>
            </a:extLst>
          </p:cNvPr>
          <p:cNvSpPr txBox="1"/>
          <p:nvPr/>
        </p:nvSpPr>
        <p:spPr>
          <a:xfrm>
            <a:off x="5649739" y="377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3E133-2D3F-F40A-4CB0-7B7EBF66673E}"/>
              </a:ext>
            </a:extLst>
          </p:cNvPr>
          <p:cNvSpPr txBox="1"/>
          <p:nvPr/>
        </p:nvSpPr>
        <p:spPr>
          <a:xfrm>
            <a:off x="321806" y="9748197"/>
            <a:ext cx="69160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GB" sz="8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All installations are carried out by certified installers and comply with applicable electrical and safety standards. </a:t>
            </a:r>
          </a:p>
          <a:p>
            <a:pPr algn="ctr">
              <a:defRPr/>
            </a:pPr>
            <a:r>
              <a:rPr lang="en-GB" sz="800" dirty="0">
                <a:solidFill>
                  <a:prstClr val="black">
                    <a:lumMod val="65000"/>
                    <a:lumOff val="35000"/>
                  </a:prstClr>
                </a:solidFill>
                <a:latin typeface="Work Sans" pitchFamily="2" charset="77"/>
              </a:rPr>
              <a:t>Actual methods and sequencing may vary depending on roof type, structure, and site conditions.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F44C3E-946B-D9B7-AFB6-DAB54F5B7BC0}"/>
              </a:ext>
            </a:extLst>
          </p:cNvPr>
          <p:cNvSpPr txBox="1"/>
          <p:nvPr/>
        </p:nvSpPr>
        <p:spPr>
          <a:xfrm>
            <a:off x="3295951" y="1194612"/>
            <a:ext cx="39398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prstClr val="black"/>
                </a:solidFill>
                <a:latin typeface="Work Sans" pitchFamily="2" charset="77"/>
              </a:rPr>
              <a:t>Solar Rail Hooks</a:t>
            </a:r>
          </a:p>
          <a:p>
            <a:pPr lvl="0">
              <a:defRPr/>
            </a:pPr>
            <a:endParaRPr lang="en-US" sz="400" b="1" dirty="0">
              <a:solidFill>
                <a:prstClr val="black"/>
              </a:solidFill>
              <a:latin typeface="Work Sans" pitchFamily="2" charset="77"/>
            </a:endParaRPr>
          </a:p>
          <a:p>
            <a:pPr marL="171450" lvl="0" indent="-171450">
              <a:buClr>
                <a:srgbClr val="F454CD"/>
              </a:buClr>
              <a:buFont typeface="Arial" panose="020B0604020202020204" pitchFamily="34" charset="0"/>
              <a:buChar char="•"/>
              <a:defRPr/>
            </a:pPr>
            <a:r>
              <a:rPr lang="en-MY" sz="1000" dirty="0">
                <a:solidFill>
                  <a:prstClr val="black"/>
                </a:solidFill>
                <a:latin typeface="Work Sans" pitchFamily="2" charset="77"/>
              </a:rPr>
              <a:t>Installed on key rafters to anchor the solar rails.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64E2FD-469C-6748-AF9C-FD5BAEF1287D}"/>
              </a:ext>
            </a:extLst>
          </p:cNvPr>
          <p:cNvSpPr>
            <a:spLocks noChangeAspect="1"/>
          </p:cNvSpPr>
          <p:nvPr/>
        </p:nvSpPr>
        <p:spPr>
          <a:xfrm>
            <a:off x="2878215" y="1194612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1</a:t>
            </a:r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523415A9-23A3-7067-5DCB-CC8ACB35982B}"/>
              </a:ext>
            </a:extLst>
          </p:cNvPr>
          <p:cNvSpPr/>
          <p:nvPr/>
        </p:nvSpPr>
        <p:spPr>
          <a:xfrm>
            <a:off x="323837" y="1194612"/>
            <a:ext cx="2339999" cy="1260000"/>
          </a:xfrm>
          <a:custGeom>
            <a:avLst/>
            <a:gdLst/>
            <a:ahLst/>
            <a:cxnLst/>
            <a:rect l="l" t="t" r="r" b="b"/>
            <a:pathLst>
              <a:path w="1576658" h="2412247">
                <a:moveTo>
                  <a:pt x="0" y="0"/>
                </a:moveTo>
                <a:lnTo>
                  <a:pt x="1576658" y="0"/>
                </a:lnTo>
                <a:lnTo>
                  <a:pt x="1576658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CDD376-1115-DA57-6E14-264D7A999ACF}"/>
              </a:ext>
            </a:extLst>
          </p:cNvPr>
          <p:cNvSpPr txBox="1"/>
          <p:nvPr/>
        </p:nvSpPr>
        <p:spPr>
          <a:xfrm>
            <a:off x="3295950" y="2620210"/>
            <a:ext cx="39398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Rails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Mounted onto the hooks to support the solar panels.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222AB8D-FFC6-B56B-37F3-49585C04C2B7}"/>
              </a:ext>
            </a:extLst>
          </p:cNvPr>
          <p:cNvSpPr>
            <a:spLocks noChangeAspect="1"/>
          </p:cNvSpPr>
          <p:nvPr/>
        </p:nvSpPr>
        <p:spPr>
          <a:xfrm>
            <a:off x="2878215" y="2620210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F8B6A571-DBB3-42B1-8AA9-9E5C2C9AD864}"/>
              </a:ext>
            </a:extLst>
          </p:cNvPr>
          <p:cNvSpPr/>
          <p:nvPr/>
        </p:nvSpPr>
        <p:spPr>
          <a:xfrm>
            <a:off x="323837" y="2620210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3922039" h="2412247">
                <a:moveTo>
                  <a:pt x="0" y="0"/>
                </a:moveTo>
                <a:lnTo>
                  <a:pt x="3922039" y="0"/>
                </a:lnTo>
                <a:lnTo>
                  <a:pt x="3922039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3F09A3-003D-7D0E-4D39-1AF3EA6510AF}"/>
              </a:ext>
            </a:extLst>
          </p:cNvPr>
          <p:cNvSpPr txBox="1"/>
          <p:nvPr/>
        </p:nvSpPr>
        <p:spPr>
          <a:xfrm>
            <a:off x="3295951" y="4045808"/>
            <a:ext cx="39398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Panels – Laying the Panels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Secured onto the rails according to the approved layout.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29E33B-B0B6-A407-569C-5E034FE54356}"/>
              </a:ext>
            </a:extLst>
          </p:cNvPr>
          <p:cNvSpPr>
            <a:spLocks noChangeAspect="1"/>
          </p:cNvSpPr>
          <p:nvPr/>
        </p:nvSpPr>
        <p:spPr>
          <a:xfrm>
            <a:off x="2878215" y="4045808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52" name="Freeform 4">
            <a:extLst>
              <a:ext uri="{FF2B5EF4-FFF2-40B4-BE49-F238E27FC236}">
                <a16:creationId xmlns:a16="http://schemas.microsoft.com/office/drawing/2014/main" id="{937813CF-EDC0-5173-3FDD-34ABBC3A7D33}"/>
              </a:ext>
            </a:extLst>
          </p:cNvPr>
          <p:cNvSpPr/>
          <p:nvPr/>
        </p:nvSpPr>
        <p:spPr>
          <a:xfrm>
            <a:off x="323837" y="4045808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3949971" h="2412247">
                <a:moveTo>
                  <a:pt x="0" y="0"/>
                </a:moveTo>
                <a:lnTo>
                  <a:pt x="3949971" y="0"/>
                </a:lnTo>
                <a:lnTo>
                  <a:pt x="3949971" y="2412247"/>
                </a:lnTo>
                <a:lnTo>
                  <a:pt x="0" y="24122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D82AF-A927-F991-E4AA-413A099ACBD5}"/>
              </a:ext>
            </a:extLst>
          </p:cNvPr>
          <p:cNvSpPr txBox="1"/>
          <p:nvPr/>
        </p:nvSpPr>
        <p:spPr>
          <a:xfrm>
            <a:off x="3295951" y="5471406"/>
            <a:ext cx="3939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Solar Panels – Connecting the Panels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Electrically connected (stringed) to allow Solar Electricity to flow from the </a:t>
            </a:r>
            <a:r>
              <a:rPr lang="en-MY" sz="1000" dirty="0">
                <a:solidFill>
                  <a:prstClr val="black"/>
                </a:solidFill>
                <a:latin typeface="Work Sans" pitchFamily="2" charset="77"/>
              </a:rPr>
              <a:t>panels</a:t>
            </a: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to the inverter.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BCE9D3-9471-4106-0080-A17F41FFB9FB}"/>
              </a:ext>
            </a:extLst>
          </p:cNvPr>
          <p:cNvSpPr>
            <a:spLocks noChangeAspect="1"/>
          </p:cNvSpPr>
          <p:nvPr/>
        </p:nvSpPr>
        <p:spPr>
          <a:xfrm>
            <a:off x="2878215" y="5471406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B5806B4-83F9-309C-CFF1-2ACF658C35B7}"/>
              </a:ext>
            </a:extLst>
          </p:cNvPr>
          <p:cNvPicPr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3837" y="5471406"/>
            <a:ext cx="2340000" cy="1260000"/>
          </a:xfrm>
          <a:prstGeom prst="rect">
            <a:avLst/>
          </a:prstGeom>
          <a:ln w="19050"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688368F-5B26-8CFB-A6D2-927636DB7DBC}"/>
              </a:ext>
            </a:extLst>
          </p:cNvPr>
          <p:cNvSpPr txBox="1"/>
          <p:nvPr/>
        </p:nvSpPr>
        <p:spPr>
          <a:xfrm>
            <a:off x="3295951" y="6897004"/>
            <a:ext cx="393988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Cable Routing – GI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Trunking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DC cables are routed from the roof to the inverter using galvanised iron (GI) trunking for protection, durability, and a neat finish.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B22A147-9356-B1A5-38D6-97791DFD8B88}"/>
              </a:ext>
            </a:extLst>
          </p:cNvPr>
          <p:cNvSpPr>
            <a:spLocks noChangeAspect="1"/>
          </p:cNvSpPr>
          <p:nvPr/>
        </p:nvSpPr>
        <p:spPr>
          <a:xfrm>
            <a:off x="2878215" y="6897004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5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1FD70FDC-65C4-EED2-A250-1B60901501C2}"/>
              </a:ext>
            </a:extLst>
          </p:cNvPr>
          <p:cNvSpPr/>
          <p:nvPr/>
        </p:nvSpPr>
        <p:spPr>
          <a:xfrm>
            <a:off x="323837" y="6897004"/>
            <a:ext cx="2340000" cy="1260000"/>
          </a:xfrm>
          <a:custGeom>
            <a:avLst/>
            <a:gdLst/>
            <a:ahLst/>
            <a:cxnLst/>
            <a:rect l="l" t="t" r="r" b="b"/>
            <a:pathLst>
              <a:path w="5814347" h="2376270">
                <a:moveTo>
                  <a:pt x="0" y="0"/>
                </a:moveTo>
                <a:lnTo>
                  <a:pt x="5814347" y="0"/>
                </a:lnTo>
                <a:lnTo>
                  <a:pt x="5814347" y="2376270"/>
                </a:lnTo>
                <a:lnTo>
                  <a:pt x="0" y="2376270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1"/>
            </a:stretch>
          </a:blipFill>
          <a:ln w="19050"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124CCC-EF33-B02F-248C-B56A918AE2A8}"/>
              </a:ext>
            </a:extLst>
          </p:cNvPr>
          <p:cNvSpPr txBox="1"/>
          <p:nvPr/>
        </p:nvSpPr>
        <p:spPr>
          <a:xfrm>
            <a:off x="3295951" y="8322602"/>
            <a:ext cx="393988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Inverter &amp; PVDB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54C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The inverter and PV Distribution Board (PVDB) are installed and connected to your home’s Distribution Board (DB).</a:t>
            </a:r>
            <a:endParaRPr kumimoji="0" lang="en-MY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4C3F2B5-680B-C456-951F-DBB398C7CC47}"/>
              </a:ext>
            </a:extLst>
          </p:cNvPr>
          <p:cNvSpPr>
            <a:spLocks noChangeAspect="1"/>
          </p:cNvSpPr>
          <p:nvPr/>
        </p:nvSpPr>
        <p:spPr>
          <a:xfrm>
            <a:off x="2878215" y="8322602"/>
            <a:ext cx="288000" cy="288000"/>
          </a:xfrm>
          <a:prstGeom prst="ellipse">
            <a:avLst/>
          </a:prstGeom>
          <a:noFill/>
          <a:ln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54CD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0A07AF3-BBE6-7AAD-B9BF-5C2527A74C29}"/>
              </a:ext>
            </a:extLst>
          </p:cNvPr>
          <p:cNvPicPr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37" y="8322602"/>
            <a:ext cx="2340000" cy="126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D89C99-38C0-7813-9997-2D91B76E364F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Standard Installation Process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1794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EC0F1-2C82-74CE-F6B1-1868AC6B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D5D42C2-EBD7-C548-5D77-9393CB4D0A95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2E7DF1-D6F8-0647-2A46-7D9F2C239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2E7F14-9419-C9D2-2555-DDBA0C79BC0B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2" name="Google Shape;215;p5">
            <a:extLst>
              <a:ext uri="{FF2B5EF4-FFF2-40B4-BE49-F238E27FC236}">
                <a16:creationId xmlns:a16="http://schemas.microsoft.com/office/drawing/2014/main" id="{F3B14EC6-008D-34E3-8E8E-FC6337DED3FE}"/>
              </a:ext>
            </a:extLst>
          </p:cNvPr>
          <p:cNvSpPr txBox="1"/>
          <p:nvPr/>
        </p:nvSpPr>
        <p:spPr>
          <a:xfrm>
            <a:off x="323837" y="1286221"/>
            <a:ext cx="691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The layout of solar panels on your rooftop is designed to maximise sun absorption, Solar Electricity generation, and your savings.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4" name="Google Shape;216;p5">
            <a:extLst>
              <a:ext uri="{FF2B5EF4-FFF2-40B4-BE49-F238E27FC236}">
                <a16:creationId xmlns:a16="http://schemas.microsoft.com/office/drawing/2014/main" id="{4F0FC703-6D3C-9316-2C32-253A480B4149}"/>
              </a:ext>
            </a:extLst>
          </p:cNvPr>
          <p:cNvSpPr txBox="1"/>
          <p:nvPr/>
        </p:nvSpPr>
        <p:spPr>
          <a:xfrm>
            <a:off x="321806" y="9310078"/>
            <a:ext cx="6912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Ideal panel positioning for maximum sunlight exposure.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7" name="Google Shape;226;p5">
            <a:extLst>
              <a:ext uri="{FF2B5EF4-FFF2-40B4-BE49-F238E27FC236}">
                <a16:creationId xmlns:a16="http://schemas.microsoft.com/office/drawing/2014/main" id="{CDB0DBCD-C28C-1A8D-1DE4-E376608E60EE}"/>
              </a:ext>
            </a:extLst>
          </p:cNvPr>
          <p:cNvSpPr/>
          <p:nvPr/>
        </p:nvSpPr>
        <p:spPr>
          <a:xfrm>
            <a:off x="321806" y="1798233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7;p5">
            <a:extLst>
              <a:ext uri="{FF2B5EF4-FFF2-40B4-BE49-F238E27FC236}">
                <a16:creationId xmlns:a16="http://schemas.microsoft.com/office/drawing/2014/main" id="{9CFC7B0B-58E9-5EE2-D6A7-A835944CD189}"/>
              </a:ext>
            </a:extLst>
          </p:cNvPr>
          <p:cNvSpPr/>
          <p:nvPr/>
        </p:nvSpPr>
        <p:spPr>
          <a:xfrm>
            <a:off x="321806" y="5810161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E534FE-8531-6A48-8FFA-71F695617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3962" y="1899802"/>
            <a:ext cx="6707688" cy="3154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D58C8F-2818-B18F-BDCF-E21241DE5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3962" y="5902645"/>
            <a:ext cx="6707688" cy="3172268"/>
          </a:xfrm>
          <a:prstGeom prst="rect">
            <a:avLst/>
          </a:prstGeom>
        </p:spPr>
      </p:pic>
      <p:sp>
        <p:nvSpPr>
          <p:cNvPr id="15" name="TextBox 35">
            <a:extLst>
              <a:ext uri="{FF2B5EF4-FFF2-40B4-BE49-F238E27FC236}">
                <a16:creationId xmlns:a16="http://schemas.microsoft.com/office/drawing/2014/main" id="{960A913F-370E-FC03-E6A0-E41307E3BDF7}"/>
              </a:ext>
            </a:extLst>
          </p:cNvPr>
          <p:cNvSpPr txBox="1"/>
          <p:nvPr/>
        </p:nvSpPr>
        <p:spPr>
          <a:xfrm>
            <a:off x="321806" y="5298149"/>
            <a:ext cx="6912000" cy="36933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Grey rectangles indicate additional panel placement if you choose to maximise your roof space.</a:t>
            </a: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2B628D-93DC-52FD-D574-95DCBE2B9868}"/>
              </a:ext>
            </a:extLst>
          </p:cNvPr>
          <p:cNvSpPr/>
          <p:nvPr/>
        </p:nvSpPr>
        <p:spPr>
          <a:xfrm flipH="1">
            <a:off x="5502466" y="2838789"/>
            <a:ext cx="392387" cy="6726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B78BA9-226A-951B-F5EB-FB2D7587AB84}"/>
              </a:ext>
            </a:extLst>
          </p:cNvPr>
          <p:cNvSpPr/>
          <p:nvPr/>
        </p:nvSpPr>
        <p:spPr>
          <a:xfrm flipH="1">
            <a:off x="5502995" y="3599821"/>
            <a:ext cx="392387" cy="6726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0DD0B-9E65-B9A0-2A27-7C05C00CC710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Solar Panel Layout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99583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E3D6-B8FD-1357-0CCA-57C553A3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237;p6">
            <a:extLst>
              <a:ext uri="{FF2B5EF4-FFF2-40B4-BE49-F238E27FC236}">
                <a16:creationId xmlns:a16="http://schemas.microsoft.com/office/drawing/2014/main" id="{8AD5635D-58F4-22DE-A989-929C3D0C8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675796"/>
              </p:ext>
            </p:extLst>
          </p:nvPr>
        </p:nvGraphicFramePr>
        <p:xfrm>
          <a:off x="5144167" y="1759409"/>
          <a:ext cx="2091670" cy="8229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9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The DC c</a:t>
                      </a: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able runs from the panels to the drop point, indicated by the blue circle.</a:t>
                      </a:r>
                      <a:endParaRPr sz="1200" b="0" i="0" dirty="0">
                        <a:solidFill>
                          <a:schemeClr val="dk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Google Shape;246;p6">
            <a:extLst>
              <a:ext uri="{FF2B5EF4-FFF2-40B4-BE49-F238E27FC236}">
                <a16:creationId xmlns:a16="http://schemas.microsoft.com/office/drawing/2014/main" id="{A37E0F55-D792-1981-7491-8D71D6B88460}"/>
              </a:ext>
            </a:extLst>
          </p:cNvPr>
          <p:cNvSpPr/>
          <p:nvPr/>
        </p:nvSpPr>
        <p:spPr>
          <a:xfrm>
            <a:off x="321806" y="1787985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prstClr val="white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47;p6">
            <a:extLst>
              <a:ext uri="{FF2B5EF4-FFF2-40B4-BE49-F238E27FC236}">
                <a16:creationId xmlns:a16="http://schemas.microsoft.com/office/drawing/2014/main" id="{C8460AA1-FB9B-9A3E-2FCD-1B51F0B47020}"/>
              </a:ext>
            </a:extLst>
          </p:cNvPr>
          <p:cNvSpPr/>
          <p:nvPr/>
        </p:nvSpPr>
        <p:spPr>
          <a:xfrm>
            <a:off x="321806" y="5809634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prstClr val="white"/>
              </a:solidFill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245;p6">
            <a:extLst>
              <a:ext uri="{FF2B5EF4-FFF2-40B4-BE49-F238E27FC236}">
                <a16:creationId xmlns:a16="http://schemas.microsoft.com/office/drawing/2014/main" id="{AE2A928D-EC61-7E68-D802-B019FF646D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243159"/>
              </p:ext>
            </p:extLst>
          </p:nvPr>
        </p:nvGraphicFramePr>
        <p:xfrm>
          <a:off x="5163531" y="5720214"/>
          <a:ext cx="2072305" cy="82297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7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It is routed to the porch via the drop point, concealed under the roof tiles.</a:t>
                      </a:r>
                      <a:endParaRPr lang="en-US" sz="1200" b="0" i="0" dirty="0">
                        <a:solidFill>
                          <a:schemeClr val="dk1"/>
                        </a:solidFill>
                        <a:latin typeface="Work Sans" pitchFamily="2" charset="77"/>
                        <a:ea typeface="Work Sans Light"/>
                        <a:cs typeface="Work Sans Light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FD79AFFF-D076-1A03-7DBC-FF2F64313910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36E25C6-178F-3F9D-1207-BEA7FAA3B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C201E3-0BED-67DA-467E-2D90FFE2FB0C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pic>
        <p:nvPicPr>
          <p:cNvPr id="85" name="Picture 84" descr="A bird's eye view of a house&#10;&#10;AI-generated content may be incorrect.">
            <a:extLst>
              <a:ext uri="{FF2B5EF4-FFF2-40B4-BE49-F238E27FC236}">
                <a16:creationId xmlns:a16="http://schemas.microsoft.com/office/drawing/2014/main" id="{CE3B746F-0C1A-D0AF-4C07-B2633583E5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6" y="1875403"/>
            <a:ext cx="4418050" cy="3182400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975B6F22-85BC-137A-186E-0072E2160250}"/>
              </a:ext>
            </a:extLst>
          </p:cNvPr>
          <p:cNvSpPr/>
          <p:nvPr/>
        </p:nvSpPr>
        <p:spPr bwMode="auto">
          <a:xfrm>
            <a:off x="4009517" y="3100858"/>
            <a:ext cx="229242" cy="24972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63" name="Google Shape;238;p6">
            <a:extLst>
              <a:ext uri="{FF2B5EF4-FFF2-40B4-BE49-F238E27FC236}">
                <a16:creationId xmlns:a16="http://schemas.microsoft.com/office/drawing/2014/main" id="{747D3E6A-1588-447B-0342-1D73035B26DD}"/>
              </a:ext>
            </a:extLst>
          </p:cNvPr>
          <p:cNvCxnSpPr>
            <a:cxnSpLocks/>
            <a:endCxn id="86" idx="7"/>
          </p:cNvCxnSpPr>
          <p:nvPr/>
        </p:nvCxnSpPr>
        <p:spPr>
          <a:xfrm flipH="1">
            <a:off x="4205187" y="2170889"/>
            <a:ext cx="938981" cy="966540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88" name="Picture 87" descr="A building with a blue line&#10;&#10;AI-generated content may be incorrect.">
            <a:extLst>
              <a:ext uri="{FF2B5EF4-FFF2-40B4-BE49-F238E27FC236}">
                <a16:creationId xmlns:a16="http://schemas.microsoft.com/office/drawing/2014/main" id="{0490F1EA-DC07-4920-DE22-4D7BAD4F779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6" y="5898803"/>
            <a:ext cx="4418050" cy="3178898"/>
          </a:xfrm>
          <a:prstGeom prst="rect">
            <a:avLst/>
          </a:prstGeom>
        </p:spPr>
      </p:pic>
      <p:cxnSp>
        <p:nvCxnSpPr>
          <p:cNvPr id="68" name="Google Shape;238;p6">
            <a:extLst>
              <a:ext uri="{FF2B5EF4-FFF2-40B4-BE49-F238E27FC236}">
                <a16:creationId xmlns:a16="http://schemas.microsoft.com/office/drawing/2014/main" id="{F140A8C6-1E68-7D23-C3BE-BBD3B6F0439C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2830017" y="6131699"/>
            <a:ext cx="2333514" cy="448046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14F60A-E743-1985-551C-DA1CE37BB4D1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DC (Rooftop) Cable Routing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973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6A0F-9B9A-3296-BD14-21BD620F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D86377B-A95D-06B6-35D9-500E1435AD0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A2D8815-194B-446D-D1B4-C10D9C1E9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7ACF6AD-DD05-47B4-D89B-D5D8D795BA5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5" name="Google Shape;272;p7">
            <a:extLst>
              <a:ext uri="{FF2B5EF4-FFF2-40B4-BE49-F238E27FC236}">
                <a16:creationId xmlns:a16="http://schemas.microsoft.com/office/drawing/2014/main" id="{981CD66A-EA7D-CBE7-FB9F-6C1D1F8BF543}"/>
              </a:ext>
            </a:extLst>
          </p:cNvPr>
          <p:cNvSpPr/>
          <p:nvPr/>
        </p:nvSpPr>
        <p:spPr>
          <a:xfrm>
            <a:off x="321806" y="1782239"/>
            <a:ext cx="4621411" cy="4618800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E6320C-50BF-D68E-24CA-44EAC189A4FD}"/>
              </a:ext>
            </a:extLst>
          </p:cNvPr>
          <p:cNvGrpSpPr/>
          <p:nvPr/>
        </p:nvGrpSpPr>
        <p:grpSpPr>
          <a:xfrm>
            <a:off x="462772" y="6612782"/>
            <a:ext cx="4339477" cy="246181"/>
            <a:chOff x="750821" y="6673445"/>
            <a:chExt cx="4339477" cy="2461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774E799-7983-6C52-F42C-E4DEFC132956}"/>
                </a:ext>
              </a:extLst>
            </p:cNvPr>
            <p:cNvGrpSpPr/>
            <p:nvPr/>
          </p:nvGrpSpPr>
          <p:grpSpPr>
            <a:xfrm>
              <a:off x="2000439" y="6673445"/>
              <a:ext cx="1207207" cy="246181"/>
              <a:chOff x="2957260" y="6673445"/>
              <a:chExt cx="1207207" cy="246181"/>
            </a:xfrm>
          </p:grpSpPr>
          <p:cxnSp>
            <p:nvCxnSpPr>
              <p:cNvPr id="15" name="Google Shape;261;p7">
                <a:extLst>
                  <a:ext uri="{FF2B5EF4-FFF2-40B4-BE49-F238E27FC236}">
                    <a16:creationId xmlns:a16="http://schemas.microsoft.com/office/drawing/2014/main" id="{D787A51E-A8BB-9F35-05F2-F8CEAA2D0B4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57260" y="67965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454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" name="Google Shape;262;p7">
                <a:extLst>
                  <a:ext uri="{FF2B5EF4-FFF2-40B4-BE49-F238E27FC236}">
                    <a16:creationId xmlns:a16="http://schemas.microsoft.com/office/drawing/2014/main" id="{97178B6B-FC29-FE21-2603-E131F620B505}"/>
                  </a:ext>
                </a:extLst>
              </p:cNvPr>
              <p:cNvSpPr txBox="1"/>
              <p:nvPr/>
            </p:nvSpPr>
            <p:spPr>
              <a:xfrm>
                <a:off x="3296922" y="6673445"/>
                <a:ext cx="867545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AC Cable</a:t>
                </a:r>
                <a:endParaRPr sz="1200">
                  <a:latin typeface="Work Sans" pitchFamily="2" charset="77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C696540-9EF1-4E48-6CB2-F20BB869F3EB}"/>
                </a:ext>
              </a:extLst>
            </p:cNvPr>
            <p:cNvGrpSpPr/>
            <p:nvPr/>
          </p:nvGrpSpPr>
          <p:grpSpPr>
            <a:xfrm>
              <a:off x="750821" y="6673445"/>
              <a:ext cx="1218628" cy="246181"/>
              <a:chOff x="750821" y="6673445"/>
              <a:chExt cx="1218628" cy="246181"/>
            </a:xfrm>
          </p:grpSpPr>
          <p:cxnSp>
            <p:nvCxnSpPr>
              <p:cNvPr id="13" name="Google Shape;263;p7">
                <a:extLst>
                  <a:ext uri="{FF2B5EF4-FFF2-40B4-BE49-F238E27FC236}">
                    <a16:creationId xmlns:a16="http://schemas.microsoft.com/office/drawing/2014/main" id="{E4A602E3-FD71-1479-372A-0EFF6E180A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50821" y="67965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84F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" name="Google Shape;264;p7">
                <a:extLst>
                  <a:ext uri="{FF2B5EF4-FFF2-40B4-BE49-F238E27FC236}">
                    <a16:creationId xmlns:a16="http://schemas.microsoft.com/office/drawing/2014/main" id="{BD03F8FF-E091-9A0E-2E51-6169CCBCD8A9}"/>
                  </a:ext>
                </a:extLst>
              </p:cNvPr>
              <p:cNvSpPr txBox="1"/>
              <p:nvPr/>
            </p:nvSpPr>
            <p:spPr>
              <a:xfrm>
                <a:off x="1092286" y="6673445"/>
                <a:ext cx="877163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 dirty="0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DC Cable</a:t>
                </a:r>
                <a:endParaRPr sz="1200" dirty="0">
                  <a:latin typeface="Work Sans" pitchFamily="2" charset="77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66DB9E-C2B1-DEC3-7B32-332B705A4345}"/>
                </a:ext>
              </a:extLst>
            </p:cNvPr>
            <p:cNvGrpSpPr/>
            <p:nvPr/>
          </p:nvGrpSpPr>
          <p:grpSpPr>
            <a:xfrm>
              <a:off x="3238636" y="6673445"/>
              <a:ext cx="1851662" cy="246181"/>
              <a:chOff x="3238636" y="6675145"/>
              <a:chExt cx="1851662" cy="246181"/>
            </a:xfrm>
          </p:grpSpPr>
          <p:cxnSp>
            <p:nvCxnSpPr>
              <p:cNvPr id="10" name="Google Shape;261;p7">
                <a:extLst>
                  <a:ext uri="{FF2B5EF4-FFF2-40B4-BE49-F238E27FC236}">
                    <a16:creationId xmlns:a16="http://schemas.microsoft.com/office/drawing/2014/main" id="{C154A6A0-113B-6044-78D1-4B0E0C03B90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238636" y="6798236"/>
                <a:ext cx="316296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</p:cxnSp>
          <p:sp>
            <p:nvSpPr>
              <p:cNvPr id="12" name="Google Shape;262;p7">
                <a:extLst>
                  <a:ext uri="{FF2B5EF4-FFF2-40B4-BE49-F238E27FC236}">
                    <a16:creationId xmlns:a16="http://schemas.microsoft.com/office/drawing/2014/main" id="{E6CE536F-F3B8-B05D-0490-A30C87467C40}"/>
                  </a:ext>
                </a:extLst>
              </p:cNvPr>
              <p:cNvSpPr txBox="1"/>
              <p:nvPr/>
            </p:nvSpPr>
            <p:spPr>
              <a:xfrm>
                <a:off x="3578298" y="6675145"/>
                <a:ext cx="1512000" cy="246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Work Sans Light"/>
                  <a:buNone/>
                </a:pPr>
                <a:r>
                  <a:rPr lang="en-US" sz="1000" u="none" strike="noStrike" cap="none">
                    <a:solidFill>
                      <a:srgbClr val="000000"/>
                    </a:solidFill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Concea</a:t>
                </a:r>
                <a:r>
                  <a:rPr lang="en-US" sz="1000">
                    <a:latin typeface="Work Sans" pitchFamily="2" charset="77"/>
                    <a:ea typeface="Work Sans Light"/>
                    <a:cs typeface="Work Sans Light"/>
                    <a:sym typeface="Work Sans Light"/>
                  </a:rPr>
                  <a:t>led Portion</a:t>
                </a:r>
                <a:endParaRPr sz="1200">
                  <a:latin typeface="Work Sans" pitchFamily="2" charset="77"/>
                </a:endParaRPr>
              </a:p>
            </p:txBody>
          </p:sp>
        </p:grpSp>
      </p:grpSp>
      <p:graphicFrame>
        <p:nvGraphicFramePr>
          <p:cNvPr id="28" name="Google Shape;259;p7">
            <a:extLst>
              <a:ext uri="{FF2B5EF4-FFF2-40B4-BE49-F238E27FC236}">
                <a16:creationId xmlns:a16="http://schemas.microsoft.com/office/drawing/2014/main" id="{AE3083AF-4E92-3BAD-22A4-77C08CF25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641520"/>
              </p:ext>
            </p:extLst>
          </p:nvPr>
        </p:nvGraphicFramePr>
        <p:xfrm>
          <a:off x="321806" y="7277581"/>
          <a:ext cx="6914029" cy="17753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14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00">
                <a:tc gridSpan="2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We recommend placing these components outside your home in a well-ventilated area, shaded and protected from the weather for several reasons:</a:t>
                      </a:r>
                      <a:endParaRPr sz="110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Heat Dissipation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Open spaces keep your inverter cooler for better performance and longer life.</a:t>
                      </a:r>
                      <a:endParaRPr sz="1100" dirty="0">
                        <a:latin typeface="Work Sans" pitchFamily="2" charset="7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000" b="0" i="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mpd="sng">
                      <a:noFill/>
                      <a:prstDash val="soli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Accessibility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Easier maintenance without disrupting the household.</a:t>
                      </a:r>
                      <a:endParaRPr sz="1100" dirty="0">
                        <a:latin typeface="Work Sans" pitchFamily="2" charset="7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00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b="1" i="0">
                          <a:latin typeface="Work Sans" pitchFamily="2" charset="77"/>
                          <a:ea typeface="Work Sans"/>
                          <a:cs typeface="Work Sans"/>
                          <a:sym typeface="Work Sans"/>
                        </a:rPr>
                        <a:t>Future-Proof</a:t>
                      </a:r>
                      <a:endParaRPr sz="1100">
                        <a:latin typeface="Work Sans" pitchFamily="2" charset="77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54C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Easily integrate an EV charger or batteries in the future.</a:t>
                      </a:r>
                      <a:endParaRPr sz="1000" b="0" i="0" dirty="0"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9" name="Picture 28" descr="A room with a toy and a toy stand&#10;&#10;AI-generated content may be incorrect.">
            <a:extLst>
              <a:ext uri="{FF2B5EF4-FFF2-40B4-BE49-F238E27FC236}">
                <a16:creationId xmlns:a16="http://schemas.microsoft.com/office/drawing/2014/main" id="{AC6E6226-8686-B498-F74D-EE7CE266CB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7710" y="1899287"/>
            <a:ext cx="4389602" cy="4384704"/>
          </a:xfrm>
          <a:prstGeom prst="rect">
            <a:avLst/>
          </a:prstGeom>
        </p:spPr>
      </p:pic>
      <p:graphicFrame>
        <p:nvGraphicFramePr>
          <p:cNvPr id="30" name="Google Shape;257;p7">
            <a:extLst>
              <a:ext uri="{FF2B5EF4-FFF2-40B4-BE49-F238E27FC236}">
                <a16:creationId xmlns:a16="http://schemas.microsoft.com/office/drawing/2014/main" id="{E1B7E23A-E668-2DEE-E023-4ACFD3536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4342855"/>
              </p:ext>
            </p:extLst>
          </p:nvPr>
        </p:nvGraphicFramePr>
        <p:xfrm>
          <a:off x="5274659" y="2678719"/>
          <a:ext cx="1961177" cy="155449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96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A ceiling opening will be made for the DC cable to come down from the rooftop, and for routing the AC cable from the PVDB to the home’s distribution box (DB).</a:t>
                      </a:r>
                      <a:endParaRPr b="0" i="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oogle Shape;258;p7">
            <a:extLst>
              <a:ext uri="{FF2B5EF4-FFF2-40B4-BE49-F238E27FC236}">
                <a16:creationId xmlns:a16="http://schemas.microsoft.com/office/drawing/2014/main" id="{0ACE3B6B-79C0-1829-255B-2D708D8B4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829741"/>
              </p:ext>
            </p:extLst>
          </p:nvPr>
        </p:nvGraphicFramePr>
        <p:xfrm>
          <a:off x="5274660" y="4789288"/>
          <a:ext cx="1961176" cy="64009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96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9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The AC cable will pass through the porch to the DB.</a:t>
                      </a:r>
                      <a:endParaRPr b="0" i="0" dirty="0"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Google Shape;265;p7">
            <a:extLst>
              <a:ext uri="{FF2B5EF4-FFF2-40B4-BE49-F238E27FC236}">
                <a16:creationId xmlns:a16="http://schemas.microsoft.com/office/drawing/2014/main" id="{9C628C0C-9722-059E-13C0-44D8A99BBBF5}"/>
              </a:ext>
            </a:extLst>
          </p:cNvPr>
          <p:cNvCxnSpPr>
            <a:cxnSpLocks/>
            <a:stCxn id="30" idx="1"/>
          </p:cNvCxnSpPr>
          <p:nvPr/>
        </p:nvCxnSpPr>
        <p:spPr bwMode="auto">
          <a:xfrm flipH="1" flipV="1">
            <a:off x="1237129" y="2474259"/>
            <a:ext cx="4037530" cy="98170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" name="Google Shape;266;p7">
            <a:extLst>
              <a:ext uri="{FF2B5EF4-FFF2-40B4-BE49-F238E27FC236}">
                <a16:creationId xmlns:a16="http://schemas.microsoft.com/office/drawing/2014/main" id="{C343627A-BD8E-67AC-5E81-D5C7662CCEB4}"/>
              </a:ext>
            </a:extLst>
          </p:cNvPr>
          <p:cNvCxnSpPr>
            <a:cxnSpLocks/>
            <a:stCxn id="31" idx="1"/>
          </p:cNvCxnSpPr>
          <p:nvPr/>
        </p:nvCxnSpPr>
        <p:spPr bwMode="auto">
          <a:xfrm flipH="1" flipV="1">
            <a:off x="3779837" y="2474259"/>
            <a:ext cx="1494823" cy="263507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50C66D-20BD-AB26-0872-68FEA7EE37ED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Inverter &amp; PVDB Location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8451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9323-2A5D-5F90-CFE3-94DB2F00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oom with a couch and a clock&#10;&#10;AI-generated content may be incorrect.">
            <a:extLst>
              <a:ext uri="{FF2B5EF4-FFF2-40B4-BE49-F238E27FC236}">
                <a16:creationId xmlns:a16="http://schemas.microsoft.com/office/drawing/2014/main" id="{2F244201-650C-2226-F0E7-CBD9085E3B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5" y="5908822"/>
            <a:ext cx="4418050" cy="3168879"/>
          </a:xfrm>
          <a:prstGeom prst="rect">
            <a:avLst/>
          </a:prstGeom>
        </p:spPr>
      </p:pic>
      <p:pic>
        <p:nvPicPr>
          <p:cNvPr id="4" name="Picture 3" descr="A room with a toy and a toy stand&#10;&#10;AI-generated content may be incorrect.">
            <a:extLst>
              <a:ext uri="{FF2B5EF4-FFF2-40B4-BE49-F238E27FC236}">
                <a16:creationId xmlns:a16="http://schemas.microsoft.com/office/drawing/2014/main" id="{49F3D62D-E2C1-F529-FF73-1B68B00D64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3485" y="1875403"/>
            <a:ext cx="4418050" cy="3182400"/>
          </a:xfrm>
          <a:prstGeom prst="rect">
            <a:avLst/>
          </a:prstGeom>
        </p:spPr>
      </p:pic>
      <p:graphicFrame>
        <p:nvGraphicFramePr>
          <p:cNvPr id="54" name="Google Shape;237;p6">
            <a:extLst>
              <a:ext uri="{FF2B5EF4-FFF2-40B4-BE49-F238E27FC236}">
                <a16:creationId xmlns:a16="http://schemas.microsoft.com/office/drawing/2014/main" id="{243A829B-3001-E5CF-FA45-479D7F519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186693"/>
              </p:ext>
            </p:extLst>
          </p:nvPr>
        </p:nvGraphicFramePr>
        <p:xfrm>
          <a:off x="5144167" y="1759409"/>
          <a:ext cx="2091670" cy="10058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9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AC cables are routed from the PVDB to the home’s DB, concealed within the plaster ceiling of the porch.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Google Shape;246;p6">
            <a:extLst>
              <a:ext uri="{FF2B5EF4-FFF2-40B4-BE49-F238E27FC236}">
                <a16:creationId xmlns:a16="http://schemas.microsoft.com/office/drawing/2014/main" id="{DBE1F3D6-A676-7E17-2866-36D576FC98BA}"/>
              </a:ext>
            </a:extLst>
          </p:cNvPr>
          <p:cNvSpPr/>
          <p:nvPr/>
        </p:nvSpPr>
        <p:spPr>
          <a:xfrm>
            <a:off x="321806" y="1787985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47;p6">
            <a:extLst>
              <a:ext uri="{FF2B5EF4-FFF2-40B4-BE49-F238E27FC236}">
                <a16:creationId xmlns:a16="http://schemas.microsoft.com/office/drawing/2014/main" id="{85F8C4B0-5D98-027D-03FF-14B7AC5071DE}"/>
              </a:ext>
            </a:extLst>
          </p:cNvPr>
          <p:cNvSpPr/>
          <p:nvPr/>
        </p:nvSpPr>
        <p:spPr>
          <a:xfrm>
            <a:off x="321806" y="5809634"/>
            <a:ext cx="4621411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245;p6">
            <a:extLst>
              <a:ext uri="{FF2B5EF4-FFF2-40B4-BE49-F238E27FC236}">
                <a16:creationId xmlns:a16="http://schemas.microsoft.com/office/drawing/2014/main" id="{A45B8BDD-584B-10E7-BBA1-FD7D9AEFC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6051759"/>
              </p:ext>
            </p:extLst>
          </p:nvPr>
        </p:nvGraphicFramePr>
        <p:xfrm>
          <a:off x="5163531" y="5720214"/>
          <a:ext cx="2072305" cy="118873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7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Work Sans Light"/>
                        <a:buNone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  <a:ea typeface="Work Sans Light"/>
                          <a:cs typeface="Work Sans Light"/>
                        </a:rPr>
                        <a:t>A small ceiling opening will be made above the DB for AC cables to come down from ceiling and connect to the DB at the living hall.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1AD81961-CFE2-550D-4B13-50CCDE96FD5E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9A16FC3-D5EF-8199-46D4-664CA80BB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28F3654-E034-D3FC-C6B6-C8B7CB53E4EE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cxnSp>
        <p:nvCxnSpPr>
          <p:cNvPr id="63" name="Google Shape;238;p6">
            <a:extLst>
              <a:ext uri="{FF2B5EF4-FFF2-40B4-BE49-F238E27FC236}">
                <a16:creationId xmlns:a16="http://schemas.microsoft.com/office/drawing/2014/main" id="{0A1C5339-E2B0-2849-B288-DAD33E1E18F9}"/>
              </a:ext>
            </a:extLst>
          </p:cNvPr>
          <p:cNvCxnSpPr>
            <a:cxnSpLocks/>
          </p:cNvCxnSpPr>
          <p:nvPr/>
        </p:nvCxnSpPr>
        <p:spPr>
          <a:xfrm flipH="1">
            <a:off x="4729163" y="2028825"/>
            <a:ext cx="415004" cy="214313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" name="Google Shape;238;p6">
            <a:extLst>
              <a:ext uri="{FF2B5EF4-FFF2-40B4-BE49-F238E27FC236}">
                <a16:creationId xmlns:a16="http://schemas.microsoft.com/office/drawing/2014/main" id="{A5514E4B-437B-909A-D215-B5306F151339}"/>
              </a:ext>
            </a:extLst>
          </p:cNvPr>
          <p:cNvCxnSpPr>
            <a:cxnSpLocks/>
            <a:stCxn id="67" idx="1"/>
          </p:cNvCxnSpPr>
          <p:nvPr/>
        </p:nvCxnSpPr>
        <p:spPr>
          <a:xfrm flipH="1">
            <a:off x="2657475" y="6314579"/>
            <a:ext cx="2506056" cy="594365"/>
          </a:xfrm>
          <a:prstGeom prst="straightConnector1">
            <a:avLst/>
          </a:prstGeom>
          <a:noFill/>
          <a:ln w="28575" cap="flat" cmpd="sng">
            <a:solidFill>
              <a:sysClr val="windowText" lastClr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7F9487-82BE-3310-3A1D-07D77196B442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AC Cable Routing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872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A524-4AA2-99BF-E9B9-B6140280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348095F-3CE4-4F1B-726D-AEDA0D5E39CF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A7CDF9-C388-92D4-CD52-8A1AD80F2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323F61-3C8D-AA97-B995-99994BC2F024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2" name="Google Shape;215;p5">
            <a:extLst>
              <a:ext uri="{FF2B5EF4-FFF2-40B4-BE49-F238E27FC236}">
                <a16:creationId xmlns:a16="http://schemas.microsoft.com/office/drawing/2014/main" id="{1FCE82F9-55DF-E4D7-BC9A-B61374DE3434}"/>
              </a:ext>
            </a:extLst>
          </p:cNvPr>
          <p:cNvSpPr txBox="1"/>
          <p:nvPr/>
        </p:nvSpPr>
        <p:spPr>
          <a:xfrm>
            <a:off x="323837" y="1292659"/>
            <a:ext cx="6912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The area highlighted is designated for the </a:t>
            </a:r>
            <a:r>
              <a:rPr lang="en-US" sz="1200" kern="0" dirty="0" err="1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skylift</a:t>
            </a: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.</a:t>
            </a:r>
            <a:endParaRPr lang="en-US" sz="1400" kern="0" dirty="0">
              <a:solidFill>
                <a:srgbClr val="000000"/>
              </a:solidFill>
              <a:latin typeface="Work Sans" pitchFamily="2" charset="77"/>
              <a:cs typeface="Arial"/>
            </a:endParaRPr>
          </a:p>
        </p:txBody>
      </p:sp>
      <p:sp>
        <p:nvSpPr>
          <p:cNvPr id="7" name="Google Shape;226;p5">
            <a:extLst>
              <a:ext uri="{FF2B5EF4-FFF2-40B4-BE49-F238E27FC236}">
                <a16:creationId xmlns:a16="http://schemas.microsoft.com/office/drawing/2014/main" id="{FD9A2EE7-8956-A7AF-AD74-E3B8E889B01D}"/>
              </a:ext>
            </a:extLst>
          </p:cNvPr>
          <p:cNvSpPr/>
          <p:nvPr/>
        </p:nvSpPr>
        <p:spPr>
          <a:xfrm>
            <a:off x="321806" y="1740970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7;p5">
            <a:extLst>
              <a:ext uri="{FF2B5EF4-FFF2-40B4-BE49-F238E27FC236}">
                <a16:creationId xmlns:a16="http://schemas.microsoft.com/office/drawing/2014/main" id="{984B6514-5593-D6FA-E94F-BE4A39DA9D7E}"/>
              </a:ext>
            </a:extLst>
          </p:cNvPr>
          <p:cNvSpPr/>
          <p:nvPr/>
        </p:nvSpPr>
        <p:spPr>
          <a:xfrm>
            <a:off x="321806" y="5810161"/>
            <a:ext cx="6912000" cy="3357236"/>
          </a:xfrm>
          <a:prstGeom prst="rect">
            <a:avLst/>
          </a:prstGeom>
          <a:noFill/>
          <a:ln w="19050" cap="flat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B11FA71F-1309-9B84-F97E-7D86DF1B3F94}"/>
              </a:ext>
            </a:extLst>
          </p:cNvPr>
          <p:cNvSpPr txBox="1"/>
          <p:nvPr/>
        </p:nvSpPr>
        <p:spPr>
          <a:xfrm>
            <a:off x="321806" y="5361851"/>
            <a:ext cx="6912000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Work Sans" pitchFamily="2" charset="77"/>
                <a:ea typeface="Work Sans Light"/>
                <a:cs typeface="Work Sans Light"/>
              </a:rPr>
              <a:t>The solar system materials will be placed at the location marked below during installation.</a:t>
            </a:r>
            <a:endParaRPr lang="en-US" sz="1200" kern="0" dirty="0">
              <a:solidFill>
                <a:srgbClr val="000000"/>
              </a:solidFill>
              <a:latin typeface="Work Sans" pitchFamily="2" charset="77"/>
              <a:cs typeface="Arial"/>
            </a:endParaRPr>
          </a:p>
        </p:txBody>
      </p:sp>
      <p:pic>
        <p:nvPicPr>
          <p:cNvPr id="10" name="Picture 9" descr="A bird's eye view of a house&#10;&#10;AI-generated content may be incorrect.">
            <a:extLst>
              <a:ext uri="{FF2B5EF4-FFF2-40B4-BE49-F238E27FC236}">
                <a16:creationId xmlns:a16="http://schemas.microsoft.com/office/drawing/2014/main" id="{0AD34A98-EFBF-270B-18CC-04CE4DC60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3962" y="1850080"/>
            <a:ext cx="6707687" cy="3139016"/>
          </a:xfrm>
          <a:prstGeom prst="rect">
            <a:avLst/>
          </a:prstGeom>
        </p:spPr>
      </p:pic>
      <p:pic>
        <p:nvPicPr>
          <p:cNvPr id="11" name="Picture 10" descr="A basketball hoop and a bike in a room&#10;&#10;AI-generated content may be incorrect.">
            <a:extLst>
              <a:ext uri="{FF2B5EF4-FFF2-40B4-BE49-F238E27FC236}">
                <a16:creationId xmlns:a16="http://schemas.microsoft.com/office/drawing/2014/main" id="{EDBEE645-1546-EE3B-0565-C813CEA749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81253" y="5909531"/>
            <a:ext cx="3193104" cy="3158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38B6BE-EA93-E440-F4B6-31E4E9047432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Work Area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8072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05C8-900B-42F3-D5EE-52A9632A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89EC946-FCB0-D39D-1E8C-96CFD41F15EB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7ED55C3-7E13-14CC-5325-DA598887E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939689A-54E6-69CA-3675-C10E94C833E6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5139BF-9800-575C-97FB-8363B5F4EB00}"/>
              </a:ext>
            </a:extLst>
          </p:cNvPr>
          <p:cNvGrpSpPr/>
          <p:nvPr/>
        </p:nvGrpSpPr>
        <p:grpSpPr>
          <a:xfrm>
            <a:off x="321806" y="4520980"/>
            <a:ext cx="6912000" cy="2340000"/>
            <a:chOff x="321806" y="4454577"/>
            <a:chExt cx="6912000" cy="2340000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8B4EC16C-F990-2C35-C5EE-E124A0D2A176}"/>
                </a:ext>
              </a:extLst>
            </p:cNvPr>
            <p:cNvSpPr/>
            <p:nvPr/>
          </p:nvSpPr>
          <p:spPr>
            <a:xfrm>
              <a:off x="321806" y="4454577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140392-C697-3AE2-12DE-64FE184AA5B9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4985188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EA63C7"/>
              </a:solidFill>
              <a:prstDash val="solid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B56AC4-ADB5-484D-9125-AF8388103826}"/>
                </a:ext>
              </a:extLst>
            </p:cNvPr>
            <p:cNvSpPr txBox="1"/>
            <p:nvPr/>
          </p:nvSpPr>
          <p:spPr>
            <a:xfrm>
              <a:off x="5733098" y="5461172"/>
              <a:ext cx="93600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1 Unit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151CF95-5B94-233E-80AF-3AA27912BC98}"/>
                </a:ext>
              </a:extLst>
            </p:cNvPr>
            <p:cNvGrpSpPr/>
            <p:nvPr/>
          </p:nvGrpSpPr>
          <p:grpSpPr>
            <a:xfrm>
              <a:off x="775545" y="4926208"/>
              <a:ext cx="4891134" cy="1346926"/>
              <a:chOff x="775545" y="4926208"/>
              <a:chExt cx="4891134" cy="134692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D4C8A8-030A-9ADF-DCB1-32AF7AB74B46}"/>
                  </a:ext>
                </a:extLst>
              </p:cNvPr>
              <p:cNvSpPr txBox="1"/>
              <p:nvPr/>
            </p:nvSpPr>
            <p:spPr>
              <a:xfrm>
                <a:off x="2004449" y="4968729"/>
                <a:ext cx="3662230" cy="126188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Future-Ready Inverter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Huawei SUN 2000 [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Product Specs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]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High Efficiency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Smart AI Monitoring &amp; Diagnostics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Phase Allocation Optimisation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EV &amp; Dynamic Load Charging Capability</a:t>
                </a:r>
              </a:p>
            </p:txBody>
          </p:sp>
          <p:pic>
            <p:nvPicPr>
              <p:cNvPr id="34" name="Picture 33" descr="A white inverter with grey cables&#10;&#10;AI-generated content may be incorrect.">
                <a:extLst>
                  <a:ext uri="{FF2B5EF4-FFF2-40B4-BE49-F238E27FC236}">
                    <a16:creationId xmlns:a16="http://schemas.microsoft.com/office/drawing/2014/main" id="{E3C5340E-27FC-48B3-6B73-3A6707B77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75545" y="4926208"/>
                <a:ext cx="1090513" cy="1346926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9602831-61DE-54B8-C164-3D6FA2795061}"/>
              </a:ext>
            </a:extLst>
          </p:cNvPr>
          <p:cNvGrpSpPr/>
          <p:nvPr/>
        </p:nvGrpSpPr>
        <p:grpSpPr>
          <a:xfrm>
            <a:off x="321806" y="1604997"/>
            <a:ext cx="6912000" cy="2340000"/>
            <a:chOff x="321806" y="1743659"/>
            <a:chExt cx="6912000" cy="2340000"/>
          </a:xfrm>
        </p:grpSpPr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D0C673DF-65ED-0C65-E121-1DC4482C2A0A}"/>
                </a:ext>
              </a:extLst>
            </p:cNvPr>
            <p:cNvSpPr/>
            <p:nvPr/>
          </p:nvSpPr>
          <p:spPr>
            <a:xfrm>
              <a:off x="321806" y="1743659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9AD879-2889-D41E-19A8-28CB4D0BC775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2274270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EA63C7"/>
              </a:solidFill>
              <a:prstDash val="solid"/>
            </a:ln>
            <a:effectLst/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A4E248-BE8D-832D-CECD-F2F882151D77}"/>
                </a:ext>
              </a:extLst>
            </p:cNvPr>
            <p:cNvGrpSpPr/>
            <p:nvPr/>
          </p:nvGrpSpPr>
          <p:grpSpPr>
            <a:xfrm>
              <a:off x="772040" y="2094421"/>
              <a:ext cx="4877378" cy="1638476"/>
              <a:chOff x="772040" y="1822955"/>
              <a:chExt cx="4877378" cy="1638476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86A31DF-32DE-13D4-BB5A-29AC7F5B812A}"/>
                  </a:ext>
                </a:extLst>
              </p:cNvPr>
              <p:cNvSpPr txBox="1"/>
              <p:nvPr/>
            </p:nvSpPr>
            <p:spPr>
              <a:xfrm>
                <a:off x="1987188" y="2103584"/>
                <a:ext cx="3662230" cy="107721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High-Performance Solar Panels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Aiko </a:t>
                </a: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Neostar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 2S [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Product Specs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]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Latest N-Type ABC Panels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Highest yield per sq. feet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Built for tropical heat</a:t>
                </a: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49DCE1F8-E42F-7A96-AC58-1A63E3F6F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72040" y="1822955"/>
                <a:ext cx="1063001" cy="1638476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0CB1EC-71AB-C905-3FE8-274FFCD4D460}"/>
              </a:ext>
            </a:extLst>
          </p:cNvPr>
          <p:cNvGrpSpPr/>
          <p:nvPr/>
        </p:nvGrpSpPr>
        <p:grpSpPr>
          <a:xfrm>
            <a:off x="321806" y="7436962"/>
            <a:ext cx="6912000" cy="2340000"/>
            <a:chOff x="321806" y="7436962"/>
            <a:chExt cx="6912000" cy="2340000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84AF898-5BA3-93DD-3DC9-C6B55E4FE224}"/>
                </a:ext>
              </a:extLst>
            </p:cNvPr>
            <p:cNvSpPr/>
            <p:nvPr/>
          </p:nvSpPr>
          <p:spPr>
            <a:xfrm>
              <a:off x="321806" y="7436962"/>
              <a:ext cx="6912000" cy="2340000"/>
            </a:xfrm>
            <a:prstGeom prst="rect">
              <a:avLst/>
            </a:prstGeom>
            <a:noFill/>
            <a:ln w="19050" cap="rnd">
              <a:solidFill>
                <a:srgbClr val="F454CD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/>
                <a:sym typeface="Arial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39A7573-60E0-B668-BDB5-F62A3FE8484C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74" y="7967573"/>
              <a:ext cx="3487" cy="1278778"/>
            </a:xfrm>
            <a:prstGeom prst="line">
              <a:avLst/>
            </a:prstGeom>
            <a:noFill/>
            <a:ln w="9525" cap="flat" cmpd="sng" algn="ctr">
              <a:solidFill>
                <a:srgbClr val="F454CD"/>
              </a:solidFill>
              <a:prstDash val="solid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3B54C6-D815-188E-4E51-7B793FB3DDDA}"/>
                </a:ext>
              </a:extLst>
            </p:cNvPr>
            <p:cNvSpPr txBox="1"/>
            <p:nvPr/>
          </p:nvSpPr>
          <p:spPr>
            <a:xfrm>
              <a:off x="5733098" y="8468463"/>
              <a:ext cx="93600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rPr>
                <a:t>1 Set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FED68C-85E0-F77A-C773-CE6D71024103}"/>
                </a:ext>
              </a:extLst>
            </p:cNvPr>
            <p:cNvGrpSpPr/>
            <p:nvPr/>
          </p:nvGrpSpPr>
          <p:grpSpPr>
            <a:xfrm>
              <a:off x="789302" y="8160686"/>
              <a:ext cx="4876347" cy="892552"/>
              <a:chOff x="789302" y="8160686"/>
              <a:chExt cx="4876347" cy="89255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80299A-5588-AE59-CD65-37EEE8932D31}"/>
                  </a:ext>
                </a:extLst>
              </p:cNvPr>
              <p:cNvSpPr txBox="1"/>
              <p:nvPr/>
            </p:nvSpPr>
            <p:spPr>
              <a:xfrm>
                <a:off x="2004449" y="8160686"/>
                <a:ext cx="3661200" cy="8925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Other Components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Certified AC, DC and Earth cables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Panel Mounting Rails &amp; Brackets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454CD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MC4, Cable Crimping, &amp; Cable </a:t>
                </a: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Work Sans" pitchFamily="2" charset="77"/>
                    <a:cs typeface="Arial"/>
                    <a:sym typeface="Arial"/>
                  </a:rPr>
                  <a:t>Trunking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ork Sans" pitchFamily="2" charset="77"/>
                  <a:cs typeface="Arial"/>
                  <a:sym typeface="Arial"/>
                </a:endParaRP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9F948960-DE8B-43FF-964E-2D43F574E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89302" y="8231535"/>
                <a:ext cx="1129419" cy="750855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CDD8367-AC12-AAEC-1417-F8A746532150}"/>
              </a:ext>
            </a:extLst>
          </p:cNvPr>
          <p:cNvSpPr txBox="1"/>
          <p:nvPr/>
        </p:nvSpPr>
        <p:spPr>
          <a:xfrm>
            <a:off x="323837" y="405855"/>
            <a:ext cx="691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System Components</a:t>
            </a:r>
            <a:endParaRPr lang="en-US" sz="1200" dirty="0">
              <a:solidFill>
                <a:prstClr val="black"/>
              </a:solidFill>
              <a:latin typeface="Work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34B89-930A-787E-A61B-CF8E799919B7}"/>
              </a:ext>
            </a:extLst>
          </p:cNvPr>
          <p:cNvSpPr txBox="1"/>
          <p:nvPr/>
        </p:nvSpPr>
        <p:spPr>
          <a:xfrm>
            <a:off x="5733098" y="2637653"/>
            <a:ext cx="12918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Work Sans" pitchFamily="2" charset="77"/>
                <a:cs typeface="Arial"/>
                <a:sym typeface="Arial"/>
              </a:rPr>
              <a:t>    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cs typeface="Arial"/>
                <a:sym typeface="Arial"/>
              </a:rPr>
              <a:t> Panels​</a:t>
            </a:r>
          </a:p>
        </p:txBody>
      </p:sp>
      <p:sp>
        <p:nvSpPr>
          <p:cNvPr id="10" name="panel_size">
            <a:extLst>
              <a:ext uri="{FF2B5EF4-FFF2-40B4-BE49-F238E27FC236}">
                <a16:creationId xmlns:a16="http://schemas.microsoft.com/office/drawing/2014/main" id="{90835270-8B77-232E-E163-CD6BB4C2DCE0}"/>
              </a:ext>
            </a:extLst>
          </p:cNvPr>
          <p:cNvSpPr txBox="1"/>
          <p:nvPr/>
        </p:nvSpPr>
        <p:spPr>
          <a:xfrm>
            <a:off x="5679330" y="2640851"/>
            <a:ext cx="936000" cy="2746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>
                <a:solidFill>
                  <a:prstClr val="black"/>
                </a:solidFill>
                <a:latin typeface="Work Sans" pitchFamily="2" charset="77"/>
                <a:cs typeface="Arial"/>
                <a:sym typeface="Arial"/>
              </a:rPr>
              <a:t>32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0333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07DD8-E83F-625F-B289-8242E7B1542C}"/>
              </a:ext>
            </a:extLst>
          </p:cNvPr>
          <p:cNvSpPr/>
          <p:nvPr/>
        </p:nvSpPr>
        <p:spPr>
          <a:xfrm>
            <a:off x="-325" y="8041707"/>
            <a:ext cx="7560000" cy="2168329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147E6-21EA-93ED-F57E-46FA89FEE801}"/>
              </a:ext>
            </a:extLst>
          </p:cNvPr>
          <p:cNvSpPr txBox="1"/>
          <p:nvPr/>
        </p:nvSpPr>
        <p:spPr>
          <a:xfrm>
            <a:off x="305837" y="8125597"/>
            <a:ext cx="6948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  <a:t>See Why Homeowners Choose Emit Solar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Work Sans" pitchFamily="2" charset="77"/>
                <a:ea typeface="+mn-ea"/>
                <a:cs typeface="+mn-cs"/>
              </a:rPr>
              <a:t>Comprehensive protection, ongoing support, flexible upgrades, and proven customer trust.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97576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3E4A-1A05-1771-5442-7E7A182F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719C5C31-0B73-C532-BC01-4100AEAFFD7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D883288-A034-4BCF-0390-42B8AC935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DDB008E-1180-3BEF-B9BC-D4BCA1B2008A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graphicFrame>
        <p:nvGraphicFramePr>
          <p:cNvPr id="21" name="Google Shape;179;p3">
            <a:extLst>
              <a:ext uri="{FF2B5EF4-FFF2-40B4-BE49-F238E27FC236}">
                <a16:creationId xmlns:a16="http://schemas.microsoft.com/office/drawing/2014/main" id="{87BCE32C-ECB4-7D78-C917-ED0EAF62EB8E}"/>
              </a:ext>
            </a:extLst>
          </p:cNvPr>
          <p:cNvGraphicFramePr/>
          <p:nvPr/>
        </p:nvGraphicFramePr>
        <p:xfrm>
          <a:off x="323837" y="1483080"/>
          <a:ext cx="6912000" cy="3157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Coverage Area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Manufacturer</a:t>
                      </a:r>
                      <a:endParaRPr lang="en-US"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"/>
                          <a:cs typeface="Work Sans"/>
                        </a:rPr>
                        <a:t>Emit Solar</a:t>
                      </a:r>
                      <a:endParaRPr sz="1600" b="1" i="0" dirty="0">
                        <a:solidFill>
                          <a:schemeClr val="tx1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Covered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Components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Complete System &amp; Workmanship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 Workmanship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7665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System-Level Issues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19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Labour &amp; Transport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447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Warranty Claim &amp; Handling</a:t>
                      </a:r>
                      <a:endParaRPr kumimoji="0" lang="en-US" sz="12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109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sym typeface="Arial"/>
                        </a:rPr>
                        <a:t>Monitoring &amp; Support</a:t>
                      </a:r>
                      <a:endParaRPr kumimoji="0" lang="en-US" sz="12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Work Sans" pitchFamily="2" charset="77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339683"/>
                  </a:ext>
                </a:extLst>
              </a:tr>
            </a:tbl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D74FFBE2-85A8-374A-5EC0-BDDE53C9F6B0}"/>
              </a:ext>
            </a:extLst>
          </p:cNvPr>
          <p:cNvSpPr>
            <a:spLocks noChangeAspect="1"/>
          </p:cNvSpPr>
          <p:nvPr/>
        </p:nvSpPr>
        <p:spPr>
          <a:xfrm>
            <a:off x="5942362" y="2553622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D295D-126D-7A3A-948E-3103052AE86A}"/>
              </a:ext>
            </a:extLst>
          </p:cNvPr>
          <p:cNvSpPr>
            <a:spLocks noChangeAspect="1"/>
          </p:cNvSpPr>
          <p:nvPr/>
        </p:nvSpPr>
        <p:spPr>
          <a:xfrm>
            <a:off x="5942362" y="2986604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8A673C-FF8E-7659-B9EE-64281F5BD345}"/>
              </a:ext>
            </a:extLst>
          </p:cNvPr>
          <p:cNvSpPr>
            <a:spLocks noChangeAspect="1"/>
          </p:cNvSpPr>
          <p:nvPr/>
        </p:nvSpPr>
        <p:spPr>
          <a:xfrm>
            <a:off x="5942362" y="342140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1DF7C3-2809-66FF-87C2-F575189DA740}"/>
              </a:ext>
            </a:extLst>
          </p:cNvPr>
          <p:cNvSpPr>
            <a:spLocks noChangeAspect="1"/>
          </p:cNvSpPr>
          <p:nvPr/>
        </p:nvSpPr>
        <p:spPr>
          <a:xfrm>
            <a:off x="5942362" y="385459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CEFE313-5557-66DE-502A-E69000B6C3AA}"/>
              </a:ext>
            </a:extLst>
          </p:cNvPr>
          <p:cNvSpPr>
            <a:spLocks noChangeAspect="1"/>
          </p:cNvSpPr>
          <p:nvPr/>
        </p:nvSpPr>
        <p:spPr>
          <a:xfrm>
            <a:off x="5942362" y="4287786"/>
            <a:ext cx="288000" cy="288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√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E6B00B9-198D-DD11-7918-F491CF6519C7}"/>
              </a:ext>
            </a:extLst>
          </p:cNvPr>
          <p:cNvSpPr>
            <a:spLocks noChangeAspect="1"/>
          </p:cNvSpPr>
          <p:nvPr/>
        </p:nvSpPr>
        <p:spPr>
          <a:xfrm>
            <a:off x="3637868" y="2553622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933E4B-DFEE-724A-0814-91447AD8B141}"/>
              </a:ext>
            </a:extLst>
          </p:cNvPr>
          <p:cNvSpPr>
            <a:spLocks noChangeAspect="1"/>
          </p:cNvSpPr>
          <p:nvPr/>
        </p:nvSpPr>
        <p:spPr>
          <a:xfrm>
            <a:off x="3637868" y="2986604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FAA8527-7315-0926-B011-C9D25374D132}"/>
              </a:ext>
            </a:extLst>
          </p:cNvPr>
          <p:cNvSpPr>
            <a:spLocks noChangeAspect="1"/>
          </p:cNvSpPr>
          <p:nvPr/>
        </p:nvSpPr>
        <p:spPr>
          <a:xfrm>
            <a:off x="3637868" y="342140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04C57B-A73F-2815-7A53-DB6A845AE8A5}"/>
              </a:ext>
            </a:extLst>
          </p:cNvPr>
          <p:cNvSpPr>
            <a:spLocks noChangeAspect="1"/>
          </p:cNvSpPr>
          <p:nvPr/>
        </p:nvSpPr>
        <p:spPr>
          <a:xfrm>
            <a:off x="3637868" y="385459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2FE4315-6663-B5AF-7036-C883EACAC50D}"/>
              </a:ext>
            </a:extLst>
          </p:cNvPr>
          <p:cNvSpPr>
            <a:spLocks noChangeAspect="1"/>
          </p:cNvSpPr>
          <p:nvPr/>
        </p:nvSpPr>
        <p:spPr>
          <a:xfrm>
            <a:off x="3637868" y="4287786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Work Sans" pitchFamily="2" charset="77"/>
              </a:rPr>
              <a:t>X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A380AA8-4BC0-DE56-4523-FD3A4CB5F429}"/>
              </a:ext>
            </a:extLst>
          </p:cNvPr>
          <p:cNvGrpSpPr/>
          <p:nvPr/>
        </p:nvGrpSpPr>
        <p:grpSpPr>
          <a:xfrm>
            <a:off x="321806" y="4948074"/>
            <a:ext cx="6916062" cy="1635478"/>
            <a:chOff x="321806" y="5369278"/>
            <a:chExt cx="6916062" cy="163547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91B4231-3CED-8EA2-85AB-B67D368B25BD}"/>
                </a:ext>
              </a:extLst>
            </p:cNvPr>
            <p:cNvSpPr txBox="1"/>
            <p:nvPr/>
          </p:nvSpPr>
          <p:spPr>
            <a:xfrm>
              <a:off x="321806" y="5369278"/>
              <a:ext cx="37840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dirty="0">
                  <a:solidFill>
                    <a:srgbClr val="F454CD"/>
                  </a:solidFill>
                  <a:latin typeface="Work Sans" pitchFamily="2" charset="77"/>
                </a:rPr>
                <a:t>Manufacturer Warranties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68AFB4C-3AE8-D411-E522-04DB15703CB0}"/>
                </a:ext>
              </a:extLst>
            </p:cNvPr>
            <p:cNvGrpSpPr/>
            <p:nvPr/>
          </p:nvGrpSpPr>
          <p:grpSpPr>
            <a:xfrm>
              <a:off x="321806" y="5798572"/>
              <a:ext cx="6916062" cy="900000"/>
              <a:chOff x="321806" y="5810294"/>
              <a:chExt cx="6916062" cy="90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0B52C67-C8FE-A0F9-6854-4594C0EFC71E}"/>
                  </a:ext>
                </a:extLst>
              </p:cNvPr>
              <p:cNvSpPr/>
              <p:nvPr/>
            </p:nvSpPr>
            <p:spPr>
              <a:xfrm>
                <a:off x="3867768" y="5810294"/>
                <a:ext cx="3370100" cy="900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Inverter</a:t>
                </a:r>
              </a:p>
              <a:p>
                <a:pPr>
                  <a:buClr>
                    <a:srgbClr val="F454CD"/>
                  </a:buClr>
                </a:pPr>
                <a:endParaRPr lang="en-US" sz="300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Product Warranty: 10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endParaRPr lang="en-US" sz="1000" dirty="0">
                  <a:solidFill>
                    <a:schemeClr val="tx1"/>
                  </a:solidFill>
                  <a:latin typeface="Work Sans" pitchFamily="2" charset="77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BE6A7E4-C1FB-3809-ADD4-063E77C3B232}"/>
                  </a:ext>
                </a:extLst>
              </p:cNvPr>
              <p:cNvSpPr/>
              <p:nvPr/>
            </p:nvSpPr>
            <p:spPr>
              <a:xfrm>
                <a:off x="321806" y="5810294"/>
                <a:ext cx="3370100" cy="900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Solar Panels</a:t>
                </a: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Product Warranty: 25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Performance Warranty: 30 Years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4FEE34-93AD-F9AD-CA3C-38B85717C9D1}"/>
                </a:ext>
              </a:extLst>
            </p:cNvPr>
            <p:cNvSpPr txBox="1"/>
            <p:nvPr/>
          </p:nvSpPr>
          <p:spPr>
            <a:xfrm>
              <a:off x="321806" y="6789312"/>
              <a:ext cx="69160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fontAlgn="base">
                <a:buClr>
                  <a:srgbClr val="000000"/>
                </a:buClr>
                <a:defRPr/>
              </a:pPr>
              <a:r>
                <a:rPr lang="en-MY" sz="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  <a:sym typeface="Arial"/>
                </a:rPr>
                <a:t>Product Warranties cover product defect while the Performance Warranty cover panel output over the long term. </a:t>
              </a:r>
              <a:endPara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  <a:sym typeface="Arial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749CB6B-662F-56F0-576C-5776AE975C5C}"/>
              </a:ext>
            </a:extLst>
          </p:cNvPr>
          <p:cNvGrpSpPr/>
          <p:nvPr/>
        </p:nvGrpSpPr>
        <p:grpSpPr>
          <a:xfrm>
            <a:off x="321806" y="6891335"/>
            <a:ext cx="6916064" cy="3150018"/>
            <a:chOff x="321806" y="6929541"/>
            <a:chExt cx="6916064" cy="315001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B353E62-D05A-F363-4B5A-02EBA2E6118D}"/>
                </a:ext>
              </a:extLst>
            </p:cNvPr>
            <p:cNvSpPr txBox="1"/>
            <p:nvPr/>
          </p:nvSpPr>
          <p:spPr>
            <a:xfrm>
              <a:off x="321806" y="9864115"/>
              <a:ext cx="691606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fontAlgn="base">
                <a:buClr>
                  <a:srgbClr val="000000"/>
                </a:buClr>
                <a:defRPr/>
              </a:pPr>
              <a:r>
                <a:rPr lang="en-MY" sz="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  <a:sym typeface="Arial"/>
                </a:rPr>
                <a:t>Emit Solar Warranties commence from activation date. Terms &amp; Conditions apply.</a:t>
              </a:r>
              <a:endPara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  <a:sym typeface="Arial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D47D04-E95B-C4A9-06A2-42B868ED93B4}"/>
                </a:ext>
              </a:extLst>
            </p:cNvPr>
            <p:cNvSpPr txBox="1"/>
            <p:nvPr/>
          </p:nvSpPr>
          <p:spPr>
            <a:xfrm>
              <a:off x="321806" y="6929541"/>
              <a:ext cx="37840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dirty="0">
                  <a:solidFill>
                    <a:srgbClr val="F454CD"/>
                  </a:solidFill>
                  <a:latin typeface="Work Sans" pitchFamily="2" charset="77"/>
                </a:rPr>
                <a:t>Emit Solar Warranties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9FF044F-263B-7E41-3BAB-7D2C6963C7D0}"/>
                </a:ext>
              </a:extLst>
            </p:cNvPr>
            <p:cNvGrpSpPr/>
            <p:nvPr/>
          </p:nvGrpSpPr>
          <p:grpSpPr>
            <a:xfrm>
              <a:off x="321806" y="7370555"/>
              <a:ext cx="6916064" cy="2398759"/>
              <a:chOff x="321806" y="7370556"/>
              <a:chExt cx="6916064" cy="239875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3DAD156-570D-923B-9E65-08F1BD764F20}"/>
                  </a:ext>
                </a:extLst>
              </p:cNvPr>
              <p:cNvSpPr/>
              <p:nvPr/>
            </p:nvSpPr>
            <p:spPr>
              <a:xfrm>
                <a:off x="321806" y="7370556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Installation Warranty</a:t>
                </a: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 </a:t>
                </a: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1 Year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Covers workmanship defects during installation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C764B7B-2FDB-DDDA-87DB-1326E6C0E607}"/>
                  </a:ext>
                </a:extLst>
              </p:cNvPr>
              <p:cNvSpPr/>
              <p:nvPr/>
            </p:nvSpPr>
            <p:spPr>
              <a:xfrm>
                <a:off x="4987926" y="7370557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Extended Support Package (Emit EzSolar)</a:t>
                </a: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Up to 10 Years (contract duration)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Support for system faults caused by faulty components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Includes labour for replacing faulty components covered by manufacturer warranty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2557144-052B-370C-F3AC-5EFB0D7B9F62}"/>
                  </a:ext>
                </a:extLst>
              </p:cNvPr>
              <p:cNvSpPr/>
              <p:nvPr/>
            </p:nvSpPr>
            <p:spPr>
              <a:xfrm>
                <a:off x="2654865" y="7370557"/>
                <a:ext cx="2249944" cy="2398758"/>
              </a:xfrm>
              <a:prstGeom prst="rect">
                <a:avLst/>
              </a:prstGeom>
              <a:solidFill>
                <a:srgbClr val="FFF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buClr>
                    <a:srgbClr val="F454CD"/>
                  </a:buClr>
                </a:pPr>
                <a:endParaRPr lang="en-US" sz="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r>
                  <a:rPr lang="en-US" sz="1400" b="1" dirty="0">
                    <a:solidFill>
                      <a:schemeClr val="tx1"/>
                    </a:solidFill>
                    <a:latin typeface="Work Sans" pitchFamily="2" charset="77"/>
                  </a:rPr>
                  <a:t>System Warranty</a:t>
                </a:r>
              </a:p>
              <a:p>
                <a:pPr>
                  <a:buClr>
                    <a:srgbClr val="F454CD"/>
                  </a:buClr>
                </a:pPr>
                <a:endParaRPr lang="en-US" sz="14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5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>
                  <a:buClr>
                    <a:srgbClr val="F454CD"/>
                  </a:buClr>
                </a:pPr>
                <a:endParaRPr lang="en-US" sz="300" b="1" dirty="0">
                  <a:solidFill>
                    <a:schemeClr val="tx1"/>
                  </a:solidFill>
                  <a:latin typeface="Work Sans" pitchFamily="2" charset="77"/>
                </a:endParaRP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2 Years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Ensures the system works as installed</a:t>
                </a:r>
              </a:p>
              <a:p>
                <a:pPr marL="171450" indent="-171450">
                  <a:buClr>
                    <a:srgbClr val="F454CD"/>
                  </a:buClr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  <a:latin typeface="Work Sans" pitchFamily="2" charset="77"/>
                  </a:rPr>
                  <a:t>Includes the repair and replacement of system components + labour and transportation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7788A8-74A5-1F01-407D-E8EC819875C0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Beyond Manufacturer Warranties</a:t>
            </a:r>
            <a:endParaRPr lang="en-US" sz="700" dirty="0">
              <a:latin typeface="Work Sans" pitchFamily="2" charset="77"/>
            </a:endParaRPr>
          </a:p>
          <a:p>
            <a:pPr>
              <a:defRPr/>
            </a:pPr>
            <a:r>
              <a:rPr lang="en-US" sz="1200" dirty="0">
                <a:latin typeface="Work Sans" pitchFamily="2" charset="77"/>
              </a:rPr>
              <a:t>Manufacturers protect components. Emit Solar protects the entire system</a:t>
            </a:r>
            <a:r>
              <a:rPr lang="en-US" sz="1200" dirty="0">
                <a:solidFill>
                  <a:srgbClr val="F454CD"/>
                </a:solidFill>
                <a:latin typeface="Work Sans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572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6CB9-301F-BFD3-F308-146BD91F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004A1A24-0E42-87B2-320A-E39C862252C4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FF5EE33-49A9-DCB6-0F29-A4E56F7A1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6CDA014-6288-3D27-EC3C-34370E61B40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Work Sans" pitchFamily="2" charset="77"/>
                </a:rPr>
                <a:t>www.emitsolar.com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E2A6527-FC9F-6EBD-0483-E0A5FD9B69ED}"/>
              </a:ext>
            </a:extLst>
          </p:cNvPr>
          <p:cNvSpPr txBox="1"/>
          <p:nvPr/>
        </p:nvSpPr>
        <p:spPr bwMode="auto">
          <a:xfrm>
            <a:off x="321806" y="9591688"/>
            <a:ext cx="691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1. Corrective works (e.g. replacing faulty parts) quoted separately and may require a return visit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2. Excludes out-of-warranty parts &amp; materials, corrective works, roof-level works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3. If required, </a:t>
            </a:r>
            <a:r>
              <a:rPr lang="en-MY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skylift</a:t>
            </a:r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 charges range from RM500 to RM750, depending on roof height and accessibility</a:t>
            </a:r>
          </a:p>
          <a:p>
            <a:r>
              <a:rPr lang="en-MY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 pitchFamily="2" charset="77"/>
              </a:rPr>
              <a:t>4. Prices are subject to change over time and are subject to SST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1E8B8C-A207-B5C2-9FA4-B617E72B5302}"/>
              </a:ext>
            </a:extLst>
          </p:cNvPr>
          <p:cNvGraphicFramePr>
            <a:graphicFrameLocks noGrp="1"/>
          </p:cNvGraphicFramePr>
          <p:nvPr/>
        </p:nvGraphicFramePr>
        <p:xfrm>
          <a:off x="215837" y="1815656"/>
          <a:ext cx="7128000" cy="763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284436003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917449727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133423421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What’s Included</a:t>
                      </a: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Standard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RM300/visit (RM450 after hours)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Work Sans" pitchFamily="2" charset="77"/>
                        </a:rPr>
                        <a:t>Comprehensive</a:t>
                      </a:r>
                    </a:p>
                    <a:p>
                      <a:pPr marL="0" marR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RM650/visit</a:t>
                      </a:r>
                    </a:p>
                  </a:txBody>
                  <a:tcPr anchor="b"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93691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</a:rPr>
                        <a:t>Visual inspection of inverter, PVDB and wiring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654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Work Sans" pitchFamily="2" charset="77"/>
                        </a:rPr>
                        <a:t>Electrical checks and connection testing (on-ground)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607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Check safety components are working properly​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8898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Review inverter alarm logs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0739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Basic troubleshooting (reset, reconfigure, small fixes)​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0013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System performance report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41382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Visual inspection of panels, conduits and connectors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49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Infrared thermal scan of panels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82907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Ensure mounting structures are secure and intact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4816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Ensure rooftop cables are properly insulated and secure​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4444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Run earth loop test for compliance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33872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Work Sans" pitchFamily="2" charset="77"/>
                        </a:rPr>
                        <a:t>Clean all the panels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Work Sans" pitchFamily="2" charset="77"/>
                      </a:endParaRPr>
                    </a:p>
                  </a:txBody>
                  <a:tcPr anchor="ctr">
                    <a:solidFill>
                      <a:srgbClr val="FF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365978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8617B3D2-38EF-FD26-C26B-3EBF09FE411C}"/>
              </a:ext>
            </a:extLst>
          </p:cNvPr>
          <p:cNvSpPr>
            <a:spLocks noChangeAspect="1"/>
          </p:cNvSpPr>
          <p:nvPr/>
        </p:nvSpPr>
        <p:spPr>
          <a:xfrm>
            <a:off x="3746403" y="2708202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5A9F30-88A9-2324-C779-4743099E6AA8}"/>
              </a:ext>
            </a:extLst>
          </p:cNvPr>
          <p:cNvSpPr>
            <a:spLocks noChangeAspect="1"/>
          </p:cNvSpPr>
          <p:nvPr/>
        </p:nvSpPr>
        <p:spPr>
          <a:xfrm>
            <a:off x="3746403" y="3274676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0333AE-EAC5-5B4D-09D0-2C19EA11AFB1}"/>
              </a:ext>
            </a:extLst>
          </p:cNvPr>
          <p:cNvSpPr>
            <a:spLocks noChangeAspect="1"/>
          </p:cNvSpPr>
          <p:nvPr/>
        </p:nvSpPr>
        <p:spPr>
          <a:xfrm>
            <a:off x="3746403" y="384131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21CE04-55BC-7C43-C45B-68000A1D539D}"/>
              </a:ext>
            </a:extLst>
          </p:cNvPr>
          <p:cNvSpPr>
            <a:spLocks noChangeAspect="1"/>
          </p:cNvSpPr>
          <p:nvPr/>
        </p:nvSpPr>
        <p:spPr>
          <a:xfrm>
            <a:off x="3746403" y="4434297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EB82A0-8C3E-6259-7E71-25FC0BAA0840}"/>
              </a:ext>
            </a:extLst>
          </p:cNvPr>
          <p:cNvSpPr>
            <a:spLocks noChangeAspect="1"/>
          </p:cNvSpPr>
          <p:nvPr/>
        </p:nvSpPr>
        <p:spPr>
          <a:xfrm>
            <a:off x="3746403" y="499724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913C03-50D8-2996-25DF-2F83AB703F34}"/>
              </a:ext>
            </a:extLst>
          </p:cNvPr>
          <p:cNvSpPr>
            <a:spLocks noChangeAspect="1"/>
          </p:cNvSpPr>
          <p:nvPr/>
        </p:nvSpPr>
        <p:spPr>
          <a:xfrm>
            <a:off x="3746403" y="5574940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81879C-C2FB-5ADB-9904-DB0767BED395}"/>
              </a:ext>
            </a:extLst>
          </p:cNvPr>
          <p:cNvSpPr>
            <a:spLocks noChangeAspect="1"/>
          </p:cNvSpPr>
          <p:nvPr/>
        </p:nvSpPr>
        <p:spPr>
          <a:xfrm>
            <a:off x="6111835" y="2708202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554083-56D7-1740-37DC-D50410B4B425}"/>
              </a:ext>
            </a:extLst>
          </p:cNvPr>
          <p:cNvSpPr>
            <a:spLocks noChangeAspect="1"/>
          </p:cNvSpPr>
          <p:nvPr/>
        </p:nvSpPr>
        <p:spPr>
          <a:xfrm>
            <a:off x="6111835" y="3274676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372488-860F-147B-D5E4-CA82FA6577CB}"/>
              </a:ext>
            </a:extLst>
          </p:cNvPr>
          <p:cNvSpPr>
            <a:spLocks noChangeAspect="1"/>
          </p:cNvSpPr>
          <p:nvPr/>
        </p:nvSpPr>
        <p:spPr>
          <a:xfrm>
            <a:off x="6111835" y="384131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C21E7C-5B8D-8B3F-15C4-E3C0542FBD7F}"/>
              </a:ext>
            </a:extLst>
          </p:cNvPr>
          <p:cNvSpPr>
            <a:spLocks noChangeAspect="1"/>
          </p:cNvSpPr>
          <p:nvPr/>
        </p:nvSpPr>
        <p:spPr>
          <a:xfrm>
            <a:off x="6111835" y="4434297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FA7A32-9E7A-274A-D816-879B09D3C9BB}"/>
              </a:ext>
            </a:extLst>
          </p:cNvPr>
          <p:cNvSpPr>
            <a:spLocks noChangeAspect="1"/>
          </p:cNvSpPr>
          <p:nvPr/>
        </p:nvSpPr>
        <p:spPr>
          <a:xfrm>
            <a:off x="6111835" y="4997245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2D2A5C-6085-642B-BF1B-B5669697A82A}"/>
              </a:ext>
            </a:extLst>
          </p:cNvPr>
          <p:cNvSpPr>
            <a:spLocks noChangeAspect="1"/>
          </p:cNvSpPr>
          <p:nvPr/>
        </p:nvSpPr>
        <p:spPr>
          <a:xfrm>
            <a:off x="6111835" y="5574940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154B54-C450-6F1C-9D5F-31CF84AE3D7D}"/>
              </a:ext>
            </a:extLst>
          </p:cNvPr>
          <p:cNvSpPr>
            <a:spLocks noChangeAspect="1"/>
          </p:cNvSpPr>
          <p:nvPr/>
        </p:nvSpPr>
        <p:spPr>
          <a:xfrm>
            <a:off x="6111835" y="6150928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43663C-100D-E0F5-E1CA-58F57D23943E}"/>
              </a:ext>
            </a:extLst>
          </p:cNvPr>
          <p:cNvSpPr>
            <a:spLocks noChangeAspect="1"/>
          </p:cNvSpPr>
          <p:nvPr/>
        </p:nvSpPr>
        <p:spPr>
          <a:xfrm>
            <a:off x="6111835" y="6735874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AAE7BD-362A-8997-3329-9FF68C43980B}"/>
              </a:ext>
            </a:extLst>
          </p:cNvPr>
          <p:cNvSpPr>
            <a:spLocks noChangeAspect="1"/>
          </p:cNvSpPr>
          <p:nvPr/>
        </p:nvSpPr>
        <p:spPr>
          <a:xfrm>
            <a:off x="6111835" y="7302513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B5A27A-F0FF-6572-48E2-7E41D9C09F7B}"/>
              </a:ext>
            </a:extLst>
          </p:cNvPr>
          <p:cNvSpPr>
            <a:spLocks noChangeAspect="1"/>
          </p:cNvSpPr>
          <p:nvPr/>
        </p:nvSpPr>
        <p:spPr>
          <a:xfrm>
            <a:off x="6111835" y="7877023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76ADBB-2F56-6DCF-610A-EE3CFF898B47}"/>
              </a:ext>
            </a:extLst>
          </p:cNvPr>
          <p:cNvSpPr>
            <a:spLocks noChangeAspect="1"/>
          </p:cNvSpPr>
          <p:nvPr/>
        </p:nvSpPr>
        <p:spPr>
          <a:xfrm>
            <a:off x="6111835" y="8467679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B69952-DB60-9BD7-4B31-B9F3DCDD0C04}"/>
              </a:ext>
            </a:extLst>
          </p:cNvPr>
          <p:cNvSpPr>
            <a:spLocks noChangeAspect="1"/>
          </p:cNvSpPr>
          <p:nvPr/>
        </p:nvSpPr>
        <p:spPr>
          <a:xfrm>
            <a:off x="6111835" y="9045374"/>
            <a:ext cx="252000" cy="252000"/>
          </a:xfrm>
          <a:prstGeom prst="ellipse">
            <a:avLst/>
          </a:prstGeom>
          <a:solidFill>
            <a:srgbClr val="F454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" pitchFamily="2" charset="77"/>
                <a:sym typeface="Arial"/>
              </a:rPr>
              <a:t>√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4A1B4-FCD2-340D-76AE-C0CA2D642019}"/>
              </a:ext>
            </a:extLst>
          </p:cNvPr>
          <p:cNvSpPr txBox="1"/>
          <p:nvPr/>
        </p:nvSpPr>
        <p:spPr>
          <a:xfrm>
            <a:off x="323837" y="405855"/>
            <a:ext cx="691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Ongoing Care, Even After Warranties End</a:t>
            </a:r>
            <a:endParaRPr lang="en-US" sz="700" dirty="0">
              <a:latin typeface="Work Sans" pitchFamily="2" charset="77"/>
            </a:endParaRPr>
          </a:p>
          <a:p>
            <a:pPr>
              <a:defRPr/>
            </a:pPr>
            <a:r>
              <a:rPr lang="en-MY" sz="1200" dirty="0">
                <a:latin typeface="Work Sans" pitchFamily="2" charset="77"/>
              </a:rPr>
              <a:t>Optional health checks to keep your solar system safe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17108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F883-B283-BBED-36AB-544042C3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14A1238-437C-8444-E22A-484B72846133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271F2F3-EF70-EAF4-3E57-D8A1ACBE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414F813-8902-2527-9087-D513E9F97D1D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aphicFrame>
        <p:nvGraphicFramePr>
          <p:cNvPr id="3" name="Google Shape;179;p3">
            <a:extLst>
              <a:ext uri="{FF2B5EF4-FFF2-40B4-BE49-F238E27FC236}">
                <a16:creationId xmlns:a16="http://schemas.microsoft.com/office/drawing/2014/main" id="{ECDE5A67-D764-49B7-BFDB-EFEA97B957D5}"/>
              </a:ext>
            </a:extLst>
          </p:cNvPr>
          <p:cNvGraphicFramePr/>
          <p:nvPr/>
        </p:nvGraphicFramePr>
        <p:xfrm>
          <a:off x="323837" y="1289199"/>
          <a:ext cx="6912001" cy="895614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7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896">
                  <a:extLst>
                    <a:ext uri="{9D8B030D-6E8A-4147-A177-3AD203B41FA5}">
                      <a16:colId xmlns:a16="http://schemas.microsoft.com/office/drawing/2014/main" val="3571867225"/>
                    </a:ext>
                  </a:extLst>
                </a:gridCol>
                <a:gridCol w="2366209">
                  <a:extLst>
                    <a:ext uri="{9D8B030D-6E8A-4147-A177-3AD203B41FA5}">
                      <a16:colId xmlns:a16="http://schemas.microsoft.com/office/drawing/2014/main" val="2993904043"/>
                    </a:ext>
                  </a:extLst>
                </a:gridCol>
              </a:tblGrid>
              <a:tr h="540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dirty="0">
                          <a:solidFill>
                            <a:schemeClr val="tx1"/>
                          </a:solidFill>
                          <a:latin typeface="Work Sans Medium" pitchFamily="2" charset="77"/>
                        </a:rPr>
                        <a:t>Prices valid until 15 June 2026, subject to change. Final pricing will be confirmed upon request.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Work Sans Medium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54CD">
                        <a:alpha val="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489625"/>
                  </a:ext>
                </a:extLst>
              </a:tr>
              <a:tr h="5472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</a:rPr>
                        <a:t>Smart Energy Storage 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Huawei LUNA2000 [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Product Specs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]</a:t>
                      </a: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i="0" dirty="0">
                        <a:solidFill>
                          <a:srgbClr val="F454CD"/>
                        </a:solidFill>
                        <a:latin typeface="Work Sans" pitchFamily="2" charset="7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Option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7kWh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1x battery module + BESS controller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RM13,735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669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14kWh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2x battery modules + BESS controller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RM23,315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1988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21kWh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3x battery modules + BESS controller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RM32,895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5349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Installation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Setting up of battery module(s)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RM750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(</a:t>
                      </a:r>
                      <a:r>
                        <a:rPr lang="en-MY" sz="800" b="0" i="0" dirty="0">
                          <a:latin typeface="Work Sans" pitchFamily="2" charset="77"/>
                        </a:rPr>
                        <a:t>waived if installed within 12 months of your system)</a:t>
                      </a:r>
                      <a:endParaRPr sz="8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61174"/>
                  </a:ext>
                </a:extLst>
              </a:tr>
              <a:tr h="3960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Higher capacity provides more stored Solar Electricity and supports greater nighttime usage. Actual savings depend on household usage patterns.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665071"/>
                  </a:ext>
                </a:extLst>
              </a:tr>
              <a:tr h="324000">
                <a:tc gridSpan="3"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</a:rPr>
                        <a:t>Optional Battery Add-On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Calibri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4424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Add-On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984188"/>
                  </a:ext>
                </a:extLst>
              </a:tr>
              <a:tr h="6408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en-MY" sz="1200" b="0" i="0" dirty="0">
                          <a:latin typeface="Work Sans" pitchFamily="2" charset="77"/>
                        </a:rPr>
                        <a:t>Backup Power Box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Interface to power essential appliances during blackouts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RM2,265 (1‑phase)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RM3,265 (3‑phase)</a:t>
                      </a: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133"/>
                  </a:ext>
                </a:extLst>
              </a:tr>
              <a:tr h="547200">
                <a:tc grid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+mn-cs"/>
                          <a:sym typeface="Work Sans Light"/>
                        </a:rPr>
                        <a:t>Emit Digital Energy Hub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sz="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+mn-cs"/>
                        <a:sym typeface="Work Sans Light"/>
                      </a:endParaRP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  <a:sym typeface="Arial"/>
                        </a:rPr>
                        <a:t>Engineered by Emit Solar</a:t>
                      </a: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48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Option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  <a:endParaRPr sz="1200" b="1" i="0" dirty="0">
                        <a:solidFill>
                          <a:schemeClr val="tx1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4" marB="4572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3030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EV-Ready DB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Energy Hub + EV charging safety components and isolator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RM2,000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5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613479"/>
                  </a:ext>
                </a:extLst>
              </a:tr>
              <a:tr h="324000">
                <a:tc grid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454CD"/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Calibri"/>
                        </a:rPr>
                        <a:t>Optional EV Charging Add-Ons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454CD"/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Calibri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419199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377967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755934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133902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511869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1889836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267803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645771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023738" algn="l" defTabSz="755934" rtl="0" eaLnBrk="1" latinLnBrk="0" hangingPunct="1">
                        <a:defRPr sz="148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Add-On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What’s Included</a:t>
                      </a:r>
                      <a:endParaRPr sz="1200" b="1" i="0" dirty="0">
                        <a:solidFill>
                          <a:srgbClr val="000000"/>
                        </a:solidFill>
                        <a:latin typeface="Work Sans" pitchFamily="2" charset="77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Work Sans" pitchFamily="2" charset="77"/>
                          <a:ea typeface="Work Sans Light"/>
                          <a:cs typeface="Work Sans Light"/>
                          <a:sym typeface="Work Sans Light"/>
                        </a:rPr>
                        <a:t>Price</a:t>
                      </a:r>
                    </a:p>
                  </a:txBody>
                  <a:tcPr marL="91450" marR="91450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71201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 Charger Expansion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Cables and connections from the isolator to your own EV charger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RM600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2457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EV Expansion</a:t>
                      </a:r>
                      <a:r>
                        <a:rPr lang="en-MY" sz="1200" b="0" i="0" kern="100" baseline="300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MY" sz="1200" b="0" i="0" kern="100" dirty="0">
                        <a:effectLst/>
                        <a:latin typeface="Work Sans" pitchFamily="2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kern="100" dirty="0">
                          <a:effectLst/>
                          <a:latin typeface="Work Sans" pitchFamily="2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Full setup, including the supply and install of a Huawei EV charger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RM3,500 (1-phase)</a:t>
                      </a:r>
                    </a:p>
                    <a:p>
                      <a:r>
                        <a:rPr lang="en-US" sz="1200" b="0" i="0" dirty="0">
                          <a:latin typeface="Work Sans" pitchFamily="2" charset="77"/>
                        </a:rPr>
                        <a:t>RM3,900 (3-phase)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36335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1</a:t>
                      </a:r>
                      <a:r>
                        <a:rPr kumimoji="0" lang="en-MY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 Uses different wiring and must be confirmed in your order to be installed together with your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0" cap="none" spc="0" normalizeH="0" baseline="3000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2</a:t>
                      </a:r>
                      <a:r>
                        <a:rPr kumimoji="0" lang="en-MY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Work Sans" pitchFamily="2" charset="77"/>
                          <a:ea typeface="+mn-ea"/>
                          <a:cs typeface="Arial"/>
                          <a:sym typeface="Arial"/>
                        </a:rPr>
                        <a:t> includes up to 5-metre wiring between Energy Hub and EV charger; additional length RM50/metre.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Work Sans" pitchFamily="2" charset="77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200" b="0" i="0" kern="100" dirty="0">
                        <a:effectLst/>
                        <a:latin typeface="Work Sans" pitchFamily="2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latin typeface="Work Sans" pitchFamily="2" charset="7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496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A5174-C3A4-43FD-5F9E-2AEA81B9A835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Future-Proof Add-Ons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/>
            </a:pPr>
            <a:r>
              <a:rPr kumimoji="0" lang="en-MY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Designed to grow with your energy needs, lifestyle and future upgrades.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D49F7-F556-81DC-48D9-7A761BB235B2}"/>
              </a:ext>
            </a:extLst>
          </p:cNvPr>
          <p:cNvSpPr txBox="1"/>
          <p:nvPr/>
        </p:nvSpPr>
        <p:spPr>
          <a:xfrm>
            <a:off x="321806" y="10279082"/>
            <a:ext cx="69160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MY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Prices may be subject to SST where applicable.</a:t>
            </a:r>
            <a:endParaRPr kumimoji="0" lang="en-MY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Work Sans" pitchFamily="2" charset="77"/>
              <a:ea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944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0DC2-3796-D118-E1AD-F2BA6336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D0858CEB-1C46-5042-2599-09EC8F63E641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2B77245-D723-ADCC-4DED-1DE43695C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87F3928-9BDD-1D0E-4FB6-4804D1CA8C32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B72214-1361-3C20-6020-6FAC949653FD}"/>
              </a:ext>
            </a:extLst>
          </p:cNvPr>
          <p:cNvGrpSpPr>
            <a:grpSpLocks noChangeAspect="1"/>
          </p:cNvGrpSpPr>
          <p:nvPr/>
        </p:nvGrpSpPr>
        <p:grpSpPr>
          <a:xfrm>
            <a:off x="703185" y="1613136"/>
            <a:ext cx="6152400" cy="8324949"/>
            <a:chOff x="585634" y="1293211"/>
            <a:chExt cx="6385233" cy="864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227825-674F-A55A-4161-7845BD080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634" y="1293211"/>
              <a:ext cx="3008470" cy="33455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EC133F-E8CA-79C0-F212-8155AFEEF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47086" y="1293997"/>
              <a:ext cx="3023781" cy="334394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9E45E9-A4BA-F8E5-A508-372F03DCA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978" y="4939114"/>
              <a:ext cx="3007782" cy="259652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7A23D96-3E22-B77B-3935-251D9D594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5085" y="4939114"/>
              <a:ext cx="3007782" cy="209719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49A4454-035B-2449-63AC-5EEC2927D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978" y="7836021"/>
              <a:ext cx="3007782" cy="209719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B309BB-A394-4EC3-900F-0A426CCA9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55085" y="7349173"/>
              <a:ext cx="3007782" cy="258403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34B318-44B6-0166-BCB2-509B5428020B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Trusted by Homeowners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MY" sz="1200" dirty="0">
                <a:latin typeface="Work Sans" pitchFamily="2" charset="77"/>
              </a:rPr>
              <a:t>Real customers, real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3916077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52EE3-AF3E-B313-A13E-B6369A2E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29;p14">
            <a:extLst>
              <a:ext uri="{FF2B5EF4-FFF2-40B4-BE49-F238E27FC236}">
                <a16:creationId xmlns:a16="http://schemas.microsoft.com/office/drawing/2014/main" id="{262000D8-9020-196F-8CD3-06F2BE533979}"/>
              </a:ext>
            </a:extLst>
          </p:cNvPr>
          <p:cNvSpPr/>
          <p:nvPr/>
        </p:nvSpPr>
        <p:spPr>
          <a:xfrm>
            <a:off x="323837" y="1920284"/>
            <a:ext cx="6912000" cy="1234120"/>
          </a:xfrm>
          <a:prstGeom prst="rect">
            <a:avLst/>
          </a:prstGeom>
          <a:noFill/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33;p14">
            <a:extLst>
              <a:ext uri="{FF2B5EF4-FFF2-40B4-BE49-F238E27FC236}">
                <a16:creationId xmlns:a16="http://schemas.microsoft.com/office/drawing/2014/main" id="{F15D5367-3E8B-869F-436A-6EA1043CCDC5}"/>
              </a:ext>
            </a:extLst>
          </p:cNvPr>
          <p:cNvSpPr/>
          <p:nvPr/>
        </p:nvSpPr>
        <p:spPr>
          <a:xfrm>
            <a:off x="323837" y="5117472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35;p14">
            <a:extLst>
              <a:ext uri="{FF2B5EF4-FFF2-40B4-BE49-F238E27FC236}">
                <a16:creationId xmlns:a16="http://schemas.microsoft.com/office/drawing/2014/main" id="{C0E0F578-D0FF-03C3-46F5-CDFBF8C681C8}"/>
              </a:ext>
            </a:extLst>
          </p:cNvPr>
          <p:cNvSpPr/>
          <p:nvPr/>
        </p:nvSpPr>
        <p:spPr>
          <a:xfrm>
            <a:off x="323837" y="6594649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537;p14">
            <a:extLst>
              <a:ext uri="{FF2B5EF4-FFF2-40B4-BE49-F238E27FC236}">
                <a16:creationId xmlns:a16="http://schemas.microsoft.com/office/drawing/2014/main" id="{4735BAA0-3210-7211-B79E-E866EE630BD9}"/>
              </a:ext>
            </a:extLst>
          </p:cNvPr>
          <p:cNvSpPr/>
          <p:nvPr/>
        </p:nvSpPr>
        <p:spPr>
          <a:xfrm>
            <a:off x="323837" y="8071824"/>
            <a:ext cx="6912000" cy="1234120"/>
          </a:xfrm>
          <a:prstGeom prst="rect">
            <a:avLst/>
          </a:prstGeom>
          <a:solidFill>
            <a:schemeClr val="lt1">
              <a:alpha val="40000"/>
            </a:schemeClr>
          </a:solidFill>
          <a:ln w="6350" cap="rnd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F130A3-B3C1-0E6E-6094-ED7AE06A5246}"/>
              </a:ext>
            </a:extLst>
          </p:cNvPr>
          <p:cNvGrpSpPr/>
          <p:nvPr/>
        </p:nvGrpSpPr>
        <p:grpSpPr>
          <a:xfrm>
            <a:off x="321806" y="10255777"/>
            <a:ext cx="6916063" cy="215444"/>
            <a:chOff x="321806" y="10255777"/>
            <a:chExt cx="6916063" cy="215444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D969283-D878-BE01-E03D-471F51BE0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1806" y="10273499"/>
              <a:ext cx="1250672" cy="18000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7FFEC0-2F73-943B-9B03-A8C472B43298}"/>
                </a:ext>
              </a:extLst>
            </p:cNvPr>
            <p:cNvSpPr txBox="1"/>
            <p:nvPr/>
          </p:nvSpPr>
          <p:spPr>
            <a:xfrm>
              <a:off x="5486929" y="10255777"/>
              <a:ext cx="1750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Work Sans" pitchFamily="2" charset="77"/>
                  <a:ea typeface="+mn-ea"/>
                  <a:cs typeface="+mn-cs"/>
                </a:rPr>
                <a:t>www.emitsolar.com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018F806-DC7B-5BE6-BDB9-ADCC6A0BC016}"/>
              </a:ext>
            </a:extLst>
          </p:cNvPr>
          <p:cNvSpPr txBox="1"/>
          <p:nvPr/>
        </p:nvSpPr>
        <p:spPr>
          <a:xfrm>
            <a:off x="5649739" y="377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oogle Shape;538;p14">
            <a:extLst>
              <a:ext uri="{FF2B5EF4-FFF2-40B4-BE49-F238E27FC236}">
                <a16:creationId xmlns:a16="http://schemas.microsoft.com/office/drawing/2014/main" id="{0B2EABDE-DEF2-CCA8-E3E8-8AE69EAE6DBF}"/>
              </a:ext>
            </a:extLst>
          </p:cNvPr>
          <p:cNvGrpSpPr/>
          <p:nvPr/>
        </p:nvGrpSpPr>
        <p:grpSpPr>
          <a:xfrm>
            <a:off x="933218" y="1559381"/>
            <a:ext cx="123040" cy="8106009"/>
            <a:chOff x="0" y="0"/>
            <a:chExt cx="164078" cy="10809616"/>
          </a:xfrm>
        </p:grpSpPr>
        <p:sp>
          <p:nvSpPr>
            <p:cNvPr id="3" name="Google Shape;539;p14">
              <a:extLst>
                <a:ext uri="{FF2B5EF4-FFF2-40B4-BE49-F238E27FC236}">
                  <a16:creationId xmlns:a16="http://schemas.microsoft.com/office/drawing/2014/main" id="{EA9741EA-AC66-63CF-5DD9-6ADDA86A2106}"/>
                </a:ext>
              </a:extLst>
            </p:cNvPr>
            <p:cNvSpPr/>
            <p:nvPr/>
          </p:nvSpPr>
          <p:spPr>
            <a:xfrm>
              <a:off x="61009" y="164078"/>
              <a:ext cx="42059" cy="105294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540;p14">
              <a:extLst>
                <a:ext uri="{FF2B5EF4-FFF2-40B4-BE49-F238E27FC236}">
                  <a16:creationId xmlns:a16="http://schemas.microsoft.com/office/drawing/2014/main" id="{31326F3A-B47C-9531-41FB-89CC2B24C535}"/>
                </a:ext>
              </a:extLst>
            </p:cNvPr>
            <p:cNvSpPr/>
            <p:nvPr/>
          </p:nvSpPr>
          <p:spPr>
            <a:xfrm>
              <a:off x="0" y="0"/>
              <a:ext cx="164078" cy="164078"/>
            </a:xfrm>
            <a:custGeom>
              <a:avLst/>
              <a:gdLst/>
              <a:ahLst/>
              <a:cxnLst/>
              <a:rect l="l" t="t" r="r" b="b"/>
              <a:pathLst>
                <a:path w="164078" h="164078" extrusionOk="0">
                  <a:moveTo>
                    <a:pt x="0" y="0"/>
                  </a:moveTo>
                  <a:lnTo>
                    <a:pt x="164078" y="0"/>
                  </a:lnTo>
                  <a:lnTo>
                    <a:pt x="164078" y="164078"/>
                  </a:lnTo>
                  <a:lnTo>
                    <a:pt x="0" y="164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41;p14">
              <a:extLst>
                <a:ext uri="{FF2B5EF4-FFF2-40B4-BE49-F238E27FC236}">
                  <a16:creationId xmlns:a16="http://schemas.microsoft.com/office/drawing/2014/main" id="{2831907F-9082-0F66-E865-78617248FFAE}"/>
                </a:ext>
              </a:extLst>
            </p:cNvPr>
            <p:cNvSpPr/>
            <p:nvPr/>
          </p:nvSpPr>
          <p:spPr>
            <a:xfrm>
              <a:off x="0" y="10645538"/>
              <a:ext cx="164078" cy="164078"/>
            </a:xfrm>
            <a:custGeom>
              <a:avLst/>
              <a:gdLst/>
              <a:ahLst/>
              <a:cxnLst/>
              <a:rect l="l" t="t" r="r" b="b"/>
              <a:pathLst>
                <a:path w="164078" h="164078" extrusionOk="0">
                  <a:moveTo>
                    <a:pt x="0" y="0"/>
                  </a:moveTo>
                  <a:lnTo>
                    <a:pt x="164078" y="0"/>
                  </a:lnTo>
                  <a:lnTo>
                    <a:pt x="164078" y="164078"/>
                  </a:lnTo>
                  <a:lnTo>
                    <a:pt x="0" y="1640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530;p14">
            <a:extLst>
              <a:ext uri="{FF2B5EF4-FFF2-40B4-BE49-F238E27FC236}">
                <a16:creationId xmlns:a16="http://schemas.microsoft.com/office/drawing/2014/main" id="{C9D9691E-98AB-F2F6-71B4-79E2F4D52E4C}"/>
              </a:ext>
            </a:extLst>
          </p:cNvPr>
          <p:cNvSpPr txBox="1"/>
          <p:nvPr/>
        </p:nvSpPr>
        <p:spPr>
          <a:xfrm>
            <a:off x="1559249" y="2157336"/>
            <a:ext cx="4986342" cy="76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Home Visit &amp; ATAP Eligibility Check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We assess your home’s solar potential, request a few documents for ATAP eligibility confirmation, and prepare your solar proposal.</a:t>
            </a:r>
          </a:p>
        </p:txBody>
      </p:sp>
      <p:sp>
        <p:nvSpPr>
          <p:cNvPr id="9" name="Google Shape;542;p14">
            <a:extLst>
              <a:ext uri="{FF2B5EF4-FFF2-40B4-BE49-F238E27FC236}">
                <a16:creationId xmlns:a16="http://schemas.microsoft.com/office/drawing/2014/main" id="{203368C3-9A44-9082-705B-4479A9A8AC9A}"/>
              </a:ext>
            </a:extLst>
          </p:cNvPr>
          <p:cNvSpPr/>
          <p:nvPr/>
        </p:nvSpPr>
        <p:spPr>
          <a:xfrm>
            <a:off x="706781" y="2249387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1" y="0"/>
                </a:lnTo>
                <a:lnTo>
                  <a:pt x="1031101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1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13" name="Google Shape;534;p14">
            <a:extLst>
              <a:ext uri="{FF2B5EF4-FFF2-40B4-BE49-F238E27FC236}">
                <a16:creationId xmlns:a16="http://schemas.microsoft.com/office/drawing/2014/main" id="{9413B56D-0E28-A46B-9928-D5E283D92FFB}"/>
              </a:ext>
            </a:extLst>
          </p:cNvPr>
          <p:cNvSpPr txBox="1"/>
          <p:nvPr/>
        </p:nvSpPr>
        <p:spPr>
          <a:xfrm>
            <a:off x="1554882" y="5354580"/>
            <a:ext cx="4986341" cy="75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Installation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Our team carries out a safe and smooth installation, setting you up for long-term savings.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" name="Google Shape;544;p14">
            <a:extLst>
              <a:ext uri="{FF2B5EF4-FFF2-40B4-BE49-F238E27FC236}">
                <a16:creationId xmlns:a16="http://schemas.microsoft.com/office/drawing/2014/main" id="{3B7DA1B9-F8E5-2AB1-15D9-E0D5225D7C0A}"/>
              </a:ext>
            </a:extLst>
          </p:cNvPr>
          <p:cNvSpPr/>
          <p:nvPr/>
        </p:nvSpPr>
        <p:spPr>
          <a:xfrm>
            <a:off x="706781" y="5446574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3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17" name="Google Shape;536;p14">
            <a:extLst>
              <a:ext uri="{FF2B5EF4-FFF2-40B4-BE49-F238E27FC236}">
                <a16:creationId xmlns:a16="http://schemas.microsoft.com/office/drawing/2014/main" id="{20F6268C-465D-6342-70C9-CB9E1791DC99}"/>
              </a:ext>
            </a:extLst>
          </p:cNvPr>
          <p:cNvSpPr txBox="1"/>
          <p:nvPr/>
        </p:nvSpPr>
        <p:spPr>
          <a:xfrm>
            <a:off x="1559248" y="6831470"/>
            <a:ext cx="4986342" cy="76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47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Tx/>
              <a:buNone/>
              <a:tabLst/>
              <a:defRPr/>
            </a:pP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Activation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After TNB upgrades your account and if applicable your meter, we will activate the system.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" name="Google Shape;545;p14">
            <a:extLst>
              <a:ext uri="{FF2B5EF4-FFF2-40B4-BE49-F238E27FC236}">
                <a16:creationId xmlns:a16="http://schemas.microsoft.com/office/drawing/2014/main" id="{42365F7B-9810-FDA8-8640-AC249ECF7522}"/>
              </a:ext>
            </a:extLst>
          </p:cNvPr>
          <p:cNvSpPr/>
          <p:nvPr/>
        </p:nvSpPr>
        <p:spPr>
          <a:xfrm>
            <a:off x="706781" y="6923751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2"/>
                </a:lnTo>
                <a:lnTo>
                  <a:pt x="0" y="1031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4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1" name="Google Shape;546;p14">
            <a:extLst>
              <a:ext uri="{FF2B5EF4-FFF2-40B4-BE49-F238E27FC236}">
                <a16:creationId xmlns:a16="http://schemas.microsoft.com/office/drawing/2014/main" id="{B31A84B3-06CD-38DB-9BF2-ABD798CCD9C5}"/>
              </a:ext>
            </a:extLst>
          </p:cNvPr>
          <p:cNvSpPr/>
          <p:nvPr/>
        </p:nvSpPr>
        <p:spPr>
          <a:xfrm>
            <a:off x="706781" y="8400926"/>
            <a:ext cx="575914" cy="575915"/>
          </a:xfrm>
          <a:custGeom>
            <a:avLst/>
            <a:gdLst/>
            <a:ahLst/>
            <a:cxnLst/>
            <a:rect l="l" t="t" r="r" b="b"/>
            <a:pathLst>
              <a:path w="1031101" h="1031101" extrusionOk="0">
                <a:moveTo>
                  <a:pt x="0" y="0"/>
                </a:moveTo>
                <a:lnTo>
                  <a:pt x="1031102" y="0"/>
                </a:lnTo>
                <a:lnTo>
                  <a:pt x="1031102" y="1031101"/>
                </a:lnTo>
                <a:lnTo>
                  <a:pt x="0" y="1031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rPr>
              <a:t>5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2" name="Google Shape;547;p14">
            <a:extLst>
              <a:ext uri="{FF2B5EF4-FFF2-40B4-BE49-F238E27FC236}">
                <a16:creationId xmlns:a16="http://schemas.microsoft.com/office/drawing/2014/main" id="{2D7A8CD5-C3A6-0B93-96ED-DD5A4B5B812F}"/>
              </a:ext>
            </a:extLst>
          </p:cNvPr>
          <p:cNvSpPr txBox="1"/>
          <p:nvPr/>
        </p:nvSpPr>
        <p:spPr>
          <a:xfrm>
            <a:off x="1554738" y="8308932"/>
            <a:ext cx="4990852" cy="75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Everyday Savings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" pitchFamily="2" charset="77"/>
                <a:ea typeface="+mn-ea"/>
                <a:cs typeface="Arial"/>
                <a:sym typeface="Arial"/>
              </a:rPr>
              <a:t>Enjoy worry-free savings, with ongoing support whenever you need us.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24" name="Google Shape;531;p14">
            <a:extLst>
              <a:ext uri="{FF2B5EF4-FFF2-40B4-BE49-F238E27FC236}">
                <a16:creationId xmlns:a16="http://schemas.microsoft.com/office/drawing/2014/main" id="{CDD79AB9-06F7-18D3-975B-A3FCBBDD5432}"/>
              </a:ext>
            </a:extLst>
          </p:cNvPr>
          <p:cNvSpPr/>
          <p:nvPr/>
        </p:nvSpPr>
        <p:spPr>
          <a:xfrm>
            <a:off x="323837" y="3396000"/>
            <a:ext cx="6912000" cy="1478415"/>
          </a:xfrm>
          <a:prstGeom prst="rect">
            <a:avLst/>
          </a:prstGeom>
          <a:solidFill>
            <a:srgbClr val="FFF7FF"/>
          </a:solidFill>
          <a:ln w="19050" cap="rnd" cmpd="sng">
            <a:solidFill>
              <a:srgbClr val="F454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532;p14">
            <a:extLst>
              <a:ext uri="{FF2B5EF4-FFF2-40B4-BE49-F238E27FC236}">
                <a16:creationId xmlns:a16="http://schemas.microsoft.com/office/drawing/2014/main" id="{972801F1-94B3-945D-717A-F48B5E65DE3E}"/>
              </a:ext>
            </a:extLst>
          </p:cNvPr>
          <p:cNvSpPr txBox="1"/>
          <p:nvPr/>
        </p:nvSpPr>
        <p:spPr>
          <a:xfrm>
            <a:off x="1554882" y="3789985"/>
            <a:ext cx="4986342" cy="69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" pitchFamily="2" charset="77"/>
                <a:ea typeface="Work Sans"/>
                <a:cs typeface="Work Sans"/>
                <a:sym typeface="Work Sans"/>
              </a:rPr>
              <a:t>Proposal Acceptance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  <a:p>
            <a:pPr lvl="0" defTabSz="914400">
              <a:lnSpc>
                <a:spcPts val="1560"/>
              </a:lnSpc>
              <a:spcBef>
                <a:spcPct val="0"/>
              </a:spcBef>
              <a:defRPr/>
            </a:pPr>
            <a:r>
              <a:rPr lang="en-US" sz="1200" dirty="0">
                <a:latin typeface="Work Sans" pitchFamily="2" charset="77"/>
                <a:ea typeface="Work Sans 1"/>
                <a:cs typeface="Work Sans 1"/>
                <a:sym typeface="Work Sans 1"/>
              </a:rPr>
              <a:t>Once you’re satisfied, accept our proposal, and we’ll submit your ATAP application.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952BE6-C26E-C796-CA23-5376479289A2}"/>
              </a:ext>
            </a:extLst>
          </p:cNvPr>
          <p:cNvSpPr/>
          <p:nvPr/>
        </p:nvSpPr>
        <p:spPr>
          <a:xfrm>
            <a:off x="706781" y="3847250"/>
            <a:ext cx="575914" cy="575914"/>
          </a:xfrm>
          <a:prstGeom prst="ellipse">
            <a:avLst/>
          </a:prstGeom>
          <a:solidFill>
            <a:schemeClr val="bg1"/>
          </a:solidFill>
          <a:ln w="19050">
            <a:solidFill>
              <a:srgbClr val="F454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54CD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C99CE-021C-CC3C-ADF9-6DE5757E8213}"/>
              </a:ext>
            </a:extLst>
          </p:cNvPr>
          <p:cNvSpPr txBox="1"/>
          <p:nvPr/>
        </p:nvSpPr>
        <p:spPr>
          <a:xfrm>
            <a:off x="323837" y="405855"/>
            <a:ext cx="691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454CD"/>
                </a:solidFill>
                <a:latin typeface="Work Sans" pitchFamily="2" charset="77"/>
              </a:rPr>
              <a:t>Your Solar Journey, Made Simple</a:t>
            </a:r>
            <a:endParaRPr lang="en-US" sz="700" dirty="0">
              <a:latin typeface="Work Sans" pitchFamily="2" charset="77"/>
            </a:endParaRPr>
          </a:p>
          <a:p>
            <a:pPr lvl="0">
              <a:defRPr/>
            </a:pPr>
            <a:r>
              <a:rPr lang="en-US" sz="1200" dirty="0">
                <a:latin typeface="Work Sans" pitchFamily="2" charset="77"/>
              </a:rPr>
              <a:t>We’re with you every step of the way.</a:t>
            </a:r>
            <a:endParaRPr lang="en-MY" sz="1200" dirty="0"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9686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54CD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5"/>
          <p:cNvSpPr/>
          <p:nvPr/>
        </p:nvSpPr>
        <p:spPr>
          <a:xfrm>
            <a:off x="3821573" y="-859235"/>
            <a:ext cx="3230246" cy="3230246"/>
          </a:xfrm>
          <a:custGeom>
            <a:avLst/>
            <a:gdLst/>
            <a:ahLst/>
            <a:cxnLst/>
            <a:rect l="l" t="t" r="r" b="b"/>
            <a:pathLst>
              <a:path w="3230726" h="3230726" extrusionOk="0">
                <a:moveTo>
                  <a:pt x="0" y="0"/>
                </a:moveTo>
                <a:lnTo>
                  <a:pt x="3230726" y="0"/>
                </a:lnTo>
                <a:lnTo>
                  <a:pt x="3230726" y="3230726"/>
                </a:lnTo>
                <a:lnTo>
                  <a:pt x="0" y="3230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-947488" y="9070219"/>
            <a:ext cx="2563188" cy="2563188"/>
          </a:xfrm>
          <a:custGeom>
            <a:avLst/>
            <a:gdLst/>
            <a:ahLst/>
            <a:cxnLst/>
            <a:rect l="l" t="t" r="r" b="b"/>
            <a:pathLst>
              <a:path w="2563569" h="2563569" extrusionOk="0">
                <a:moveTo>
                  <a:pt x="0" y="0"/>
                </a:moveTo>
                <a:lnTo>
                  <a:pt x="2563569" y="0"/>
                </a:lnTo>
                <a:lnTo>
                  <a:pt x="2563569" y="2563569"/>
                </a:lnTo>
                <a:lnTo>
                  <a:pt x="0" y="2563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1816630" y="4945762"/>
            <a:ext cx="3929915" cy="64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309" rtl="0" eaLnBrk="1" fontAlgn="auto" latinLnBrk="0" hangingPunct="1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9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Light"/>
                <a:cs typeface="Work Sans Light"/>
                <a:sym typeface="Work Sans Light"/>
              </a:rPr>
              <a:t>Solar Made Simple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ork San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561" name="Google Shape;561;p15"/>
          <p:cNvGrpSpPr/>
          <p:nvPr/>
        </p:nvGrpSpPr>
        <p:grpSpPr>
          <a:xfrm>
            <a:off x="1785167" y="5844875"/>
            <a:ext cx="3992839" cy="561383"/>
            <a:chOff x="0" y="0"/>
            <a:chExt cx="1090330" cy="153297"/>
          </a:xfrm>
        </p:grpSpPr>
        <p:sp>
          <p:nvSpPr>
            <p:cNvPr id="562" name="Google Shape;562;p15"/>
            <p:cNvSpPr/>
            <p:nvPr/>
          </p:nvSpPr>
          <p:spPr>
            <a:xfrm>
              <a:off x="0" y="0"/>
              <a:ext cx="1090330" cy="153297"/>
            </a:xfrm>
            <a:custGeom>
              <a:avLst/>
              <a:gdLst/>
              <a:ahLst/>
              <a:cxnLst/>
              <a:rect l="l" t="t" r="r" b="b"/>
              <a:pathLst>
                <a:path w="1090330" h="153297" extrusionOk="0">
                  <a:moveTo>
                    <a:pt x="76649" y="0"/>
                  </a:moveTo>
                  <a:lnTo>
                    <a:pt x="1013681" y="0"/>
                  </a:lnTo>
                  <a:cubicBezTo>
                    <a:pt x="1056013" y="0"/>
                    <a:pt x="1090330" y="34317"/>
                    <a:pt x="1090330" y="76649"/>
                  </a:cubicBezTo>
                  <a:lnTo>
                    <a:pt x="1090330" y="76649"/>
                  </a:lnTo>
                  <a:cubicBezTo>
                    <a:pt x="1090330" y="118981"/>
                    <a:pt x="1056013" y="153297"/>
                    <a:pt x="1013681" y="153297"/>
                  </a:cubicBezTo>
                  <a:lnTo>
                    <a:pt x="76649" y="153297"/>
                  </a:lnTo>
                  <a:cubicBezTo>
                    <a:pt x="34317" y="153297"/>
                    <a:pt x="0" y="118981"/>
                    <a:pt x="0" y="76649"/>
                  </a:cubicBezTo>
                  <a:lnTo>
                    <a:pt x="0" y="76649"/>
                  </a:lnTo>
                  <a:cubicBezTo>
                    <a:pt x="0" y="34317"/>
                    <a:pt x="34317" y="0"/>
                    <a:pt x="766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11" tIns="45693" rIns="91411" bIns="45693" anchor="t" anchorCtr="0"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5"/>
            <p:cNvSpPr txBox="1"/>
            <p:nvPr/>
          </p:nvSpPr>
          <p:spPr>
            <a:xfrm>
              <a:off x="0" y="19050"/>
              <a:ext cx="1090330" cy="1342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792" tIns="50792" rIns="50792" bIns="50792" anchor="ctr" anchorCtr="0">
              <a:noAutofit/>
            </a:bodyPr>
            <a:lstStyle/>
            <a:p>
              <a:pPr marL="0" marR="0" lvl="0" indent="0" algn="ctr" defTabSz="914309" rtl="0" eaLnBrk="1" fontAlgn="auto" latinLnBrk="0" hangingPunct="1">
                <a:lnSpc>
                  <a:spcPct val="105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999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Work Sans" pitchFamily="2" charset="77"/>
                  <a:ea typeface="Work Sans SemiBold"/>
                  <a:cs typeface="Work Sans SemiBold"/>
                  <a:sym typeface="Work Sans SemiBold"/>
                </a:rPr>
                <a:t>emitsolar.com</a:t>
              </a:r>
              <a:endParaRPr kumimoji="0" sz="19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sp>
        <p:nvSpPr>
          <p:cNvPr id="564" name="Google Shape;564;p15"/>
          <p:cNvSpPr/>
          <p:nvPr/>
        </p:nvSpPr>
        <p:spPr>
          <a:xfrm>
            <a:off x="1842101" y="4284155"/>
            <a:ext cx="3875473" cy="572039"/>
          </a:xfrm>
          <a:custGeom>
            <a:avLst/>
            <a:gdLst/>
            <a:ahLst/>
            <a:cxnLst/>
            <a:rect l="l" t="t" r="r" b="b"/>
            <a:pathLst>
              <a:path w="2077104" h="306591" extrusionOk="0">
                <a:moveTo>
                  <a:pt x="0" y="0"/>
                </a:moveTo>
                <a:lnTo>
                  <a:pt x="2077105" y="0"/>
                </a:lnTo>
                <a:lnTo>
                  <a:pt x="2077105" y="306591"/>
                </a:lnTo>
                <a:lnTo>
                  <a:pt x="0" y="306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11" tIns="45693" rIns="91411" bIns="45693" anchor="t" anchorCtr="0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3860</TotalTime>
  <Words>2824</Words>
  <Application>Microsoft Office PowerPoint</Application>
  <PresentationFormat>Custom</PresentationFormat>
  <Paragraphs>718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Work Sans</vt:lpstr>
      <vt:lpstr>Work Sans Light</vt:lpstr>
      <vt:lpstr>Work Sans Medium</vt:lpstr>
      <vt:lpstr>Work Sans SemiBold</vt:lpstr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Natassha Anne Kaur Bhagat Singh</dc:creator>
  <cp:lastModifiedBy>Alex Tan</cp:lastModifiedBy>
  <cp:revision>68</cp:revision>
  <dcterms:created xsi:type="dcterms:W3CDTF">2025-12-30T13:45:26Z</dcterms:created>
  <dcterms:modified xsi:type="dcterms:W3CDTF">2026-05-11T01:52:32Z</dcterms:modified>
</cp:coreProperties>
</file>