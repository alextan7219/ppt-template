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7" r:id="rId2"/>
    <p:sldMasterId id="2147483719" r:id="rId3"/>
  </p:sldMasterIdLst>
  <p:notesMasterIdLst>
    <p:notesMasterId r:id="rId29"/>
  </p:notesMasterIdLst>
  <p:sldIdLst>
    <p:sldId id="284" r:id="rId4"/>
    <p:sldId id="276" r:id="rId5"/>
    <p:sldId id="320" r:id="rId6"/>
    <p:sldId id="304" r:id="rId7"/>
    <p:sldId id="289" r:id="rId8"/>
    <p:sldId id="321" r:id="rId9"/>
    <p:sldId id="305" r:id="rId10"/>
    <p:sldId id="330" r:id="rId11"/>
    <p:sldId id="317" r:id="rId12"/>
    <p:sldId id="262" r:id="rId13"/>
    <p:sldId id="322" r:id="rId14"/>
    <p:sldId id="298" r:id="rId15"/>
    <p:sldId id="264" r:id="rId16"/>
    <p:sldId id="269" r:id="rId17"/>
    <p:sldId id="270" r:id="rId18"/>
    <p:sldId id="312" r:id="rId19"/>
    <p:sldId id="313" r:id="rId20"/>
    <p:sldId id="272" r:id="rId21"/>
    <p:sldId id="323" r:id="rId22"/>
    <p:sldId id="277" r:id="rId23"/>
    <p:sldId id="309" r:id="rId24"/>
    <p:sldId id="300" r:id="rId25"/>
    <p:sldId id="282" r:id="rId26"/>
    <p:sldId id="294" r:id="rId27"/>
    <p:sldId id="292" r:id="rId28"/>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A9937C-839B-47E5-8DD1-935CF0C05B82}">
          <p14:sldIdLst>
            <p14:sldId id="284"/>
            <p14:sldId id="276"/>
            <p14:sldId id="320"/>
            <p14:sldId id="304"/>
            <p14:sldId id="289"/>
            <p14:sldId id="321"/>
            <p14:sldId id="305"/>
            <p14:sldId id="330"/>
            <p14:sldId id="317"/>
            <p14:sldId id="262"/>
            <p14:sldId id="322"/>
            <p14:sldId id="298"/>
            <p14:sldId id="264"/>
            <p14:sldId id="269"/>
            <p14:sldId id="270"/>
            <p14:sldId id="312"/>
            <p14:sldId id="313"/>
            <p14:sldId id="272"/>
            <p14:sldId id="323"/>
            <p14:sldId id="277"/>
            <p14:sldId id="309"/>
            <p14:sldId id="300"/>
            <p14:sldId id="282"/>
            <p14:sldId id="294"/>
            <p14:sldId id="29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9DE941-27AF-10ED-DE78-1881EF031A2C}" name="Arjun" initials="AAR" userId="Arjun" providerId="None"/>
  <p188:author id="{481B3597-F996-B62E-A6C3-1FAA33D634D6}" name="Natassha Anne Kaur Bhagat Singh" initials="NAKBS" userId="S::tt6939@time.com.my::ba0be2cd-245b-4836-b5c6-bc60ca86a8c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54CD"/>
    <a:srgbClr val="FFF7FF"/>
    <a:srgbClr val="7F7F7F"/>
    <a:srgbClr val="FAFAFE"/>
    <a:srgbClr val="FAFAFD"/>
    <a:srgbClr val="FAFAFC"/>
    <a:srgbClr val="FFDEFF"/>
    <a:srgbClr val="F5F5F5"/>
    <a:srgbClr val="FAFAF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6" autoAdjust="0"/>
    <p:restoredTop sz="94536"/>
  </p:normalViewPr>
  <p:slideViewPr>
    <p:cSldViewPr snapToGrid="0">
      <p:cViewPr>
        <p:scale>
          <a:sx n="100" d="100"/>
          <a:sy n="100" d="100"/>
        </p:scale>
        <p:origin x="70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6A9533-B495-AB40-A5C3-E85F807711CE}" type="datetimeFigureOut">
              <a:rPr lang="en-US" smtClean="0"/>
              <a:t>5/11/2026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613EA5-9FDB-0340-A224-96C67F3EEC97}" type="slidenum">
              <a:rPr lang="en-US" smtClean="0"/>
              <a:t>‹#›</a:t>
            </a:fld>
            <a:endParaRPr lang="en-US"/>
          </a:p>
        </p:txBody>
      </p:sp>
    </p:spTree>
    <p:extLst>
      <p:ext uri="{BB962C8B-B14F-4D97-AF65-F5344CB8AC3E}">
        <p14:creationId xmlns:p14="http://schemas.microsoft.com/office/powerpoint/2010/main" val="1165530702"/>
      </p:ext>
    </p:extLst>
  </p:cSld>
  <p:clrMap bg1="lt1" tx1="dk1" bg2="lt2" tx2="dk2" accent1="accent1" accent2="accent2" accent3="accent3" accent4="accent4" accent5="accent5" accent6="accent6" hlink="hlink" folHlink="folHlink"/>
  <p:notesStyle>
    <a:lvl1pPr marL="0" algn="l" defTabSz="995324" rtl="0" eaLnBrk="1" latinLnBrk="0" hangingPunct="1">
      <a:defRPr sz="1306" kern="1200">
        <a:solidFill>
          <a:schemeClr val="tx1"/>
        </a:solidFill>
        <a:latin typeface="+mn-lt"/>
        <a:ea typeface="+mn-ea"/>
        <a:cs typeface="+mn-cs"/>
      </a:defRPr>
    </a:lvl1pPr>
    <a:lvl2pPr marL="497662" algn="l" defTabSz="995324" rtl="0" eaLnBrk="1" latinLnBrk="0" hangingPunct="1">
      <a:defRPr sz="1306" kern="1200">
        <a:solidFill>
          <a:schemeClr val="tx1"/>
        </a:solidFill>
        <a:latin typeface="+mn-lt"/>
        <a:ea typeface="+mn-ea"/>
        <a:cs typeface="+mn-cs"/>
      </a:defRPr>
    </a:lvl2pPr>
    <a:lvl3pPr marL="995324" algn="l" defTabSz="995324" rtl="0" eaLnBrk="1" latinLnBrk="0" hangingPunct="1">
      <a:defRPr sz="1306" kern="1200">
        <a:solidFill>
          <a:schemeClr val="tx1"/>
        </a:solidFill>
        <a:latin typeface="+mn-lt"/>
        <a:ea typeface="+mn-ea"/>
        <a:cs typeface="+mn-cs"/>
      </a:defRPr>
    </a:lvl3pPr>
    <a:lvl4pPr marL="1492987" algn="l" defTabSz="995324" rtl="0" eaLnBrk="1" latinLnBrk="0" hangingPunct="1">
      <a:defRPr sz="1306" kern="1200">
        <a:solidFill>
          <a:schemeClr val="tx1"/>
        </a:solidFill>
        <a:latin typeface="+mn-lt"/>
        <a:ea typeface="+mn-ea"/>
        <a:cs typeface="+mn-cs"/>
      </a:defRPr>
    </a:lvl4pPr>
    <a:lvl5pPr marL="1990649" algn="l" defTabSz="995324" rtl="0" eaLnBrk="1" latinLnBrk="0" hangingPunct="1">
      <a:defRPr sz="1306" kern="1200">
        <a:solidFill>
          <a:schemeClr val="tx1"/>
        </a:solidFill>
        <a:latin typeface="+mn-lt"/>
        <a:ea typeface="+mn-ea"/>
        <a:cs typeface="+mn-cs"/>
      </a:defRPr>
    </a:lvl5pPr>
    <a:lvl6pPr marL="2488311" algn="l" defTabSz="995324" rtl="0" eaLnBrk="1" latinLnBrk="0" hangingPunct="1">
      <a:defRPr sz="1306" kern="1200">
        <a:solidFill>
          <a:schemeClr val="tx1"/>
        </a:solidFill>
        <a:latin typeface="+mn-lt"/>
        <a:ea typeface="+mn-ea"/>
        <a:cs typeface="+mn-cs"/>
      </a:defRPr>
    </a:lvl6pPr>
    <a:lvl7pPr marL="2985973" algn="l" defTabSz="995324" rtl="0" eaLnBrk="1" latinLnBrk="0" hangingPunct="1">
      <a:defRPr sz="1306" kern="1200">
        <a:solidFill>
          <a:schemeClr val="tx1"/>
        </a:solidFill>
        <a:latin typeface="+mn-lt"/>
        <a:ea typeface="+mn-ea"/>
        <a:cs typeface="+mn-cs"/>
      </a:defRPr>
    </a:lvl7pPr>
    <a:lvl8pPr marL="3483635" algn="l" defTabSz="995324" rtl="0" eaLnBrk="1" latinLnBrk="0" hangingPunct="1">
      <a:defRPr sz="1306" kern="1200">
        <a:solidFill>
          <a:schemeClr val="tx1"/>
        </a:solidFill>
        <a:latin typeface="+mn-lt"/>
        <a:ea typeface="+mn-ea"/>
        <a:cs typeface="+mn-cs"/>
      </a:defRPr>
    </a:lvl8pPr>
    <a:lvl9pPr marL="3981298" algn="l" defTabSz="995324" rtl="0" eaLnBrk="1" latinLnBrk="0" hangingPunct="1">
      <a:defRPr sz="13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13EA5-9FDB-0340-A224-96C67F3EEC97}" type="slidenum">
              <a:rPr lang="en-US" smtClean="0"/>
              <a:t>7</a:t>
            </a:fld>
            <a:endParaRPr lang="en-US"/>
          </a:p>
        </p:txBody>
      </p:sp>
    </p:spTree>
    <p:extLst>
      <p:ext uri="{BB962C8B-B14F-4D97-AF65-F5344CB8AC3E}">
        <p14:creationId xmlns:p14="http://schemas.microsoft.com/office/powerpoint/2010/main" val="338104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32CAF-538E-1960-F2E6-6A84AC5B0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CBD95-95B2-CE3F-CE6B-5A35D96AAB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98BEAE-BE37-D430-D47B-525A66E425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C4C149-3A16-F030-3F02-94E2C3B9D9B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3613EA5-9FDB-0340-A224-96C67F3EEC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519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E3613EA5-9FDB-0340-A224-96C67F3EEC97}" type="slidenum">
              <a:rPr lang="en-US" smtClean="0"/>
              <a:t>10</a:t>
            </a:fld>
            <a:endParaRPr lang="en-US"/>
          </a:p>
        </p:txBody>
      </p:sp>
    </p:spTree>
    <p:extLst>
      <p:ext uri="{BB962C8B-B14F-4D97-AF65-F5344CB8AC3E}">
        <p14:creationId xmlns:p14="http://schemas.microsoft.com/office/powerpoint/2010/main" val="1230497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13EA5-9FDB-0340-A224-96C67F3EEC97}" type="slidenum">
              <a:rPr lang="en-US" smtClean="0"/>
              <a:t>12</a:t>
            </a:fld>
            <a:endParaRPr lang="en-US"/>
          </a:p>
        </p:txBody>
      </p:sp>
    </p:spTree>
    <p:extLst>
      <p:ext uri="{BB962C8B-B14F-4D97-AF65-F5344CB8AC3E}">
        <p14:creationId xmlns:p14="http://schemas.microsoft.com/office/powerpoint/2010/main" val="551731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13EA5-9FDB-0340-A224-96C67F3EEC97}" type="slidenum">
              <a:rPr lang="en-US" smtClean="0"/>
              <a:t>21</a:t>
            </a:fld>
            <a:endParaRPr lang="en-US"/>
          </a:p>
        </p:txBody>
      </p:sp>
    </p:spTree>
    <p:extLst>
      <p:ext uri="{BB962C8B-B14F-4D97-AF65-F5344CB8AC3E}">
        <p14:creationId xmlns:p14="http://schemas.microsoft.com/office/powerpoint/2010/main" val="2696919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15: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GB"/>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774281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16177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GB"/>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14588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8C0F49B-3078-3D49-894B-3075E9AA6AED}"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076918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GB"/>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8C0F49B-3078-3D49-894B-3075E9AA6AED}"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10875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8C0F49B-3078-3D49-894B-3075E9AA6AED}"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39076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0F49B-3078-3D49-894B-3075E9AA6AED}"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150818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486919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GB"/>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71546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145153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698458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GB"/>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004982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787688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GB"/>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78271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8C0F49B-3078-3D49-894B-3075E9AA6AED}"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258689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GB"/>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8C0F49B-3078-3D49-894B-3075E9AA6AED}"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475144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8C0F49B-3078-3D49-894B-3075E9AA6AED}"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686465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0F49B-3078-3D49-894B-3075E9AA6AED}"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500460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1728902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GB"/>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5689200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5367295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7657155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7"/>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7"/>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03246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5"/>
        <p:cNvGrpSpPr/>
        <p:nvPr/>
      </p:nvGrpSpPr>
      <p:grpSpPr>
        <a:xfrm>
          <a:off x="0" y="0"/>
          <a:ext cx="0" cy="0"/>
          <a:chOff x="0" y="0"/>
          <a:chExt cx="0" cy="0"/>
        </a:xfrm>
      </p:grpSpPr>
      <p:sp>
        <p:nvSpPr>
          <p:cNvPr id="26" name="Google Shape;26;p19"/>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9"/>
          <p:cNvSpPr txBox="1">
            <a:spLocks noGrp="1"/>
          </p:cNvSpPr>
          <p:nvPr>
            <p:ph type="body" idx="1"/>
          </p:nvPr>
        </p:nvSpPr>
        <p:spPr>
          <a:xfrm>
            <a:off x="457392" y="1599963"/>
            <a:ext cx="8233058" cy="4525291"/>
          </a:xfrm>
          <a:prstGeom prst="rect">
            <a:avLst/>
          </a:prstGeom>
          <a:noFill/>
          <a:ln>
            <a:noFill/>
          </a:ln>
        </p:spPr>
        <p:txBody>
          <a:bodyPr spcFirstLastPara="1" wrap="square" lIns="91425" tIns="45700" rIns="91425" bIns="45700" anchor="t" anchorCtr="0">
            <a:normAutofit/>
          </a:bodyPr>
          <a:lstStyle>
            <a:lvl1pPr marL="457154" lvl="0" indent="-342866" algn="l">
              <a:spcBef>
                <a:spcPts val="360"/>
              </a:spcBef>
              <a:spcAft>
                <a:spcPts val="0"/>
              </a:spcAft>
              <a:buClr>
                <a:schemeClr val="dk1"/>
              </a:buClr>
              <a:buSzPts val="1800"/>
              <a:buChar char="•"/>
              <a:defRPr/>
            </a:lvl1pPr>
            <a:lvl2pPr marL="914309" lvl="1" indent="-342866" algn="l">
              <a:spcBef>
                <a:spcPts val="360"/>
              </a:spcBef>
              <a:spcAft>
                <a:spcPts val="0"/>
              </a:spcAft>
              <a:buClr>
                <a:schemeClr val="dk1"/>
              </a:buClr>
              <a:buSzPts val="1800"/>
              <a:buChar char="–"/>
              <a:defRPr/>
            </a:lvl2pPr>
            <a:lvl3pPr marL="1371463" lvl="2" indent="-342866" algn="l">
              <a:spcBef>
                <a:spcPts val="360"/>
              </a:spcBef>
              <a:spcAft>
                <a:spcPts val="0"/>
              </a:spcAft>
              <a:buClr>
                <a:schemeClr val="dk1"/>
              </a:buClr>
              <a:buSzPts val="1800"/>
              <a:buChar char="•"/>
              <a:defRPr/>
            </a:lvl3pPr>
            <a:lvl4pPr marL="1828617" lvl="3" indent="-342866" algn="l">
              <a:spcBef>
                <a:spcPts val="360"/>
              </a:spcBef>
              <a:spcAft>
                <a:spcPts val="0"/>
              </a:spcAft>
              <a:buClr>
                <a:schemeClr val="dk1"/>
              </a:buClr>
              <a:buSzPts val="1800"/>
              <a:buChar char="–"/>
              <a:defRPr/>
            </a:lvl4pPr>
            <a:lvl5pPr marL="2285771" lvl="4" indent="-342866" algn="l">
              <a:spcBef>
                <a:spcPts val="360"/>
              </a:spcBef>
              <a:spcAft>
                <a:spcPts val="0"/>
              </a:spcAft>
              <a:buClr>
                <a:schemeClr val="dk1"/>
              </a:buClr>
              <a:buSzPts val="1800"/>
              <a:buChar char="»"/>
              <a:defRPr/>
            </a:lvl5pPr>
            <a:lvl6pPr marL="2742926" lvl="5" indent="-342866" algn="l">
              <a:spcBef>
                <a:spcPts val="360"/>
              </a:spcBef>
              <a:spcAft>
                <a:spcPts val="0"/>
              </a:spcAft>
              <a:buClr>
                <a:schemeClr val="dk1"/>
              </a:buClr>
              <a:buSzPts val="1800"/>
              <a:buChar char="•"/>
              <a:defRPr/>
            </a:lvl6pPr>
            <a:lvl7pPr marL="3200080" lvl="6" indent="-342866" algn="l">
              <a:spcBef>
                <a:spcPts val="360"/>
              </a:spcBef>
              <a:spcAft>
                <a:spcPts val="0"/>
              </a:spcAft>
              <a:buClr>
                <a:schemeClr val="dk1"/>
              </a:buClr>
              <a:buSzPts val="1800"/>
              <a:buChar char="•"/>
              <a:defRPr/>
            </a:lvl7pPr>
            <a:lvl8pPr marL="3657234" lvl="7" indent="-342866" algn="l">
              <a:spcBef>
                <a:spcPts val="360"/>
              </a:spcBef>
              <a:spcAft>
                <a:spcPts val="0"/>
              </a:spcAft>
              <a:buClr>
                <a:schemeClr val="dk1"/>
              </a:buClr>
              <a:buSzPts val="1800"/>
              <a:buChar char="•"/>
              <a:defRPr/>
            </a:lvl8pPr>
            <a:lvl9pPr marL="4114389" lvl="8" indent="-342866" algn="l">
              <a:spcBef>
                <a:spcPts val="360"/>
              </a:spcBef>
              <a:spcAft>
                <a:spcPts val="0"/>
              </a:spcAft>
              <a:buClr>
                <a:schemeClr val="dk1"/>
              </a:buClr>
              <a:buSzPts val="1800"/>
              <a:buChar char="•"/>
              <a:defRPr/>
            </a:lvl9pPr>
          </a:lstStyle>
          <a:p>
            <a:endParaRPr/>
          </a:p>
        </p:txBody>
      </p:sp>
      <p:sp>
        <p:nvSpPr>
          <p:cNvPr id="28" name="Google Shape;28;p19"/>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4207160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722616" y="4406246"/>
            <a:ext cx="7775666" cy="1361873"/>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0"/>
          <p:cNvSpPr txBox="1">
            <a:spLocks noGrp="1"/>
          </p:cNvSpPr>
          <p:nvPr>
            <p:ph type="body" idx="1"/>
          </p:nvPr>
        </p:nvSpPr>
        <p:spPr>
          <a:xfrm>
            <a:off x="722616" y="2906282"/>
            <a:ext cx="7775666" cy="1499964"/>
          </a:xfrm>
          <a:prstGeom prst="rect">
            <a:avLst/>
          </a:prstGeom>
          <a:noFill/>
          <a:ln>
            <a:noFill/>
          </a:ln>
        </p:spPr>
        <p:txBody>
          <a:bodyPr spcFirstLastPara="1" wrap="square" lIns="91425" tIns="45700" rIns="91425" bIns="45700" anchor="b" anchorCtr="0">
            <a:normAutofit/>
          </a:bodyPr>
          <a:lstStyle>
            <a:lvl1pPr marL="457154" lvl="0" indent="-228577" algn="l">
              <a:spcBef>
                <a:spcPts val="400"/>
              </a:spcBef>
              <a:spcAft>
                <a:spcPts val="0"/>
              </a:spcAft>
              <a:buClr>
                <a:srgbClr val="888888"/>
              </a:buClr>
              <a:buSzPts val="2000"/>
              <a:buNone/>
              <a:defRPr sz="2000">
                <a:solidFill>
                  <a:srgbClr val="888888"/>
                </a:solidFill>
              </a:defRPr>
            </a:lvl1pPr>
            <a:lvl2pPr marL="914309" lvl="1" indent="-228577" algn="l">
              <a:spcBef>
                <a:spcPts val="360"/>
              </a:spcBef>
              <a:spcAft>
                <a:spcPts val="0"/>
              </a:spcAft>
              <a:buClr>
                <a:srgbClr val="888888"/>
              </a:buClr>
              <a:buSzPts val="1800"/>
              <a:buNone/>
              <a:defRPr sz="1800">
                <a:solidFill>
                  <a:srgbClr val="888888"/>
                </a:solidFill>
              </a:defRPr>
            </a:lvl2pPr>
            <a:lvl3pPr marL="1371463" lvl="2" indent="-228577" algn="l">
              <a:spcBef>
                <a:spcPts val="320"/>
              </a:spcBef>
              <a:spcAft>
                <a:spcPts val="0"/>
              </a:spcAft>
              <a:buClr>
                <a:srgbClr val="888888"/>
              </a:buClr>
              <a:buSzPts val="1600"/>
              <a:buNone/>
              <a:defRPr sz="1600">
                <a:solidFill>
                  <a:srgbClr val="888888"/>
                </a:solidFill>
              </a:defRPr>
            </a:lvl3pPr>
            <a:lvl4pPr marL="1828617" lvl="3" indent="-228577" algn="l">
              <a:spcBef>
                <a:spcPts val="280"/>
              </a:spcBef>
              <a:spcAft>
                <a:spcPts val="0"/>
              </a:spcAft>
              <a:buClr>
                <a:srgbClr val="888888"/>
              </a:buClr>
              <a:buSzPts val="1400"/>
              <a:buNone/>
              <a:defRPr sz="1400">
                <a:solidFill>
                  <a:srgbClr val="888888"/>
                </a:solidFill>
              </a:defRPr>
            </a:lvl4pPr>
            <a:lvl5pPr marL="2285771" lvl="4" indent="-228577" algn="l">
              <a:spcBef>
                <a:spcPts val="280"/>
              </a:spcBef>
              <a:spcAft>
                <a:spcPts val="0"/>
              </a:spcAft>
              <a:buClr>
                <a:srgbClr val="888888"/>
              </a:buClr>
              <a:buSzPts val="1400"/>
              <a:buNone/>
              <a:defRPr sz="1400">
                <a:solidFill>
                  <a:srgbClr val="888888"/>
                </a:solidFill>
              </a:defRPr>
            </a:lvl5pPr>
            <a:lvl6pPr marL="2742926" lvl="5" indent="-228577" algn="l">
              <a:spcBef>
                <a:spcPts val="280"/>
              </a:spcBef>
              <a:spcAft>
                <a:spcPts val="0"/>
              </a:spcAft>
              <a:buClr>
                <a:srgbClr val="888888"/>
              </a:buClr>
              <a:buSzPts val="1400"/>
              <a:buNone/>
              <a:defRPr sz="1400">
                <a:solidFill>
                  <a:srgbClr val="888888"/>
                </a:solidFill>
              </a:defRPr>
            </a:lvl6pPr>
            <a:lvl7pPr marL="3200080" lvl="6" indent="-228577" algn="l">
              <a:spcBef>
                <a:spcPts val="280"/>
              </a:spcBef>
              <a:spcAft>
                <a:spcPts val="0"/>
              </a:spcAft>
              <a:buClr>
                <a:srgbClr val="888888"/>
              </a:buClr>
              <a:buSzPts val="1400"/>
              <a:buNone/>
              <a:defRPr sz="1400">
                <a:solidFill>
                  <a:srgbClr val="888888"/>
                </a:solidFill>
              </a:defRPr>
            </a:lvl7pPr>
            <a:lvl8pPr marL="3657234" lvl="7" indent="-228577" algn="l">
              <a:spcBef>
                <a:spcPts val="280"/>
              </a:spcBef>
              <a:spcAft>
                <a:spcPts val="0"/>
              </a:spcAft>
              <a:buClr>
                <a:srgbClr val="888888"/>
              </a:buClr>
              <a:buSzPts val="1400"/>
              <a:buNone/>
              <a:defRPr sz="1400">
                <a:solidFill>
                  <a:srgbClr val="888888"/>
                </a:solidFill>
              </a:defRPr>
            </a:lvl8pPr>
            <a:lvl9pPr marL="4114389" lvl="8" indent="-228577"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0"/>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050245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457392" y="1599963"/>
            <a:ext cx="4040297" cy="4525291"/>
          </a:xfrm>
          <a:prstGeom prst="rect">
            <a:avLst/>
          </a:prstGeom>
          <a:noFill/>
          <a:ln>
            <a:noFill/>
          </a:ln>
        </p:spPr>
        <p:txBody>
          <a:bodyPr spcFirstLastPara="1" wrap="square" lIns="91425" tIns="45700" rIns="91425" bIns="45700" anchor="t" anchorCtr="0">
            <a:normAutofit/>
          </a:bodyPr>
          <a:lstStyle>
            <a:lvl1pPr marL="457154" lvl="0" indent="-406359" algn="l">
              <a:spcBef>
                <a:spcPts val="560"/>
              </a:spcBef>
              <a:spcAft>
                <a:spcPts val="0"/>
              </a:spcAft>
              <a:buClr>
                <a:schemeClr val="dk1"/>
              </a:buClr>
              <a:buSzPts val="2800"/>
              <a:buChar char="•"/>
              <a:defRPr sz="2800"/>
            </a:lvl1pPr>
            <a:lvl2pPr marL="914309" lvl="1" indent="-380962" algn="l">
              <a:spcBef>
                <a:spcPts val="480"/>
              </a:spcBef>
              <a:spcAft>
                <a:spcPts val="0"/>
              </a:spcAft>
              <a:buClr>
                <a:schemeClr val="dk1"/>
              </a:buClr>
              <a:buSzPts val="2400"/>
              <a:buChar char="–"/>
              <a:defRPr sz="2400"/>
            </a:lvl2pPr>
            <a:lvl3pPr marL="1371463" lvl="2" indent="-355564" algn="l">
              <a:spcBef>
                <a:spcPts val="400"/>
              </a:spcBef>
              <a:spcAft>
                <a:spcPts val="0"/>
              </a:spcAft>
              <a:buClr>
                <a:schemeClr val="dk1"/>
              </a:buClr>
              <a:buSzPts val="2000"/>
              <a:buChar char="•"/>
              <a:defRPr sz="2000"/>
            </a:lvl3pPr>
            <a:lvl4pPr marL="1828617" lvl="3" indent="-342866" algn="l">
              <a:spcBef>
                <a:spcPts val="360"/>
              </a:spcBef>
              <a:spcAft>
                <a:spcPts val="0"/>
              </a:spcAft>
              <a:buClr>
                <a:schemeClr val="dk1"/>
              </a:buClr>
              <a:buSzPts val="1800"/>
              <a:buChar char="–"/>
              <a:defRPr sz="1800"/>
            </a:lvl4pPr>
            <a:lvl5pPr marL="2285771" lvl="4" indent="-342866" algn="l">
              <a:spcBef>
                <a:spcPts val="360"/>
              </a:spcBef>
              <a:spcAft>
                <a:spcPts val="0"/>
              </a:spcAft>
              <a:buClr>
                <a:schemeClr val="dk1"/>
              </a:buClr>
              <a:buSzPts val="1800"/>
              <a:buChar char="»"/>
              <a:defRPr sz="1800"/>
            </a:lvl5pPr>
            <a:lvl6pPr marL="2742926" lvl="5" indent="-342866" algn="l">
              <a:spcBef>
                <a:spcPts val="360"/>
              </a:spcBef>
              <a:spcAft>
                <a:spcPts val="0"/>
              </a:spcAft>
              <a:buClr>
                <a:schemeClr val="dk1"/>
              </a:buClr>
              <a:buSzPts val="1800"/>
              <a:buChar char="•"/>
              <a:defRPr sz="1800"/>
            </a:lvl6pPr>
            <a:lvl7pPr marL="3200080" lvl="6" indent="-342866" algn="l">
              <a:spcBef>
                <a:spcPts val="360"/>
              </a:spcBef>
              <a:spcAft>
                <a:spcPts val="0"/>
              </a:spcAft>
              <a:buClr>
                <a:schemeClr val="dk1"/>
              </a:buClr>
              <a:buSzPts val="1800"/>
              <a:buChar char="•"/>
              <a:defRPr sz="1800"/>
            </a:lvl7pPr>
            <a:lvl8pPr marL="3657234" lvl="7" indent="-342866" algn="l">
              <a:spcBef>
                <a:spcPts val="360"/>
              </a:spcBef>
              <a:spcAft>
                <a:spcPts val="0"/>
              </a:spcAft>
              <a:buClr>
                <a:schemeClr val="dk1"/>
              </a:buClr>
              <a:buSzPts val="1800"/>
              <a:buChar char="•"/>
              <a:defRPr sz="1800"/>
            </a:lvl8pPr>
            <a:lvl9pPr marL="4114389" lvl="8" indent="-342866" algn="l">
              <a:spcBef>
                <a:spcPts val="360"/>
              </a:spcBef>
              <a:spcAft>
                <a:spcPts val="0"/>
              </a:spcAft>
              <a:buClr>
                <a:schemeClr val="dk1"/>
              </a:buClr>
              <a:buSzPts val="1800"/>
              <a:buChar char="•"/>
              <a:defRPr sz="1800"/>
            </a:lvl9pPr>
          </a:lstStyle>
          <a:p>
            <a:endParaRPr/>
          </a:p>
        </p:txBody>
      </p:sp>
      <p:sp>
        <p:nvSpPr>
          <p:cNvPr id="40" name="Google Shape;40;p21"/>
          <p:cNvSpPr txBox="1">
            <a:spLocks noGrp="1"/>
          </p:cNvSpPr>
          <p:nvPr>
            <p:ph type="body" idx="2"/>
          </p:nvPr>
        </p:nvSpPr>
        <p:spPr>
          <a:xfrm>
            <a:off x="4650153" y="1599963"/>
            <a:ext cx="4040297" cy="4525291"/>
          </a:xfrm>
          <a:prstGeom prst="rect">
            <a:avLst/>
          </a:prstGeom>
          <a:noFill/>
          <a:ln>
            <a:noFill/>
          </a:ln>
        </p:spPr>
        <p:txBody>
          <a:bodyPr spcFirstLastPara="1" wrap="square" lIns="91425" tIns="45700" rIns="91425" bIns="45700" anchor="t" anchorCtr="0">
            <a:normAutofit/>
          </a:bodyPr>
          <a:lstStyle>
            <a:lvl1pPr marL="457154" lvl="0" indent="-406359" algn="l">
              <a:spcBef>
                <a:spcPts val="560"/>
              </a:spcBef>
              <a:spcAft>
                <a:spcPts val="0"/>
              </a:spcAft>
              <a:buClr>
                <a:schemeClr val="dk1"/>
              </a:buClr>
              <a:buSzPts val="2800"/>
              <a:buChar char="•"/>
              <a:defRPr sz="2800"/>
            </a:lvl1pPr>
            <a:lvl2pPr marL="914309" lvl="1" indent="-380962" algn="l">
              <a:spcBef>
                <a:spcPts val="480"/>
              </a:spcBef>
              <a:spcAft>
                <a:spcPts val="0"/>
              </a:spcAft>
              <a:buClr>
                <a:schemeClr val="dk1"/>
              </a:buClr>
              <a:buSzPts val="2400"/>
              <a:buChar char="–"/>
              <a:defRPr sz="2400"/>
            </a:lvl2pPr>
            <a:lvl3pPr marL="1371463" lvl="2" indent="-355564" algn="l">
              <a:spcBef>
                <a:spcPts val="400"/>
              </a:spcBef>
              <a:spcAft>
                <a:spcPts val="0"/>
              </a:spcAft>
              <a:buClr>
                <a:schemeClr val="dk1"/>
              </a:buClr>
              <a:buSzPts val="2000"/>
              <a:buChar char="•"/>
              <a:defRPr sz="2000"/>
            </a:lvl3pPr>
            <a:lvl4pPr marL="1828617" lvl="3" indent="-342866" algn="l">
              <a:spcBef>
                <a:spcPts val="360"/>
              </a:spcBef>
              <a:spcAft>
                <a:spcPts val="0"/>
              </a:spcAft>
              <a:buClr>
                <a:schemeClr val="dk1"/>
              </a:buClr>
              <a:buSzPts val="1800"/>
              <a:buChar char="–"/>
              <a:defRPr sz="1800"/>
            </a:lvl4pPr>
            <a:lvl5pPr marL="2285771" lvl="4" indent="-342866" algn="l">
              <a:spcBef>
                <a:spcPts val="360"/>
              </a:spcBef>
              <a:spcAft>
                <a:spcPts val="0"/>
              </a:spcAft>
              <a:buClr>
                <a:schemeClr val="dk1"/>
              </a:buClr>
              <a:buSzPts val="1800"/>
              <a:buChar char="»"/>
              <a:defRPr sz="1800"/>
            </a:lvl5pPr>
            <a:lvl6pPr marL="2742926" lvl="5" indent="-342866" algn="l">
              <a:spcBef>
                <a:spcPts val="360"/>
              </a:spcBef>
              <a:spcAft>
                <a:spcPts val="0"/>
              </a:spcAft>
              <a:buClr>
                <a:schemeClr val="dk1"/>
              </a:buClr>
              <a:buSzPts val="1800"/>
              <a:buChar char="•"/>
              <a:defRPr sz="1800"/>
            </a:lvl6pPr>
            <a:lvl7pPr marL="3200080" lvl="6" indent="-342866" algn="l">
              <a:spcBef>
                <a:spcPts val="360"/>
              </a:spcBef>
              <a:spcAft>
                <a:spcPts val="0"/>
              </a:spcAft>
              <a:buClr>
                <a:schemeClr val="dk1"/>
              </a:buClr>
              <a:buSzPts val="1800"/>
              <a:buChar char="•"/>
              <a:defRPr sz="1800"/>
            </a:lvl7pPr>
            <a:lvl8pPr marL="3657234" lvl="7" indent="-342866" algn="l">
              <a:spcBef>
                <a:spcPts val="360"/>
              </a:spcBef>
              <a:spcAft>
                <a:spcPts val="0"/>
              </a:spcAft>
              <a:buClr>
                <a:schemeClr val="dk1"/>
              </a:buClr>
              <a:buSzPts val="1800"/>
              <a:buChar char="•"/>
              <a:defRPr sz="1800"/>
            </a:lvl8pPr>
            <a:lvl9pPr marL="4114389" lvl="8" indent="-342866" algn="l">
              <a:spcBef>
                <a:spcPts val="360"/>
              </a:spcBef>
              <a:spcAft>
                <a:spcPts val="0"/>
              </a:spcAft>
              <a:buClr>
                <a:schemeClr val="dk1"/>
              </a:buClr>
              <a:buSzPts val="1800"/>
              <a:buChar char="•"/>
              <a:defRPr sz="1800"/>
            </a:lvl9pPr>
          </a:lstStyle>
          <a:p>
            <a:endParaRPr/>
          </a:p>
        </p:txBody>
      </p:sp>
      <p:sp>
        <p:nvSpPr>
          <p:cNvPr id="41" name="Google Shape;41;p21"/>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7838112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457392" y="1534885"/>
            <a:ext cx="4041886" cy="639667"/>
          </a:xfrm>
          <a:prstGeom prst="rect">
            <a:avLst/>
          </a:prstGeom>
          <a:noFill/>
          <a:ln>
            <a:noFill/>
          </a:ln>
        </p:spPr>
        <p:txBody>
          <a:bodyPr spcFirstLastPara="1" wrap="square" lIns="91425" tIns="45700" rIns="91425" bIns="45700" anchor="b" anchorCtr="0">
            <a:normAutofit/>
          </a:bodyPr>
          <a:lstStyle>
            <a:lvl1pPr marL="457154" lvl="0" indent="-228577" algn="l">
              <a:spcBef>
                <a:spcPts val="480"/>
              </a:spcBef>
              <a:spcAft>
                <a:spcPts val="0"/>
              </a:spcAft>
              <a:buClr>
                <a:schemeClr val="dk1"/>
              </a:buClr>
              <a:buSzPts val="2400"/>
              <a:buNone/>
              <a:defRPr sz="2400" b="1"/>
            </a:lvl1pPr>
            <a:lvl2pPr marL="914309" lvl="1" indent="-228577" algn="l">
              <a:spcBef>
                <a:spcPts val="400"/>
              </a:spcBef>
              <a:spcAft>
                <a:spcPts val="0"/>
              </a:spcAft>
              <a:buClr>
                <a:schemeClr val="dk1"/>
              </a:buClr>
              <a:buSzPts val="2000"/>
              <a:buNone/>
              <a:defRPr sz="2000" b="1"/>
            </a:lvl2pPr>
            <a:lvl3pPr marL="1371463" lvl="2" indent="-228577" algn="l">
              <a:spcBef>
                <a:spcPts val="360"/>
              </a:spcBef>
              <a:spcAft>
                <a:spcPts val="0"/>
              </a:spcAft>
              <a:buClr>
                <a:schemeClr val="dk1"/>
              </a:buClr>
              <a:buSzPts val="1800"/>
              <a:buNone/>
              <a:defRPr sz="1800" b="1"/>
            </a:lvl3pPr>
            <a:lvl4pPr marL="1828617" lvl="3" indent="-228577" algn="l">
              <a:spcBef>
                <a:spcPts val="320"/>
              </a:spcBef>
              <a:spcAft>
                <a:spcPts val="0"/>
              </a:spcAft>
              <a:buClr>
                <a:schemeClr val="dk1"/>
              </a:buClr>
              <a:buSzPts val="1600"/>
              <a:buNone/>
              <a:defRPr sz="1600" b="1"/>
            </a:lvl4pPr>
            <a:lvl5pPr marL="2285771" lvl="4" indent="-228577" algn="l">
              <a:spcBef>
                <a:spcPts val="320"/>
              </a:spcBef>
              <a:spcAft>
                <a:spcPts val="0"/>
              </a:spcAft>
              <a:buClr>
                <a:schemeClr val="dk1"/>
              </a:buClr>
              <a:buSzPts val="1600"/>
              <a:buNone/>
              <a:defRPr sz="1600" b="1"/>
            </a:lvl5pPr>
            <a:lvl6pPr marL="2742926" lvl="5" indent="-228577" algn="l">
              <a:spcBef>
                <a:spcPts val="320"/>
              </a:spcBef>
              <a:spcAft>
                <a:spcPts val="0"/>
              </a:spcAft>
              <a:buClr>
                <a:schemeClr val="dk1"/>
              </a:buClr>
              <a:buSzPts val="1600"/>
              <a:buNone/>
              <a:defRPr sz="1600" b="1"/>
            </a:lvl6pPr>
            <a:lvl7pPr marL="3200080" lvl="6" indent="-228577" algn="l">
              <a:spcBef>
                <a:spcPts val="320"/>
              </a:spcBef>
              <a:spcAft>
                <a:spcPts val="0"/>
              </a:spcAft>
              <a:buClr>
                <a:schemeClr val="dk1"/>
              </a:buClr>
              <a:buSzPts val="1600"/>
              <a:buNone/>
              <a:defRPr sz="1600" b="1"/>
            </a:lvl7pPr>
            <a:lvl8pPr marL="3657234" lvl="7" indent="-228577" algn="l">
              <a:spcBef>
                <a:spcPts val="320"/>
              </a:spcBef>
              <a:spcAft>
                <a:spcPts val="0"/>
              </a:spcAft>
              <a:buClr>
                <a:schemeClr val="dk1"/>
              </a:buClr>
              <a:buSzPts val="1600"/>
              <a:buNone/>
              <a:defRPr sz="1600" b="1"/>
            </a:lvl8pPr>
            <a:lvl9pPr marL="4114389" lvl="8" indent="-228577" algn="l">
              <a:spcBef>
                <a:spcPts val="320"/>
              </a:spcBef>
              <a:spcAft>
                <a:spcPts val="0"/>
              </a:spcAft>
              <a:buClr>
                <a:schemeClr val="dk1"/>
              </a:buClr>
              <a:buSzPts val="1600"/>
              <a:buNone/>
              <a:defRPr sz="1600" b="1"/>
            </a:lvl9pPr>
          </a:lstStyle>
          <a:p>
            <a:endParaRPr/>
          </a:p>
        </p:txBody>
      </p:sp>
      <p:sp>
        <p:nvSpPr>
          <p:cNvPr id="47" name="Google Shape;47;p22"/>
          <p:cNvSpPr txBox="1">
            <a:spLocks noGrp="1"/>
          </p:cNvSpPr>
          <p:nvPr>
            <p:ph type="body" idx="2"/>
          </p:nvPr>
        </p:nvSpPr>
        <p:spPr>
          <a:xfrm>
            <a:off x="457392" y="2174552"/>
            <a:ext cx="4041886" cy="3950702"/>
          </a:xfrm>
          <a:prstGeom prst="rect">
            <a:avLst/>
          </a:prstGeom>
          <a:noFill/>
          <a:ln>
            <a:noFill/>
          </a:ln>
        </p:spPr>
        <p:txBody>
          <a:bodyPr spcFirstLastPara="1" wrap="square" lIns="91425" tIns="45700" rIns="91425" bIns="45700" anchor="t" anchorCtr="0">
            <a:normAutofit/>
          </a:bodyPr>
          <a:lstStyle>
            <a:lvl1pPr marL="457154" lvl="0" indent="-380962" algn="l">
              <a:spcBef>
                <a:spcPts val="480"/>
              </a:spcBef>
              <a:spcAft>
                <a:spcPts val="0"/>
              </a:spcAft>
              <a:buClr>
                <a:schemeClr val="dk1"/>
              </a:buClr>
              <a:buSzPts val="2400"/>
              <a:buChar char="•"/>
              <a:defRPr sz="2400"/>
            </a:lvl1pPr>
            <a:lvl2pPr marL="914309" lvl="1" indent="-355564" algn="l">
              <a:spcBef>
                <a:spcPts val="400"/>
              </a:spcBef>
              <a:spcAft>
                <a:spcPts val="0"/>
              </a:spcAft>
              <a:buClr>
                <a:schemeClr val="dk1"/>
              </a:buClr>
              <a:buSzPts val="2000"/>
              <a:buChar char="–"/>
              <a:defRPr sz="2000"/>
            </a:lvl2pPr>
            <a:lvl3pPr marL="1371463" lvl="2" indent="-342866" algn="l">
              <a:spcBef>
                <a:spcPts val="360"/>
              </a:spcBef>
              <a:spcAft>
                <a:spcPts val="0"/>
              </a:spcAft>
              <a:buClr>
                <a:schemeClr val="dk1"/>
              </a:buClr>
              <a:buSzPts val="1800"/>
              <a:buChar char="•"/>
              <a:defRPr sz="1800"/>
            </a:lvl3pPr>
            <a:lvl4pPr marL="1828617" lvl="3" indent="-330167" algn="l">
              <a:spcBef>
                <a:spcPts val="320"/>
              </a:spcBef>
              <a:spcAft>
                <a:spcPts val="0"/>
              </a:spcAft>
              <a:buClr>
                <a:schemeClr val="dk1"/>
              </a:buClr>
              <a:buSzPts val="1600"/>
              <a:buChar char="–"/>
              <a:defRPr sz="1600"/>
            </a:lvl4pPr>
            <a:lvl5pPr marL="2285771" lvl="4" indent="-330167" algn="l">
              <a:spcBef>
                <a:spcPts val="320"/>
              </a:spcBef>
              <a:spcAft>
                <a:spcPts val="0"/>
              </a:spcAft>
              <a:buClr>
                <a:schemeClr val="dk1"/>
              </a:buClr>
              <a:buSzPts val="1600"/>
              <a:buChar char="»"/>
              <a:defRPr sz="1600"/>
            </a:lvl5pPr>
            <a:lvl6pPr marL="2742926" lvl="5" indent="-330167" algn="l">
              <a:spcBef>
                <a:spcPts val="320"/>
              </a:spcBef>
              <a:spcAft>
                <a:spcPts val="0"/>
              </a:spcAft>
              <a:buClr>
                <a:schemeClr val="dk1"/>
              </a:buClr>
              <a:buSzPts val="1600"/>
              <a:buChar char="•"/>
              <a:defRPr sz="1600"/>
            </a:lvl6pPr>
            <a:lvl7pPr marL="3200080" lvl="6" indent="-330167" algn="l">
              <a:spcBef>
                <a:spcPts val="320"/>
              </a:spcBef>
              <a:spcAft>
                <a:spcPts val="0"/>
              </a:spcAft>
              <a:buClr>
                <a:schemeClr val="dk1"/>
              </a:buClr>
              <a:buSzPts val="1600"/>
              <a:buChar char="•"/>
              <a:defRPr sz="1600"/>
            </a:lvl7pPr>
            <a:lvl8pPr marL="3657234" lvl="7" indent="-330167" algn="l">
              <a:spcBef>
                <a:spcPts val="320"/>
              </a:spcBef>
              <a:spcAft>
                <a:spcPts val="0"/>
              </a:spcAft>
              <a:buClr>
                <a:schemeClr val="dk1"/>
              </a:buClr>
              <a:buSzPts val="1600"/>
              <a:buChar char="•"/>
              <a:defRPr sz="1600"/>
            </a:lvl8pPr>
            <a:lvl9pPr marL="4114389" lvl="8" indent="-330167" algn="l">
              <a:spcBef>
                <a:spcPts val="320"/>
              </a:spcBef>
              <a:spcAft>
                <a:spcPts val="0"/>
              </a:spcAft>
              <a:buClr>
                <a:schemeClr val="dk1"/>
              </a:buClr>
              <a:buSzPts val="1600"/>
              <a:buChar char="•"/>
              <a:defRPr sz="1600"/>
            </a:lvl9pPr>
          </a:lstStyle>
          <a:p>
            <a:endParaRPr/>
          </a:p>
        </p:txBody>
      </p:sp>
      <p:sp>
        <p:nvSpPr>
          <p:cNvPr id="48" name="Google Shape;48;p22"/>
          <p:cNvSpPr txBox="1">
            <a:spLocks noGrp="1"/>
          </p:cNvSpPr>
          <p:nvPr>
            <p:ph type="body" idx="3"/>
          </p:nvPr>
        </p:nvSpPr>
        <p:spPr>
          <a:xfrm>
            <a:off x="4646977" y="1534885"/>
            <a:ext cx="4043473" cy="639667"/>
          </a:xfrm>
          <a:prstGeom prst="rect">
            <a:avLst/>
          </a:prstGeom>
          <a:noFill/>
          <a:ln>
            <a:noFill/>
          </a:ln>
        </p:spPr>
        <p:txBody>
          <a:bodyPr spcFirstLastPara="1" wrap="square" lIns="91425" tIns="45700" rIns="91425" bIns="45700" anchor="b" anchorCtr="0">
            <a:normAutofit/>
          </a:bodyPr>
          <a:lstStyle>
            <a:lvl1pPr marL="457154" lvl="0" indent="-228577" algn="l">
              <a:spcBef>
                <a:spcPts val="480"/>
              </a:spcBef>
              <a:spcAft>
                <a:spcPts val="0"/>
              </a:spcAft>
              <a:buClr>
                <a:schemeClr val="dk1"/>
              </a:buClr>
              <a:buSzPts val="2400"/>
              <a:buNone/>
              <a:defRPr sz="2400" b="1"/>
            </a:lvl1pPr>
            <a:lvl2pPr marL="914309" lvl="1" indent="-228577" algn="l">
              <a:spcBef>
                <a:spcPts val="400"/>
              </a:spcBef>
              <a:spcAft>
                <a:spcPts val="0"/>
              </a:spcAft>
              <a:buClr>
                <a:schemeClr val="dk1"/>
              </a:buClr>
              <a:buSzPts val="2000"/>
              <a:buNone/>
              <a:defRPr sz="2000" b="1"/>
            </a:lvl2pPr>
            <a:lvl3pPr marL="1371463" lvl="2" indent="-228577" algn="l">
              <a:spcBef>
                <a:spcPts val="360"/>
              </a:spcBef>
              <a:spcAft>
                <a:spcPts val="0"/>
              </a:spcAft>
              <a:buClr>
                <a:schemeClr val="dk1"/>
              </a:buClr>
              <a:buSzPts val="1800"/>
              <a:buNone/>
              <a:defRPr sz="1800" b="1"/>
            </a:lvl3pPr>
            <a:lvl4pPr marL="1828617" lvl="3" indent="-228577" algn="l">
              <a:spcBef>
                <a:spcPts val="320"/>
              </a:spcBef>
              <a:spcAft>
                <a:spcPts val="0"/>
              </a:spcAft>
              <a:buClr>
                <a:schemeClr val="dk1"/>
              </a:buClr>
              <a:buSzPts val="1600"/>
              <a:buNone/>
              <a:defRPr sz="1600" b="1"/>
            </a:lvl4pPr>
            <a:lvl5pPr marL="2285771" lvl="4" indent="-228577" algn="l">
              <a:spcBef>
                <a:spcPts val="320"/>
              </a:spcBef>
              <a:spcAft>
                <a:spcPts val="0"/>
              </a:spcAft>
              <a:buClr>
                <a:schemeClr val="dk1"/>
              </a:buClr>
              <a:buSzPts val="1600"/>
              <a:buNone/>
              <a:defRPr sz="1600" b="1"/>
            </a:lvl5pPr>
            <a:lvl6pPr marL="2742926" lvl="5" indent="-228577" algn="l">
              <a:spcBef>
                <a:spcPts val="320"/>
              </a:spcBef>
              <a:spcAft>
                <a:spcPts val="0"/>
              </a:spcAft>
              <a:buClr>
                <a:schemeClr val="dk1"/>
              </a:buClr>
              <a:buSzPts val="1600"/>
              <a:buNone/>
              <a:defRPr sz="1600" b="1"/>
            </a:lvl6pPr>
            <a:lvl7pPr marL="3200080" lvl="6" indent="-228577" algn="l">
              <a:spcBef>
                <a:spcPts val="320"/>
              </a:spcBef>
              <a:spcAft>
                <a:spcPts val="0"/>
              </a:spcAft>
              <a:buClr>
                <a:schemeClr val="dk1"/>
              </a:buClr>
              <a:buSzPts val="1600"/>
              <a:buNone/>
              <a:defRPr sz="1600" b="1"/>
            </a:lvl7pPr>
            <a:lvl8pPr marL="3657234" lvl="7" indent="-228577" algn="l">
              <a:spcBef>
                <a:spcPts val="320"/>
              </a:spcBef>
              <a:spcAft>
                <a:spcPts val="0"/>
              </a:spcAft>
              <a:buClr>
                <a:schemeClr val="dk1"/>
              </a:buClr>
              <a:buSzPts val="1600"/>
              <a:buNone/>
              <a:defRPr sz="1600" b="1"/>
            </a:lvl8pPr>
            <a:lvl9pPr marL="4114389" lvl="8" indent="-228577" algn="l">
              <a:spcBef>
                <a:spcPts val="320"/>
              </a:spcBef>
              <a:spcAft>
                <a:spcPts val="0"/>
              </a:spcAft>
              <a:buClr>
                <a:schemeClr val="dk1"/>
              </a:buClr>
              <a:buSzPts val="1600"/>
              <a:buNone/>
              <a:defRPr sz="1600" b="1"/>
            </a:lvl9pPr>
          </a:lstStyle>
          <a:p>
            <a:endParaRPr/>
          </a:p>
        </p:txBody>
      </p:sp>
      <p:sp>
        <p:nvSpPr>
          <p:cNvPr id="49" name="Google Shape;49;p22"/>
          <p:cNvSpPr txBox="1">
            <a:spLocks noGrp="1"/>
          </p:cNvSpPr>
          <p:nvPr>
            <p:ph type="body" idx="4"/>
          </p:nvPr>
        </p:nvSpPr>
        <p:spPr>
          <a:xfrm>
            <a:off x="4646977" y="2174552"/>
            <a:ext cx="4043473" cy="3950702"/>
          </a:xfrm>
          <a:prstGeom prst="rect">
            <a:avLst/>
          </a:prstGeom>
          <a:noFill/>
          <a:ln>
            <a:noFill/>
          </a:ln>
        </p:spPr>
        <p:txBody>
          <a:bodyPr spcFirstLastPara="1" wrap="square" lIns="91425" tIns="45700" rIns="91425" bIns="45700" anchor="t" anchorCtr="0">
            <a:normAutofit/>
          </a:bodyPr>
          <a:lstStyle>
            <a:lvl1pPr marL="457154" lvl="0" indent="-380962" algn="l">
              <a:spcBef>
                <a:spcPts val="480"/>
              </a:spcBef>
              <a:spcAft>
                <a:spcPts val="0"/>
              </a:spcAft>
              <a:buClr>
                <a:schemeClr val="dk1"/>
              </a:buClr>
              <a:buSzPts val="2400"/>
              <a:buChar char="•"/>
              <a:defRPr sz="2400"/>
            </a:lvl1pPr>
            <a:lvl2pPr marL="914309" lvl="1" indent="-355564" algn="l">
              <a:spcBef>
                <a:spcPts val="400"/>
              </a:spcBef>
              <a:spcAft>
                <a:spcPts val="0"/>
              </a:spcAft>
              <a:buClr>
                <a:schemeClr val="dk1"/>
              </a:buClr>
              <a:buSzPts val="2000"/>
              <a:buChar char="–"/>
              <a:defRPr sz="2000"/>
            </a:lvl2pPr>
            <a:lvl3pPr marL="1371463" lvl="2" indent="-342866" algn="l">
              <a:spcBef>
                <a:spcPts val="360"/>
              </a:spcBef>
              <a:spcAft>
                <a:spcPts val="0"/>
              </a:spcAft>
              <a:buClr>
                <a:schemeClr val="dk1"/>
              </a:buClr>
              <a:buSzPts val="1800"/>
              <a:buChar char="•"/>
              <a:defRPr sz="1800"/>
            </a:lvl3pPr>
            <a:lvl4pPr marL="1828617" lvl="3" indent="-330167" algn="l">
              <a:spcBef>
                <a:spcPts val="320"/>
              </a:spcBef>
              <a:spcAft>
                <a:spcPts val="0"/>
              </a:spcAft>
              <a:buClr>
                <a:schemeClr val="dk1"/>
              </a:buClr>
              <a:buSzPts val="1600"/>
              <a:buChar char="–"/>
              <a:defRPr sz="1600"/>
            </a:lvl4pPr>
            <a:lvl5pPr marL="2285771" lvl="4" indent="-330167" algn="l">
              <a:spcBef>
                <a:spcPts val="320"/>
              </a:spcBef>
              <a:spcAft>
                <a:spcPts val="0"/>
              </a:spcAft>
              <a:buClr>
                <a:schemeClr val="dk1"/>
              </a:buClr>
              <a:buSzPts val="1600"/>
              <a:buChar char="»"/>
              <a:defRPr sz="1600"/>
            </a:lvl5pPr>
            <a:lvl6pPr marL="2742926" lvl="5" indent="-330167" algn="l">
              <a:spcBef>
                <a:spcPts val="320"/>
              </a:spcBef>
              <a:spcAft>
                <a:spcPts val="0"/>
              </a:spcAft>
              <a:buClr>
                <a:schemeClr val="dk1"/>
              </a:buClr>
              <a:buSzPts val="1600"/>
              <a:buChar char="•"/>
              <a:defRPr sz="1600"/>
            </a:lvl6pPr>
            <a:lvl7pPr marL="3200080" lvl="6" indent="-330167" algn="l">
              <a:spcBef>
                <a:spcPts val="320"/>
              </a:spcBef>
              <a:spcAft>
                <a:spcPts val="0"/>
              </a:spcAft>
              <a:buClr>
                <a:schemeClr val="dk1"/>
              </a:buClr>
              <a:buSzPts val="1600"/>
              <a:buChar char="•"/>
              <a:defRPr sz="1600"/>
            </a:lvl7pPr>
            <a:lvl8pPr marL="3657234" lvl="7" indent="-330167" algn="l">
              <a:spcBef>
                <a:spcPts val="320"/>
              </a:spcBef>
              <a:spcAft>
                <a:spcPts val="0"/>
              </a:spcAft>
              <a:buClr>
                <a:schemeClr val="dk1"/>
              </a:buClr>
              <a:buSzPts val="1600"/>
              <a:buChar char="•"/>
              <a:defRPr sz="1600"/>
            </a:lvl8pPr>
            <a:lvl9pPr marL="4114389" lvl="8" indent="-330167" algn="l">
              <a:spcBef>
                <a:spcPts val="320"/>
              </a:spcBef>
              <a:spcAft>
                <a:spcPts val="0"/>
              </a:spcAft>
              <a:buClr>
                <a:schemeClr val="dk1"/>
              </a:buClr>
              <a:buSzPts val="1600"/>
              <a:buChar char="•"/>
              <a:defRPr sz="1600"/>
            </a:lvl9pPr>
          </a:lstStyle>
          <a:p>
            <a:endParaRPr/>
          </a:p>
        </p:txBody>
      </p:sp>
      <p:sp>
        <p:nvSpPr>
          <p:cNvPr id="50" name="Google Shape;50;p22"/>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845523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3"/>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3"/>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43887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457393" y="273009"/>
            <a:ext cx="3009577" cy="116187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3576552" y="273010"/>
            <a:ext cx="5113898" cy="5852244"/>
          </a:xfrm>
          <a:prstGeom prst="rect">
            <a:avLst/>
          </a:prstGeom>
          <a:noFill/>
          <a:ln>
            <a:noFill/>
          </a:ln>
        </p:spPr>
        <p:txBody>
          <a:bodyPr spcFirstLastPara="1" wrap="square" lIns="91425" tIns="45700" rIns="91425" bIns="45700" anchor="t" anchorCtr="0">
            <a:normAutofit/>
          </a:bodyPr>
          <a:lstStyle>
            <a:lvl1pPr marL="457154" lvl="0" indent="-431757" algn="l">
              <a:spcBef>
                <a:spcPts val="640"/>
              </a:spcBef>
              <a:spcAft>
                <a:spcPts val="0"/>
              </a:spcAft>
              <a:buClr>
                <a:schemeClr val="dk1"/>
              </a:buClr>
              <a:buSzPts val="3200"/>
              <a:buChar char="•"/>
              <a:defRPr sz="3200"/>
            </a:lvl1pPr>
            <a:lvl2pPr marL="914309" lvl="1" indent="-406359" algn="l">
              <a:spcBef>
                <a:spcPts val="560"/>
              </a:spcBef>
              <a:spcAft>
                <a:spcPts val="0"/>
              </a:spcAft>
              <a:buClr>
                <a:schemeClr val="dk1"/>
              </a:buClr>
              <a:buSzPts val="2800"/>
              <a:buChar char="–"/>
              <a:defRPr sz="2800"/>
            </a:lvl2pPr>
            <a:lvl3pPr marL="1371463" lvl="2" indent="-380962" algn="l">
              <a:spcBef>
                <a:spcPts val="480"/>
              </a:spcBef>
              <a:spcAft>
                <a:spcPts val="0"/>
              </a:spcAft>
              <a:buClr>
                <a:schemeClr val="dk1"/>
              </a:buClr>
              <a:buSzPts val="2400"/>
              <a:buChar char="•"/>
              <a:defRPr sz="2400"/>
            </a:lvl3pPr>
            <a:lvl4pPr marL="1828617" lvl="3" indent="-355564" algn="l">
              <a:spcBef>
                <a:spcPts val="400"/>
              </a:spcBef>
              <a:spcAft>
                <a:spcPts val="0"/>
              </a:spcAft>
              <a:buClr>
                <a:schemeClr val="dk1"/>
              </a:buClr>
              <a:buSzPts val="2000"/>
              <a:buChar char="–"/>
              <a:defRPr sz="2000"/>
            </a:lvl4pPr>
            <a:lvl5pPr marL="2285771" lvl="4" indent="-355564" algn="l">
              <a:spcBef>
                <a:spcPts val="400"/>
              </a:spcBef>
              <a:spcAft>
                <a:spcPts val="0"/>
              </a:spcAft>
              <a:buClr>
                <a:schemeClr val="dk1"/>
              </a:buClr>
              <a:buSzPts val="2000"/>
              <a:buChar char="»"/>
              <a:defRPr sz="2000"/>
            </a:lvl5pPr>
            <a:lvl6pPr marL="2742926" lvl="5" indent="-355564" algn="l">
              <a:spcBef>
                <a:spcPts val="400"/>
              </a:spcBef>
              <a:spcAft>
                <a:spcPts val="0"/>
              </a:spcAft>
              <a:buClr>
                <a:schemeClr val="dk1"/>
              </a:buClr>
              <a:buSzPts val="2000"/>
              <a:buChar char="•"/>
              <a:defRPr sz="2000"/>
            </a:lvl6pPr>
            <a:lvl7pPr marL="3200080" lvl="6" indent="-355564" algn="l">
              <a:spcBef>
                <a:spcPts val="400"/>
              </a:spcBef>
              <a:spcAft>
                <a:spcPts val="0"/>
              </a:spcAft>
              <a:buClr>
                <a:schemeClr val="dk1"/>
              </a:buClr>
              <a:buSzPts val="2000"/>
              <a:buChar char="•"/>
              <a:defRPr sz="2000"/>
            </a:lvl7pPr>
            <a:lvl8pPr marL="3657234" lvl="7" indent="-355564" algn="l">
              <a:spcBef>
                <a:spcPts val="400"/>
              </a:spcBef>
              <a:spcAft>
                <a:spcPts val="0"/>
              </a:spcAft>
              <a:buClr>
                <a:schemeClr val="dk1"/>
              </a:buClr>
              <a:buSzPts val="2000"/>
              <a:buChar char="•"/>
              <a:defRPr sz="2000"/>
            </a:lvl8pPr>
            <a:lvl9pPr marL="4114389" lvl="8" indent="-355564" algn="l">
              <a:spcBef>
                <a:spcPts val="4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457393" y="1434887"/>
            <a:ext cx="3009577" cy="4690367"/>
          </a:xfrm>
          <a:prstGeom prst="rect">
            <a:avLst/>
          </a:prstGeom>
          <a:noFill/>
          <a:ln>
            <a:noFill/>
          </a:ln>
        </p:spPr>
        <p:txBody>
          <a:bodyPr spcFirstLastPara="1" wrap="square" lIns="91425" tIns="45700" rIns="91425" bIns="45700" anchor="t" anchorCtr="0">
            <a:normAutofit/>
          </a:bodyPr>
          <a:lstStyle>
            <a:lvl1pPr marL="457154" lvl="0" indent="-228577" algn="l">
              <a:spcBef>
                <a:spcPts val="280"/>
              </a:spcBef>
              <a:spcAft>
                <a:spcPts val="0"/>
              </a:spcAft>
              <a:buClr>
                <a:schemeClr val="dk1"/>
              </a:buClr>
              <a:buSzPts val="1400"/>
              <a:buNone/>
              <a:defRPr sz="1400"/>
            </a:lvl1pPr>
            <a:lvl2pPr marL="914309" lvl="1" indent="-228577" algn="l">
              <a:spcBef>
                <a:spcPts val="240"/>
              </a:spcBef>
              <a:spcAft>
                <a:spcPts val="0"/>
              </a:spcAft>
              <a:buClr>
                <a:schemeClr val="dk1"/>
              </a:buClr>
              <a:buSzPts val="1200"/>
              <a:buNone/>
              <a:defRPr sz="1200"/>
            </a:lvl2pPr>
            <a:lvl3pPr marL="1371463" lvl="2" indent="-228577" algn="l">
              <a:spcBef>
                <a:spcPts val="200"/>
              </a:spcBef>
              <a:spcAft>
                <a:spcPts val="0"/>
              </a:spcAft>
              <a:buClr>
                <a:schemeClr val="dk1"/>
              </a:buClr>
              <a:buSzPts val="1000"/>
              <a:buNone/>
              <a:defRPr sz="1000"/>
            </a:lvl3pPr>
            <a:lvl4pPr marL="1828617" lvl="3" indent="-228577" algn="l">
              <a:spcBef>
                <a:spcPts val="180"/>
              </a:spcBef>
              <a:spcAft>
                <a:spcPts val="0"/>
              </a:spcAft>
              <a:buClr>
                <a:schemeClr val="dk1"/>
              </a:buClr>
              <a:buSzPts val="900"/>
              <a:buNone/>
              <a:defRPr sz="900"/>
            </a:lvl4pPr>
            <a:lvl5pPr marL="2285771" lvl="4" indent="-228577" algn="l">
              <a:spcBef>
                <a:spcPts val="180"/>
              </a:spcBef>
              <a:spcAft>
                <a:spcPts val="0"/>
              </a:spcAft>
              <a:buClr>
                <a:schemeClr val="dk1"/>
              </a:buClr>
              <a:buSzPts val="900"/>
              <a:buNone/>
              <a:defRPr sz="900"/>
            </a:lvl5pPr>
            <a:lvl6pPr marL="2742926" lvl="5" indent="-228577" algn="l">
              <a:spcBef>
                <a:spcPts val="180"/>
              </a:spcBef>
              <a:spcAft>
                <a:spcPts val="0"/>
              </a:spcAft>
              <a:buClr>
                <a:schemeClr val="dk1"/>
              </a:buClr>
              <a:buSzPts val="900"/>
              <a:buNone/>
              <a:defRPr sz="900"/>
            </a:lvl6pPr>
            <a:lvl7pPr marL="3200080" lvl="6" indent="-228577" algn="l">
              <a:spcBef>
                <a:spcPts val="180"/>
              </a:spcBef>
              <a:spcAft>
                <a:spcPts val="0"/>
              </a:spcAft>
              <a:buClr>
                <a:schemeClr val="dk1"/>
              </a:buClr>
              <a:buSzPts val="900"/>
              <a:buNone/>
              <a:defRPr sz="900"/>
            </a:lvl7pPr>
            <a:lvl8pPr marL="3657234" lvl="7" indent="-228577" algn="l">
              <a:spcBef>
                <a:spcPts val="180"/>
              </a:spcBef>
              <a:spcAft>
                <a:spcPts val="0"/>
              </a:spcAft>
              <a:buClr>
                <a:schemeClr val="dk1"/>
              </a:buClr>
              <a:buSzPts val="900"/>
              <a:buNone/>
              <a:defRPr sz="900"/>
            </a:lvl8pPr>
            <a:lvl9pPr marL="4114389" lvl="8" indent="-228577" algn="l">
              <a:spcBef>
                <a:spcPts val="180"/>
              </a:spcBef>
              <a:spcAft>
                <a:spcPts val="0"/>
              </a:spcAft>
              <a:buClr>
                <a:schemeClr val="dk1"/>
              </a:buClr>
              <a:buSzPts val="900"/>
              <a:buNone/>
              <a:defRPr sz="900"/>
            </a:lvl9pPr>
          </a:lstStyle>
          <a:p>
            <a:endParaRPr/>
          </a:p>
        </p:txBody>
      </p:sp>
      <p:sp>
        <p:nvSpPr>
          <p:cNvPr id="62" name="Google Shape;62;p24"/>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3949514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1793041" y="4799887"/>
            <a:ext cx="5488705" cy="56665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1793041" y="612684"/>
            <a:ext cx="5488705" cy="4114189"/>
          </a:xfrm>
          <a:prstGeom prst="rect">
            <a:avLst/>
          </a:prstGeom>
          <a:noFill/>
          <a:ln>
            <a:noFill/>
          </a:ln>
        </p:spPr>
        <p:txBody>
          <a:bodyPr/>
          <a:lstStyle/>
          <a:p>
            <a:endParaRPr lang="en-US"/>
          </a:p>
        </p:txBody>
      </p:sp>
      <p:sp>
        <p:nvSpPr>
          <p:cNvPr id="68" name="Google Shape;68;p25"/>
          <p:cNvSpPr txBox="1">
            <a:spLocks noGrp="1"/>
          </p:cNvSpPr>
          <p:nvPr>
            <p:ph type="body" idx="1"/>
          </p:nvPr>
        </p:nvSpPr>
        <p:spPr>
          <a:xfrm>
            <a:off x="1793041" y="5366541"/>
            <a:ext cx="5488705" cy="804743"/>
          </a:xfrm>
          <a:prstGeom prst="rect">
            <a:avLst/>
          </a:prstGeom>
          <a:noFill/>
          <a:ln>
            <a:noFill/>
          </a:ln>
        </p:spPr>
        <p:txBody>
          <a:bodyPr spcFirstLastPara="1" wrap="square" lIns="91425" tIns="45700" rIns="91425" bIns="45700" anchor="t" anchorCtr="0">
            <a:normAutofit/>
          </a:bodyPr>
          <a:lstStyle>
            <a:lvl1pPr marL="457154" lvl="0" indent="-228577" algn="l">
              <a:spcBef>
                <a:spcPts val="280"/>
              </a:spcBef>
              <a:spcAft>
                <a:spcPts val="0"/>
              </a:spcAft>
              <a:buClr>
                <a:schemeClr val="dk1"/>
              </a:buClr>
              <a:buSzPts val="1400"/>
              <a:buNone/>
              <a:defRPr sz="1400"/>
            </a:lvl1pPr>
            <a:lvl2pPr marL="914309" lvl="1" indent="-228577" algn="l">
              <a:spcBef>
                <a:spcPts val="240"/>
              </a:spcBef>
              <a:spcAft>
                <a:spcPts val="0"/>
              </a:spcAft>
              <a:buClr>
                <a:schemeClr val="dk1"/>
              </a:buClr>
              <a:buSzPts val="1200"/>
              <a:buNone/>
              <a:defRPr sz="1200"/>
            </a:lvl2pPr>
            <a:lvl3pPr marL="1371463" lvl="2" indent="-228577" algn="l">
              <a:spcBef>
                <a:spcPts val="200"/>
              </a:spcBef>
              <a:spcAft>
                <a:spcPts val="0"/>
              </a:spcAft>
              <a:buClr>
                <a:schemeClr val="dk1"/>
              </a:buClr>
              <a:buSzPts val="1000"/>
              <a:buNone/>
              <a:defRPr sz="1000"/>
            </a:lvl3pPr>
            <a:lvl4pPr marL="1828617" lvl="3" indent="-228577" algn="l">
              <a:spcBef>
                <a:spcPts val="180"/>
              </a:spcBef>
              <a:spcAft>
                <a:spcPts val="0"/>
              </a:spcAft>
              <a:buClr>
                <a:schemeClr val="dk1"/>
              </a:buClr>
              <a:buSzPts val="900"/>
              <a:buNone/>
              <a:defRPr sz="900"/>
            </a:lvl4pPr>
            <a:lvl5pPr marL="2285771" lvl="4" indent="-228577" algn="l">
              <a:spcBef>
                <a:spcPts val="180"/>
              </a:spcBef>
              <a:spcAft>
                <a:spcPts val="0"/>
              </a:spcAft>
              <a:buClr>
                <a:schemeClr val="dk1"/>
              </a:buClr>
              <a:buSzPts val="900"/>
              <a:buNone/>
              <a:defRPr sz="900"/>
            </a:lvl5pPr>
            <a:lvl6pPr marL="2742926" lvl="5" indent="-228577" algn="l">
              <a:spcBef>
                <a:spcPts val="180"/>
              </a:spcBef>
              <a:spcAft>
                <a:spcPts val="0"/>
              </a:spcAft>
              <a:buClr>
                <a:schemeClr val="dk1"/>
              </a:buClr>
              <a:buSzPts val="900"/>
              <a:buNone/>
              <a:defRPr sz="900"/>
            </a:lvl6pPr>
            <a:lvl7pPr marL="3200080" lvl="6" indent="-228577" algn="l">
              <a:spcBef>
                <a:spcPts val="180"/>
              </a:spcBef>
              <a:spcAft>
                <a:spcPts val="0"/>
              </a:spcAft>
              <a:buClr>
                <a:schemeClr val="dk1"/>
              </a:buClr>
              <a:buSzPts val="900"/>
              <a:buNone/>
              <a:defRPr sz="900"/>
            </a:lvl7pPr>
            <a:lvl8pPr marL="3657234" lvl="7" indent="-228577" algn="l">
              <a:spcBef>
                <a:spcPts val="180"/>
              </a:spcBef>
              <a:spcAft>
                <a:spcPts val="0"/>
              </a:spcAft>
              <a:buClr>
                <a:schemeClr val="dk1"/>
              </a:buClr>
              <a:buSzPts val="900"/>
              <a:buNone/>
              <a:defRPr sz="900"/>
            </a:lvl8pPr>
            <a:lvl9pPr marL="4114389" lvl="8" indent="-228577" algn="l">
              <a:spcBef>
                <a:spcPts val="180"/>
              </a:spcBef>
              <a:spcAft>
                <a:spcPts val="0"/>
              </a:spcAft>
              <a:buClr>
                <a:schemeClr val="dk1"/>
              </a:buClr>
              <a:buSzPts val="900"/>
              <a:buNone/>
              <a:defRPr sz="900"/>
            </a:lvl9pPr>
          </a:lstStyle>
          <a:p>
            <a:endParaRPr/>
          </a:p>
        </p:txBody>
      </p:sp>
      <p:sp>
        <p:nvSpPr>
          <p:cNvPr id="69" name="Google Shape;69;p25"/>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378884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2311277" y="-253920"/>
            <a:ext cx="4525291" cy="8233058"/>
          </a:xfrm>
          <a:prstGeom prst="rect">
            <a:avLst/>
          </a:prstGeom>
          <a:noFill/>
          <a:ln>
            <a:noFill/>
          </a:ln>
        </p:spPr>
        <p:txBody>
          <a:bodyPr spcFirstLastPara="1" wrap="square" lIns="91425" tIns="45700" rIns="91425" bIns="45700" anchor="t" anchorCtr="0">
            <a:normAutofit/>
          </a:bodyPr>
          <a:lstStyle>
            <a:lvl1pPr marL="457154" lvl="0" indent="-342866" algn="l">
              <a:spcBef>
                <a:spcPts val="360"/>
              </a:spcBef>
              <a:spcAft>
                <a:spcPts val="0"/>
              </a:spcAft>
              <a:buClr>
                <a:schemeClr val="dk1"/>
              </a:buClr>
              <a:buSzPts val="1800"/>
              <a:buChar char="•"/>
              <a:defRPr/>
            </a:lvl1pPr>
            <a:lvl2pPr marL="914309" lvl="1" indent="-342866" algn="l">
              <a:spcBef>
                <a:spcPts val="360"/>
              </a:spcBef>
              <a:spcAft>
                <a:spcPts val="0"/>
              </a:spcAft>
              <a:buClr>
                <a:schemeClr val="dk1"/>
              </a:buClr>
              <a:buSzPts val="1800"/>
              <a:buChar char="–"/>
              <a:defRPr/>
            </a:lvl2pPr>
            <a:lvl3pPr marL="1371463" lvl="2" indent="-342866" algn="l">
              <a:spcBef>
                <a:spcPts val="360"/>
              </a:spcBef>
              <a:spcAft>
                <a:spcPts val="0"/>
              </a:spcAft>
              <a:buClr>
                <a:schemeClr val="dk1"/>
              </a:buClr>
              <a:buSzPts val="1800"/>
              <a:buChar char="•"/>
              <a:defRPr/>
            </a:lvl3pPr>
            <a:lvl4pPr marL="1828617" lvl="3" indent="-342866" algn="l">
              <a:spcBef>
                <a:spcPts val="360"/>
              </a:spcBef>
              <a:spcAft>
                <a:spcPts val="0"/>
              </a:spcAft>
              <a:buClr>
                <a:schemeClr val="dk1"/>
              </a:buClr>
              <a:buSzPts val="1800"/>
              <a:buChar char="–"/>
              <a:defRPr/>
            </a:lvl4pPr>
            <a:lvl5pPr marL="2285771" lvl="4" indent="-342866" algn="l">
              <a:spcBef>
                <a:spcPts val="360"/>
              </a:spcBef>
              <a:spcAft>
                <a:spcPts val="0"/>
              </a:spcAft>
              <a:buClr>
                <a:schemeClr val="dk1"/>
              </a:buClr>
              <a:buSzPts val="1800"/>
              <a:buChar char="»"/>
              <a:defRPr/>
            </a:lvl5pPr>
            <a:lvl6pPr marL="2742926" lvl="5" indent="-342866" algn="l">
              <a:spcBef>
                <a:spcPts val="360"/>
              </a:spcBef>
              <a:spcAft>
                <a:spcPts val="0"/>
              </a:spcAft>
              <a:buClr>
                <a:schemeClr val="dk1"/>
              </a:buClr>
              <a:buSzPts val="1800"/>
              <a:buChar char="•"/>
              <a:defRPr/>
            </a:lvl6pPr>
            <a:lvl7pPr marL="3200080" lvl="6" indent="-342866" algn="l">
              <a:spcBef>
                <a:spcPts val="360"/>
              </a:spcBef>
              <a:spcAft>
                <a:spcPts val="0"/>
              </a:spcAft>
              <a:buClr>
                <a:schemeClr val="dk1"/>
              </a:buClr>
              <a:buSzPts val="1800"/>
              <a:buChar char="•"/>
              <a:defRPr/>
            </a:lvl7pPr>
            <a:lvl8pPr marL="3657234" lvl="7" indent="-342866" algn="l">
              <a:spcBef>
                <a:spcPts val="360"/>
              </a:spcBef>
              <a:spcAft>
                <a:spcPts val="0"/>
              </a:spcAft>
              <a:buClr>
                <a:schemeClr val="dk1"/>
              </a:buClr>
              <a:buSzPts val="1800"/>
              <a:buChar char="•"/>
              <a:defRPr/>
            </a:lvl8pPr>
            <a:lvl9pPr marL="4114389" lvl="8" indent="-342866" algn="l">
              <a:spcBef>
                <a:spcPts val="36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961464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4735990" y="2170794"/>
            <a:ext cx="5850657" cy="2058264"/>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543229" y="188761"/>
            <a:ext cx="5850657" cy="6022329"/>
          </a:xfrm>
          <a:prstGeom prst="rect">
            <a:avLst/>
          </a:prstGeom>
          <a:noFill/>
          <a:ln>
            <a:noFill/>
          </a:ln>
        </p:spPr>
        <p:txBody>
          <a:bodyPr spcFirstLastPara="1" wrap="square" lIns="91425" tIns="45700" rIns="91425" bIns="45700" anchor="t" anchorCtr="0">
            <a:normAutofit/>
          </a:bodyPr>
          <a:lstStyle>
            <a:lvl1pPr marL="457154" lvl="0" indent="-342866" algn="l">
              <a:spcBef>
                <a:spcPts val="360"/>
              </a:spcBef>
              <a:spcAft>
                <a:spcPts val="0"/>
              </a:spcAft>
              <a:buClr>
                <a:schemeClr val="dk1"/>
              </a:buClr>
              <a:buSzPts val="1800"/>
              <a:buChar char="•"/>
              <a:defRPr/>
            </a:lvl1pPr>
            <a:lvl2pPr marL="914309" lvl="1" indent="-342866" algn="l">
              <a:spcBef>
                <a:spcPts val="360"/>
              </a:spcBef>
              <a:spcAft>
                <a:spcPts val="0"/>
              </a:spcAft>
              <a:buClr>
                <a:schemeClr val="dk1"/>
              </a:buClr>
              <a:buSzPts val="1800"/>
              <a:buChar char="–"/>
              <a:defRPr/>
            </a:lvl2pPr>
            <a:lvl3pPr marL="1371463" lvl="2" indent="-342866" algn="l">
              <a:spcBef>
                <a:spcPts val="360"/>
              </a:spcBef>
              <a:spcAft>
                <a:spcPts val="0"/>
              </a:spcAft>
              <a:buClr>
                <a:schemeClr val="dk1"/>
              </a:buClr>
              <a:buSzPts val="1800"/>
              <a:buChar char="•"/>
              <a:defRPr/>
            </a:lvl3pPr>
            <a:lvl4pPr marL="1828617" lvl="3" indent="-342866" algn="l">
              <a:spcBef>
                <a:spcPts val="360"/>
              </a:spcBef>
              <a:spcAft>
                <a:spcPts val="0"/>
              </a:spcAft>
              <a:buClr>
                <a:schemeClr val="dk1"/>
              </a:buClr>
              <a:buSzPts val="1800"/>
              <a:buChar char="–"/>
              <a:defRPr/>
            </a:lvl4pPr>
            <a:lvl5pPr marL="2285771" lvl="4" indent="-342866" algn="l">
              <a:spcBef>
                <a:spcPts val="360"/>
              </a:spcBef>
              <a:spcAft>
                <a:spcPts val="0"/>
              </a:spcAft>
              <a:buClr>
                <a:schemeClr val="dk1"/>
              </a:buClr>
              <a:buSzPts val="1800"/>
              <a:buChar char="»"/>
              <a:defRPr/>
            </a:lvl5pPr>
            <a:lvl6pPr marL="2742926" lvl="5" indent="-342866" algn="l">
              <a:spcBef>
                <a:spcPts val="360"/>
              </a:spcBef>
              <a:spcAft>
                <a:spcPts val="0"/>
              </a:spcAft>
              <a:buClr>
                <a:schemeClr val="dk1"/>
              </a:buClr>
              <a:buSzPts val="1800"/>
              <a:buChar char="•"/>
              <a:defRPr/>
            </a:lvl6pPr>
            <a:lvl7pPr marL="3200080" lvl="6" indent="-342866" algn="l">
              <a:spcBef>
                <a:spcPts val="360"/>
              </a:spcBef>
              <a:spcAft>
                <a:spcPts val="0"/>
              </a:spcAft>
              <a:buClr>
                <a:schemeClr val="dk1"/>
              </a:buClr>
              <a:buSzPts val="1800"/>
              <a:buChar char="•"/>
              <a:defRPr/>
            </a:lvl7pPr>
            <a:lvl8pPr marL="3657234" lvl="7" indent="-342866" algn="l">
              <a:spcBef>
                <a:spcPts val="360"/>
              </a:spcBef>
              <a:spcAft>
                <a:spcPts val="0"/>
              </a:spcAft>
              <a:buClr>
                <a:schemeClr val="dk1"/>
              </a:buClr>
              <a:buSzPts val="1800"/>
              <a:buChar char="•"/>
              <a:defRPr/>
            </a:lvl8pPr>
            <a:lvl9pPr marL="4114389" lvl="8" indent="-342866" algn="l">
              <a:spcBef>
                <a:spcPts val="36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68479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68C0F49B-3078-3D49-894B-3075E9AA6AED}" type="datetimeFigureOut">
              <a:rPr lang="en-US" smtClean="0"/>
              <a:t>5/11/2026</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72866098-6238-3342-BAD3-7917457690AA}" type="slidenum">
              <a:rPr lang="en-US" smtClean="0"/>
              <a:t>‹#›</a:t>
            </a:fld>
            <a:endParaRPr lang="en-US"/>
          </a:p>
        </p:txBody>
      </p:sp>
    </p:spTree>
    <p:extLst>
      <p:ext uri="{BB962C8B-B14F-4D97-AF65-F5344CB8AC3E}">
        <p14:creationId xmlns:p14="http://schemas.microsoft.com/office/powerpoint/2010/main" val="94101781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68C0F49B-3078-3D49-894B-3075E9AA6AED}" type="datetimeFigureOut">
              <a:rPr lang="en-US" smtClean="0"/>
              <a:t>5/11/2026</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72866098-6238-3342-BAD3-7917457690AA}" type="slidenum">
              <a:rPr lang="en-US" smtClean="0"/>
              <a:t>‹#›</a:t>
            </a:fld>
            <a:endParaRPr lang="en-US"/>
          </a:p>
        </p:txBody>
      </p:sp>
    </p:spTree>
    <p:extLst>
      <p:ext uri="{BB962C8B-B14F-4D97-AF65-F5344CB8AC3E}">
        <p14:creationId xmlns:p14="http://schemas.microsoft.com/office/powerpoint/2010/main" val="309169518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457392" y="1599963"/>
            <a:ext cx="8233058" cy="4525291"/>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549903528"/>
      </p:ext>
    </p:extLst>
  </p:cSld>
  <p:clrMap bg1="lt1" tx1="dk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hyperlink" Target="https://www.emitsolar.com/solar-savings-calculator"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8.png"/><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png"/><Relationship Id="rId9" Type="http://schemas.openxmlformats.org/officeDocument/2006/relationships/image" Target="../media/image34.jpe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1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emitsolar.com/HuaweiSUN2000" TargetMode="External"/><Relationship Id="rId7" Type="http://schemas.openxmlformats.org/officeDocument/2006/relationships/image" Target="../media/image44.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hyperlink" Target="https://www.emitsolar.com/AikoNeostar2S" TargetMode="Externa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www.emitsolar.com/wp-content/uploads/2025/09/Huawei-LUNA2000.pdf"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xml"/><Relationship Id="rId1" Type="http://schemas.openxmlformats.org/officeDocument/2006/relationships/slideLayout" Target="../slideLayouts/slideLayout23.xml"/><Relationship Id="rId5" Type="http://schemas.openxmlformats.org/officeDocument/2006/relationships/image" Target="../media/image56.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36E14-01A8-D39C-2137-0470695366AB}"/>
            </a:ext>
          </a:extLst>
        </p:cNvPr>
        <p:cNvGrpSpPr/>
        <p:nvPr/>
      </p:nvGrpSpPr>
      <p:grpSpPr>
        <a:xfrm>
          <a:off x="0" y="0"/>
          <a:ext cx="0" cy="0"/>
          <a:chOff x="0" y="0"/>
          <a:chExt cx="0" cy="0"/>
        </a:xfrm>
      </p:grpSpPr>
      <p:pic>
        <p:nvPicPr>
          <p:cNvPr id="14" name="Google Shape;89;p1">
            <a:extLst>
              <a:ext uri="{FF2B5EF4-FFF2-40B4-BE49-F238E27FC236}">
                <a16:creationId xmlns:a16="http://schemas.microsoft.com/office/drawing/2014/main" id="{9856F473-8BA4-D432-13BC-B994AE86A644}"/>
              </a:ext>
            </a:extLst>
          </p:cNvPr>
          <p:cNvPicPr preferRelativeResize="0">
            <a:picLocks noChangeAspect="1"/>
          </p:cNvPicPr>
          <p:nvPr/>
        </p:nvPicPr>
        <p:blipFill rotWithShape="1">
          <a:blip r:embed="rId2" cstate="email">
            <a:alphaModFix/>
            <a:extLst>
              <a:ext uri="{28A0092B-C50C-407E-A947-70E740481C1C}">
                <a14:useLocalDpi xmlns:a14="http://schemas.microsoft.com/office/drawing/2010/main"/>
              </a:ext>
            </a:extLst>
          </a:blip>
          <a:srcRect/>
          <a:stretch/>
        </p:blipFill>
        <p:spPr>
          <a:xfrm>
            <a:off x="556409" y="433605"/>
            <a:ext cx="1241322" cy="353171"/>
          </a:xfrm>
          <a:prstGeom prst="rect">
            <a:avLst/>
          </a:prstGeom>
          <a:noFill/>
          <a:ln>
            <a:noFill/>
          </a:ln>
        </p:spPr>
      </p:pic>
      <p:pic>
        <p:nvPicPr>
          <p:cNvPr id="15" name="Google Shape;90;p1">
            <a:extLst>
              <a:ext uri="{FF2B5EF4-FFF2-40B4-BE49-F238E27FC236}">
                <a16:creationId xmlns:a16="http://schemas.microsoft.com/office/drawing/2014/main" id="{AE7679CA-69A9-0FDC-9E6D-FC19D88B35D2}"/>
              </a:ext>
            </a:extLst>
          </p:cNvPr>
          <p:cNvPicPr preferRelativeResize="0">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4622481" y="432476"/>
            <a:ext cx="2380784" cy="355429"/>
          </a:xfrm>
          <a:prstGeom prst="rect">
            <a:avLst/>
          </a:prstGeom>
          <a:noFill/>
          <a:ln>
            <a:noFill/>
          </a:ln>
        </p:spPr>
      </p:pic>
      <p:sp>
        <p:nvSpPr>
          <p:cNvPr id="18" name="first_page_name">
            <a:extLst>
              <a:ext uri="{FF2B5EF4-FFF2-40B4-BE49-F238E27FC236}">
                <a16:creationId xmlns:a16="http://schemas.microsoft.com/office/drawing/2014/main" id="{D5AC4F2C-C6F4-FEEE-9605-EAFF945BD81B}"/>
              </a:ext>
            </a:extLst>
          </p:cNvPr>
          <p:cNvSpPr txBox="1"/>
          <p:nvPr/>
        </p:nvSpPr>
        <p:spPr>
          <a:xfrm>
            <a:off x="556410" y="5909410"/>
            <a:ext cx="644685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Work Sans" pitchFamily="2" charset="77"/>
                <a:ea typeface="Work Sans SemiBold"/>
                <a:cs typeface="Work Sans SemiBold"/>
                <a:sym typeface="Work Sans SemiBold"/>
              </a:rPr>
              <a:t>Alex Tan</a:t>
            </a:r>
            <a:endParaRPr kumimoji="0" lang="en-US" sz="1800" b="1" i="0" u="none" strike="noStrike" kern="1200" cap="none" spc="0" normalizeH="0" baseline="0" noProof="0" dirty="0">
              <a:ln>
                <a:noFill/>
              </a:ln>
              <a:solidFill>
                <a:srgbClr val="000000"/>
              </a:solidFill>
              <a:effectLst/>
              <a:uLnTx/>
              <a:uFillTx/>
              <a:latin typeface="Work Sans" pitchFamily="2" charset="77"/>
              <a:ea typeface="Work Sans SemiBold"/>
              <a:cs typeface="Work Sans SemiBold"/>
              <a:sym typeface="Work Sans SemiBold"/>
            </a:endParaRPr>
          </a:p>
        </p:txBody>
      </p:sp>
      <p:sp>
        <p:nvSpPr>
          <p:cNvPr id="19" name="first_page_address">
            <a:extLst>
              <a:ext uri="{FF2B5EF4-FFF2-40B4-BE49-F238E27FC236}">
                <a16:creationId xmlns:a16="http://schemas.microsoft.com/office/drawing/2014/main" id="{98D16BDA-8FEF-A658-6392-F7ED4F3A1866}"/>
              </a:ext>
            </a:extLst>
          </p:cNvPr>
          <p:cNvSpPr txBox="1"/>
          <p:nvPr/>
        </p:nvSpPr>
        <p:spPr>
          <a:xfrm>
            <a:off x="556409" y="6278742"/>
            <a:ext cx="644685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a:solidFill>
                  <a:srgbClr val="000000"/>
                </a:solidFill>
                <a:latin typeface="Work Sans" pitchFamily="2" charset="77"/>
                <a:sym typeface="Work Sans Light"/>
              </a:rPr>
              <a:t>No.123, Jalan 1/23, Taman Bahagia, KL</a:t>
            </a:r>
            <a:endParaRPr kumimoji="0" lang="en-MY" sz="20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3" name="TextBox 32">
            <a:extLst>
              <a:ext uri="{FF2B5EF4-FFF2-40B4-BE49-F238E27FC236}">
                <a16:creationId xmlns:a16="http://schemas.microsoft.com/office/drawing/2014/main" id="{C2C07D85-9330-7CEF-BC77-0C4D26736F38}"/>
              </a:ext>
            </a:extLst>
          </p:cNvPr>
          <p:cNvSpPr txBox="1"/>
          <p:nvPr/>
        </p:nvSpPr>
        <p:spPr>
          <a:xfrm>
            <a:off x="556409" y="9858098"/>
            <a:ext cx="6446855"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This proposal follows Solar ATAP installation limits of 5kWac for 1-phase homes and 15kWac for 3-phase homes,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and can be adjusted to suit your requirements.</a:t>
            </a:r>
          </a:p>
        </p:txBody>
      </p:sp>
      <p:sp>
        <p:nvSpPr>
          <p:cNvPr id="20" name="Rectangle 19">
            <a:extLst>
              <a:ext uri="{FF2B5EF4-FFF2-40B4-BE49-F238E27FC236}">
                <a16:creationId xmlns:a16="http://schemas.microsoft.com/office/drawing/2014/main" id="{46522CFF-0A13-06C8-B42B-929A743751CC}"/>
              </a:ext>
            </a:extLst>
          </p:cNvPr>
          <p:cNvSpPr/>
          <p:nvPr/>
        </p:nvSpPr>
        <p:spPr>
          <a:xfrm>
            <a:off x="556409" y="7275497"/>
            <a:ext cx="6446856" cy="2160000"/>
          </a:xfrm>
          <a:prstGeom prst="rect">
            <a:avLst/>
          </a:prstGeom>
          <a:solidFill>
            <a:srgbClr val="FFDEFF">
              <a:alpha val="25098"/>
            </a:srgbClr>
          </a:solidFill>
          <a:ln w="571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A0BA6FC4-E5CE-5220-6DDF-E0DE1AC2CBE5}"/>
              </a:ext>
            </a:extLst>
          </p:cNvPr>
          <p:cNvCxnSpPr>
            <a:cxnSpLocks/>
          </p:cNvCxnSpPr>
          <p:nvPr/>
        </p:nvCxnSpPr>
        <p:spPr>
          <a:xfrm>
            <a:off x="2705361" y="7671585"/>
            <a:ext cx="0" cy="144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0C03AF7-6B12-42C4-2143-547131540A76}"/>
              </a:ext>
            </a:extLst>
          </p:cNvPr>
          <p:cNvCxnSpPr>
            <a:cxnSpLocks/>
          </p:cNvCxnSpPr>
          <p:nvPr/>
        </p:nvCxnSpPr>
        <p:spPr>
          <a:xfrm>
            <a:off x="4854313" y="7671585"/>
            <a:ext cx="0" cy="144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sp>
        <p:nvSpPr>
          <p:cNvPr id="31" name="system_size">
            <a:extLst>
              <a:ext uri="{FF2B5EF4-FFF2-40B4-BE49-F238E27FC236}">
                <a16:creationId xmlns:a16="http://schemas.microsoft.com/office/drawing/2014/main" id="{79E24A04-E0BF-AF7F-42E0-6413FB7D4081}"/>
              </a:ext>
            </a:extLst>
          </p:cNvPr>
          <p:cNvSpPr txBox="1"/>
          <p:nvPr/>
        </p:nvSpPr>
        <p:spPr>
          <a:xfrm>
            <a:off x="2837598" y="8450627"/>
            <a:ext cx="188447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a:solidFill>
                  <a:prstClr val="black"/>
                </a:solidFill>
                <a:latin typeface="Work Sans" pitchFamily="2" charset="77"/>
              </a:rPr>
              <a:t>16.32kWp</a:t>
            </a:r>
            <a:endParaRPr kumimoji="0" lang="en-US" sz="24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4" name="TextBox 33">
            <a:extLst>
              <a:ext uri="{FF2B5EF4-FFF2-40B4-BE49-F238E27FC236}">
                <a16:creationId xmlns:a16="http://schemas.microsoft.com/office/drawing/2014/main" id="{47E4A527-5E67-448F-2A68-85BBE7C82733}"/>
              </a:ext>
            </a:extLst>
          </p:cNvPr>
          <p:cNvSpPr txBox="1"/>
          <p:nvPr/>
        </p:nvSpPr>
        <p:spPr>
          <a:xfrm>
            <a:off x="2837598" y="8201609"/>
            <a:ext cx="1884476"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System Size</a:t>
            </a:r>
          </a:p>
        </p:txBody>
      </p:sp>
      <p:pic>
        <p:nvPicPr>
          <p:cNvPr id="46" name="Picture 45">
            <a:extLst>
              <a:ext uri="{FF2B5EF4-FFF2-40B4-BE49-F238E27FC236}">
                <a16:creationId xmlns:a16="http://schemas.microsoft.com/office/drawing/2014/main" id="{D2CD0E8A-0E59-FF2C-C41A-D3018204F8B4}"/>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438648" y="7702806"/>
            <a:ext cx="682376" cy="432000"/>
          </a:xfrm>
          <a:prstGeom prst="rect">
            <a:avLst/>
          </a:prstGeom>
        </p:spPr>
      </p:pic>
      <p:pic>
        <p:nvPicPr>
          <p:cNvPr id="47" name="Picture 46">
            <a:extLst>
              <a:ext uri="{FF2B5EF4-FFF2-40B4-BE49-F238E27FC236}">
                <a16:creationId xmlns:a16="http://schemas.microsoft.com/office/drawing/2014/main" id="{54385662-3AAB-0DCD-B3E5-54B24F90AE87}"/>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675357" y="7702806"/>
            <a:ext cx="506863" cy="432000"/>
          </a:xfrm>
          <a:prstGeom prst="rect">
            <a:avLst/>
          </a:prstGeom>
        </p:spPr>
      </p:pic>
      <p:sp>
        <p:nvSpPr>
          <p:cNvPr id="32" name="new_tnb_bill">
            <a:extLst>
              <a:ext uri="{FF2B5EF4-FFF2-40B4-BE49-F238E27FC236}">
                <a16:creationId xmlns:a16="http://schemas.microsoft.com/office/drawing/2014/main" id="{F974D886-582E-A2B8-8A5B-9BDB4067EEBB}"/>
              </a:ext>
            </a:extLst>
          </p:cNvPr>
          <p:cNvSpPr txBox="1"/>
          <p:nvPr/>
        </p:nvSpPr>
        <p:spPr>
          <a:xfrm>
            <a:off x="4986550" y="8450627"/>
            <a:ext cx="188447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Work Sans" pitchFamily="2" charset="77"/>
                <a:ea typeface="+mn-ea"/>
                <a:cs typeface="+mn-cs"/>
              </a:rPr>
              <a:t>RM651</a:t>
            </a:r>
            <a:endParaRPr kumimoji="0" lang="en-US" sz="24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5" name="TextBox 34">
            <a:extLst>
              <a:ext uri="{FF2B5EF4-FFF2-40B4-BE49-F238E27FC236}">
                <a16:creationId xmlns:a16="http://schemas.microsoft.com/office/drawing/2014/main" id="{007CD14A-8A6A-4F90-619A-7719C6478FFA}"/>
              </a:ext>
            </a:extLst>
          </p:cNvPr>
          <p:cNvSpPr txBox="1"/>
          <p:nvPr/>
        </p:nvSpPr>
        <p:spPr>
          <a:xfrm>
            <a:off x="4986550" y="8201609"/>
            <a:ext cx="1884476" cy="307777"/>
          </a:xfrm>
          <a:prstGeom prst="rect">
            <a:avLst/>
          </a:prstGeom>
          <a:noFill/>
        </p:spPr>
        <p:txBody>
          <a:bodyPr wrap="square" rtlCol="0">
            <a:spAutoFit/>
          </a:bodyPr>
          <a:lstStyle/>
          <a:p>
            <a:pPr lvl="0" algn="ctr">
              <a:defRPr/>
            </a:pPr>
            <a:r>
              <a:rPr lang="en-US" sz="1400" dirty="0">
                <a:solidFill>
                  <a:prstClr val="black">
                    <a:lumMod val="65000"/>
                    <a:lumOff val="35000"/>
                  </a:prstClr>
                </a:solidFill>
                <a:latin typeface="Work Sans" pitchFamily="2" charset="77"/>
              </a:rPr>
              <a:t>TNB Bill After Solar</a:t>
            </a:r>
          </a:p>
        </p:txBody>
      </p:sp>
      <p:sp>
        <p:nvSpPr>
          <p:cNvPr id="3" name="TextBox 2">
            <a:extLst>
              <a:ext uri="{FF2B5EF4-FFF2-40B4-BE49-F238E27FC236}">
                <a16:creationId xmlns:a16="http://schemas.microsoft.com/office/drawing/2014/main" id="{53D23760-AFEE-DF99-E934-F27C81F4BCDC}"/>
              </a:ext>
            </a:extLst>
          </p:cNvPr>
          <p:cNvSpPr txBox="1"/>
          <p:nvPr/>
        </p:nvSpPr>
        <p:spPr>
          <a:xfrm>
            <a:off x="4816992" y="8853532"/>
            <a:ext cx="2186272"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[Monthly Savings:           ]</a:t>
            </a:r>
          </a:p>
        </p:txBody>
      </p:sp>
      <p:sp>
        <p:nvSpPr>
          <p:cNvPr id="28" name="tnb_bill">
            <a:extLst>
              <a:ext uri="{FF2B5EF4-FFF2-40B4-BE49-F238E27FC236}">
                <a16:creationId xmlns:a16="http://schemas.microsoft.com/office/drawing/2014/main" id="{4EB6F69A-3864-7726-EBC1-0457F0447C9D}"/>
              </a:ext>
            </a:extLst>
          </p:cNvPr>
          <p:cNvSpPr txBox="1"/>
          <p:nvPr/>
        </p:nvSpPr>
        <p:spPr>
          <a:xfrm>
            <a:off x="688647" y="8450627"/>
            <a:ext cx="188447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Work Sans" pitchFamily="2" charset="77"/>
                <a:ea typeface="+mn-ea"/>
                <a:cs typeface="+mn-cs"/>
              </a:rPr>
              <a:t>RM1,500</a:t>
            </a:r>
            <a:endParaRPr kumimoji="0" lang="en-US" sz="24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56" name="TextBox 55">
            <a:extLst>
              <a:ext uri="{FF2B5EF4-FFF2-40B4-BE49-F238E27FC236}">
                <a16:creationId xmlns:a16="http://schemas.microsoft.com/office/drawing/2014/main" id="{4F9E108B-FA33-A86F-1A3F-4F417C6A6045}"/>
              </a:ext>
            </a:extLst>
          </p:cNvPr>
          <p:cNvSpPr txBox="1"/>
          <p:nvPr/>
        </p:nvSpPr>
        <p:spPr>
          <a:xfrm>
            <a:off x="622532" y="8201609"/>
            <a:ext cx="2016707"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TNB Bill Before Solar</a:t>
            </a:r>
          </a:p>
        </p:txBody>
      </p:sp>
      <p:pic>
        <p:nvPicPr>
          <p:cNvPr id="7" name="Picture 6">
            <a:extLst>
              <a:ext uri="{FF2B5EF4-FFF2-40B4-BE49-F238E27FC236}">
                <a16:creationId xmlns:a16="http://schemas.microsoft.com/office/drawing/2014/main" id="{BCC9EF19-EFAD-A2F3-D204-3E60C5F03958}"/>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1414885" y="7596327"/>
            <a:ext cx="432000" cy="538479"/>
          </a:xfrm>
          <a:prstGeom prst="rect">
            <a:avLst/>
          </a:prstGeom>
        </p:spPr>
      </p:pic>
      <p:sp>
        <p:nvSpPr>
          <p:cNvPr id="9" name="solar_savings">
            <a:extLst>
              <a:ext uri="{FF2B5EF4-FFF2-40B4-BE49-F238E27FC236}">
                <a16:creationId xmlns:a16="http://schemas.microsoft.com/office/drawing/2014/main" id="{AA64050B-73D5-88AB-AE6B-FC52BC8C7978}"/>
              </a:ext>
            </a:extLst>
          </p:cNvPr>
          <p:cNvSpPr txBox="1"/>
          <p:nvPr/>
        </p:nvSpPr>
        <p:spPr>
          <a:xfrm>
            <a:off x="5796746" y="8853532"/>
            <a:ext cx="1296673" cy="246221"/>
          </a:xfrm>
          <a:prstGeom prst="rect">
            <a:avLst/>
          </a:prstGeom>
          <a:noFill/>
        </p:spPr>
        <p:txBody>
          <a:bodyPr wrap="square" rtlCol="0">
            <a:spAutoFit/>
          </a:bodyPr>
          <a:lstStyle/>
          <a:p>
            <a:pPr algn="ctr"/>
            <a:r>
              <a:rPr lang="en-US" sz="1000">
                <a:solidFill>
                  <a:schemeClr val="tx1">
                    <a:lumMod val="65000"/>
                    <a:lumOff val="35000"/>
                  </a:schemeClr>
                </a:solidFill>
                <a:latin typeface="Work Sans" pitchFamily="2" charset="0"/>
              </a:rPr>
              <a:t>RM849</a:t>
            </a:r>
            <a:endParaRPr lang="en-MY" sz="1000" dirty="0">
              <a:solidFill>
                <a:schemeClr val="tx1">
                  <a:lumMod val="65000"/>
                  <a:lumOff val="35000"/>
                </a:schemeClr>
              </a:solidFill>
              <a:latin typeface="Work Sans" pitchFamily="2" charset="0"/>
            </a:endParaRPr>
          </a:p>
        </p:txBody>
      </p:sp>
      <p:sp>
        <p:nvSpPr>
          <p:cNvPr id="2" name="TextBox 1">
            <a:extLst>
              <a:ext uri="{FF2B5EF4-FFF2-40B4-BE49-F238E27FC236}">
                <a16:creationId xmlns:a16="http://schemas.microsoft.com/office/drawing/2014/main" id="{54161F4F-E109-7975-8D25-8FFA25F05FFE}"/>
              </a:ext>
            </a:extLst>
          </p:cNvPr>
          <p:cNvSpPr txBox="1"/>
          <p:nvPr/>
        </p:nvSpPr>
        <p:spPr>
          <a:xfrm>
            <a:off x="2932515" y="8853533"/>
            <a:ext cx="1694643"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Panels]</a:t>
            </a:r>
          </a:p>
        </p:txBody>
      </p:sp>
      <p:sp>
        <p:nvSpPr>
          <p:cNvPr id="5" name="panel_size">
            <a:extLst>
              <a:ext uri="{FF2B5EF4-FFF2-40B4-BE49-F238E27FC236}">
                <a16:creationId xmlns:a16="http://schemas.microsoft.com/office/drawing/2014/main" id="{CE738FF0-CA9A-00BF-FC68-FD8FEA12A154}"/>
              </a:ext>
            </a:extLst>
          </p:cNvPr>
          <p:cNvSpPr txBox="1"/>
          <p:nvPr/>
        </p:nvSpPr>
        <p:spPr>
          <a:xfrm>
            <a:off x="3414181" y="8861845"/>
            <a:ext cx="429491" cy="246221"/>
          </a:xfrm>
          <a:prstGeom prst="rect">
            <a:avLst/>
          </a:prstGeom>
          <a:noFill/>
        </p:spPr>
        <p:txBody>
          <a:bodyPr wrap="square" rtlCol="0">
            <a:spAutoFit/>
          </a:bodyPr>
          <a:lstStyle/>
          <a:p>
            <a:r>
              <a:rPr lang="en-US" sz="1000" dirty="0">
                <a:solidFill>
                  <a:schemeClr val="tx1">
                    <a:lumMod val="65000"/>
                    <a:lumOff val="35000"/>
                  </a:schemeClr>
                </a:solidFill>
                <a:latin typeface="Work Sans" pitchFamily="2" charset="0"/>
              </a:rPr>
              <a:t>32</a:t>
            </a:r>
            <a:endParaRPr lang="en-MY" sz="1000" dirty="0">
              <a:solidFill>
                <a:schemeClr val="tx1">
                  <a:lumMod val="65000"/>
                  <a:lumOff val="35000"/>
                </a:schemeClr>
              </a:solidFill>
              <a:latin typeface="Work Sans" pitchFamily="2" charset="0"/>
            </a:endParaRPr>
          </a:p>
        </p:txBody>
      </p:sp>
      <p:pic>
        <p:nvPicPr>
          <p:cNvPr id="26" name="Picture 25">
            <a:extLst>
              <a:ext uri="{FF2B5EF4-FFF2-40B4-BE49-F238E27FC236}">
                <a16:creationId xmlns:a16="http://schemas.microsoft.com/office/drawing/2014/main" id="{BAE3F36C-A7C1-46CA-8A8B-8C09E001051F}"/>
              </a:ext>
            </a:extLst>
          </p:cNvPr>
          <p:cNvPicPr>
            <a:picLocks noChangeAspect="1"/>
          </p:cNvPicPr>
          <p:nvPr/>
        </p:nvPicPr>
        <p:blipFill>
          <a:blip r:embed="rId7"/>
          <a:stretch>
            <a:fillRect/>
          </a:stretch>
        </p:blipFill>
        <p:spPr>
          <a:xfrm>
            <a:off x="556409" y="1174417"/>
            <a:ext cx="6446856" cy="4348481"/>
          </a:xfrm>
          <a:prstGeom prst="rect">
            <a:avLst/>
          </a:prstGeom>
        </p:spPr>
      </p:pic>
    </p:spTree>
    <p:extLst>
      <p:ext uri="{BB962C8B-B14F-4D97-AF65-F5344CB8AC3E}">
        <p14:creationId xmlns:p14="http://schemas.microsoft.com/office/powerpoint/2010/main" val="160587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852DB-308B-E919-30C9-30D0EB4E3BD8}"/>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3A99FA4C-C9BC-9B9C-FEFC-44570B327467}"/>
              </a:ext>
            </a:extLst>
          </p:cNvPr>
          <p:cNvPicPr>
            <a:picLocks/>
          </p:cNvPicPr>
          <p:nvPr/>
        </p:nvPicPr>
        <p:blipFill>
          <a:blip r:embed="rId2" cstate="email">
            <a:extLst>
              <a:ext uri="{28A0092B-C50C-407E-A947-70E740481C1C}">
                <a14:useLocalDpi xmlns:a14="http://schemas.microsoft.com/office/drawing/2010/main"/>
              </a:ext>
            </a:extLst>
          </a:blip>
          <a:srcRect/>
          <a:stretch>
            <a:fillRect/>
          </a:stretch>
        </p:blipFill>
        <p:spPr>
          <a:xfrm>
            <a:off x="-163" y="7001813"/>
            <a:ext cx="7560000" cy="3690000"/>
          </a:xfrm>
          <a:prstGeom prst="rect">
            <a:avLst/>
          </a:prstGeom>
        </p:spPr>
      </p:pic>
      <p:sp>
        <p:nvSpPr>
          <p:cNvPr id="11" name="TextBox 10">
            <a:extLst>
              <a:ext uri="{FF2B5EF4-FFF2-40B4-BE49-F238E27FC236}">
                <a16:creationId xmlns:a16="http://schemas.microsoft.com/office/drawing/2014/main" id="{1EC24A38-830A-CF37-6597-4BF40F9B7080}"/>
              </a:ext>
            </a:extLst>
          </p:cNvPr>
          <p:cNvSpPr txBox="1"/>
          <p:nvPr/>
        </p:nvSpPr>
        <p:spPr>
          <a:xfrm>
            <a:off x="323837" y="405855"/>
            <a:ext cx="6912000" cy="769441"/>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454CD"/>
                </a:solidFill>
                <a:effectLst/>
                <a:uLnTx/>
                <a:uFillTx/>
                <a:latin typeface="Work Sans" pitchFamily="2" charset="77"/>
                <a:ea typeface="+mn-ea"/>
                <a:cs typeface="+mn-cs"/>
              </a:rPr>
              <a:t>Why Emit Solar</a:t>
            </a:r>
            <a:endParaRPr kumimoji="0" lang="en-US" sz="500" i="0" u="none" strike="noStrike" kern="1200" cap="none" spc="0" normalizeH="0" baseline="0" noProof="0" dirty="0">
              <a:ln>
                <a:noFill/>
              </a:ln>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Work Sans" pitchFamily="2" charset="77"/>
                <a:ea typeface="+mn-ea"/>
                <a:cs typeface="+mn-cs"/>
              </a:rPr>
              <a:t>Solar you </a:t>
            </a:r>
            <a:r>
              <a:rPr lang="en-US" sz="1200" dirty="0">
                <a:latin typeface="Work Sans" pitchFamily="2" charset="77"/>
              </a:rPr>
              <a:t>c</a:t>
            </a:r>
            <a:r>
              <a:rPr kumimoji="0" lang="en-US" sz="1200" i="0" u="none" strike="noStrike" kern="1200" cap="none" spc="0" normalizeH="0" baseline="0" noProof="0" dirty="0">
                <a:ln>
                  <a:noFill/>
                </a:ln>
                <a:effectLst/>
                <a:uLnTx/>
                <a:uFillTx/>
                <a:latin typeface="Work Sans" pitchFamily="2" charset="77"/>
                <a:ea typeface="+mn-ea"/>
                <a:cs typeface="+mn-cs"/>
              </a:rPr>
              <a:t>an </a:t>
            </a:r>
            <a:r>
              <a:rPr lang="en-US" sz="1200" dirty="0">
                <a:latin typeface="Work Sans" pitchFamily="2" charset="77"/>
              </a:rPr>
              <a:t>count</a:t>
            </a:r>
            <a:r>
              <a:rPr kumimoji="0" lang="en-US" sz="1200" i="0" u="none" strike="noStrike" kern="1200" cap="none" spc="0" normalizeH="0" baseline="0" noProof="0" dirty="0">
                <a:ln>
                  <a:noFill/>
                </a:ln>
                <a:effectLst/>
                <a:uLnTx/>
                <a:uFillTx/>
                <a:latin typeface="Work Sans" pitchFamily="2" charset="77"/>
                <a:ea typeface="+mn-ea"/>
                <a:cs typeface="+mn-cs"/>
              </a:rPr>
              <a:t> on, from </a:t>
            </a:r>
            <a:r>
              <a:rPr lang="en-US" sz="1200" dirty="0">
                <a:latin typeface="Work Sans" pitchFamily="2" charset="77"/>
              </a:rPr>
              <a:t>a</a:t>
            </a:r>
            <a:r>
              <a:rPr kumimoji="0" lang="en-US" sz="1200" i="0" u="none" strike="noStrike" kern="1200" cap="none" spc="0" normalizeH="0" baseline="0" noProof="0" dirty="0">
                <a:ln>
                  <a:noFill/>
                </a:ln>
                <a:effectLst/>
                <a:uLnTx/>
                <a:uFillTx/>
                <a:latin typeface="Work Sans" pitchFamily="2" charset="77"/>
                <a:ea typeface="+mn-ea"/>
                <a:cs typeface="+mn-cs"/>
              </a:rPr>
              <a:t> brand you </a:t>
            </a:r>
            <a:r>
              <a:rPr lang="en-US" sz="1200" dirty="0">
                <a:latin typeface="Work Sans" pitchFamily="2" charset="77"/>
              </a:rPr>
              <a:t>t</a:t>
            </a:r>
            <a:r>
              <a:rPr kumimoji="0" lang="en-US" sz="1200" i="0" u="none" strike="noStrike" kern="1200" cap="none" spc="0" normalizeH="0" baseline="0" noProof="0" dirty="0">
                <a:ln>
                  <a:noFill/>
                </a:ln>
                <a:effectLst/>
                <a:uLnTx/>
                <a:uFillTx/>
                <a:latin typeface="Work Sans" pitchFamily="2" charset="77"/>
                <a:ea typeface="+mn-ea"/>
                <a:cs typeface="+mn-cs"/>
              </a:rPr>
              <a:t>rust.</a:t>
            </a:r>
          </a:p>
        </p:txBody>
      </p:sp>
      <p:grpSp>
        <p:nvGrpSpPr>
          <p:cNvPr id="72" name="Group 71">
            <a:extLst>
              <a:ext uri="{FF2B5EF4-FFF2-40B4-BE49-F238E27FC236}">
                <a16:creationId xmlns:a16="http://schemas.microsoft.com/office/drawing/2014/main" id="{AFFF3E2C-95CA-FA1D-226A-A62D4912B8E8}"/>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C65BB02B-DB93-E51A-EF29-A91A37B0B3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938A46C6-9C22-7004-CE11-79F5CEE4D5B0}"/>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bg1"/>
                  </a:solidFill>
                  <a:latin typeface="Work Sans" pitchFamily="2" charset="77"/>
                </a:rPr>
                <a:t>www.emitsolar.com</a:t>
              </a:r>
            </a:p>
          </p:txBody>
        </p:sp>
      </p:grpSp>
      <p:sp>
        <p:nvSpPr>
          <p:cNvPr id="22" name="Google Shape;122;p2">
            <a:extLst>
              <a:ext uri="{FF2B5EF4-FFF2-40B4-BE49-F238E27FC236}">
                <a16:creationId xmlns:a16="http://schemas.microsoft.com/office/drawing/2014/main" id="{63317596-9FF8-9EB3-5DCB-101079254786}"/>
              </a:ext>
            </a:extLst>
          </p:cNvPr>
          <p:cNvSpPr/>
          <p:nvPr/>
        </p:nvSpPr>
        <p:spPr>
          <a:xfrm rot="16200000">
            <a:off x="2528827" y="2305171"/>
            <a:ext cx="2502020" cy="8482533"/>
          </a:xfrm>
          <a:custGeom>
            <a:avLst/>
            <a:gdLst/>
            <a:ahLst/>
            <a:cxnLst/>
            <a:rect l="l" t="t" r="r" b="b"/>
            <a:pathLst>
              <a:path w="4861613" h="10427042" extrusionOk="0">
                <a:moveTo>
                  <a:pt x="0" y="0"/>
                </a:moveTo>
                <a:lnTo>
                  <a:pt x="4861613" y="0"/>
                </a:lnTo>
                <a:lnTo>
                  <a:pt x="4861613" y="10427042"/>
                </a:lnTo>
                <a:lnTo>
                  <a:pt x="0" y="10427042"/>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25" tIns="45700" rIns="91425" bIns="45700" anchor="t" anchorCtr="0">
            <a:noAutofit/>
          </a:bodyPr>
          <a:lstStyle/>
          <a:p>
            <a:pPr defTabSz="914400">
              <a:buClr>
                <a:srgbClr val="000000"/>
              </a:buClr>
              <a:buFont typeface="Arial"/>
              <a:buNone/>
            </a:pPr>
            <a:endParaRPr kern="0">
              <a:solidFill>
                <a:srgbClr val="000000"/>
              </a:solidFill>
              <a:ea typeface="Calibri"/>
              <a:cs typeface="Calibri"/>
              <a:sym typeface="Calibri"/>
            </a:endParaRPr>
          </a:p>
        </p:txBody>
      </p:sp>
      <p:sp>
        <p:nvSpPr>
          <p:cNvPr id="24" name="Google Shape;125;p2">
            <a:extLst>
              <a:ext uri="{FF2B5EF4-FFF2-40B4-BE49-F238E27FC236}">
                <a16:creationId xmlns:a16="http://schemas.microsoft.com/office/drawing/2014/main" id="{B1FC06E7-8B3C-6295-37CD-AEFB67F7399B}"/>
              </a:ext>
            </a:extLst>
          </p:cNvPr>
          <p:cNvSpPr/>
          <p:nvPr/>
        </p:nvSpPr>
        <p:spPr>
          <a:xfrm>
            <a:off x="362064" y="1568232"/>
            <a:ext cx="6832372" cy="4877474"/>
          </a:xfrm>
          <a:prstGeom prst="rect">
            <a:avLst/>
          </a:prstGeom>
          <a:noFill/>
          <a:ln w="19050" cap="sq" cmpd="sng">
            <a:solidFill>
              <a:srgbClr val="F454CD"/>
            </a:solidFill>
            <a:prstDash val="solid"/>
            <a:miter lim="8000"/>
            <a:headEnd type="none" w="sm" len="sm"/>
            <a:tailEnd type="none" w="sm" len="sm"/>
          </a:ln>
        </p:spPr>
        <p:txBody>
          <a:bodyPr spcFirstLastPara="1" wrap="square" lIns="91425" tIns="45700" rIns="91425" bIns="45700" anchor="ctr" anchorCtr="0">
            <a:noAutofit/>
          </a:bodyPr>
          <a:lstStyle/>
          <a:p>
            <a:pPr algn="ctr" defTabSz="914400">
              <a:buClr>
                <a:srgbClr val="000000"/>
              </a:buClr>
              <a:buSzPts val="2800"/>
              <a:buFont typeface="Calibri"/>
              <a:buNone/>
            </a:pPr>
            <a:endParaRPr sz="2800" kern="0">
              <a:solidFill>
                <a:srgbClr val="000000"/>
              </a:solidFill>
              <a:latin typeface="Work Sans SemiBold"/>
              <a:ea typeface="Work Sans SemiBold"/>
              <a:cs typeface="Work Sans SemiBold"/>
              <a:sym typeface="Work Sans SemiBold"/>
            </a:endParaRPr>
          </a:p>
        </p:txBody>
      </p:sp>
      <p:grpSp>
        <p:nvGrpSpPr>
          <p:cNvPr id="28" name="Google Shape;127;p2">
            <a:extLst>
              <a:ext uri="{FF2B5EF4-FFF2-40B4-BE49-F238E27FC236}">
                <a16:creationId xmlns:a16="http://schemas.microsoft.com/office/drawing/2014/main" id="{3399CA36-D16A-197D-56E2-3C4EF52BEAB1}"/>
              </a:ext>
            </a:extLst>
          </p:cNvPr>
          <p:cNvGrpSpPr/>
          <p:nvPr/>
        </p:nvGrpSpPr>
        <p:grpSpPr>
          <a:xfrm>
            <a:off x="773173" y="3960331"/>
            <a:ext cx="6010155" cy="360099"/>
            <a:chOff x="749300" y="7660878"/>
            <a:chExt cx="6010155" cy="360099"/>
          </a:xfrm>
        </p:grpSpPr>
        <p:cxnSp>
          <p:nvCxnSpPr>
            <p:cNvPr id="29" name="Google Shape;128;p2">
              <a:extLst>
                <a:ext uri="{FF2B5EF4-FFF2-40B4-BE49-F238E27FC236}">
                  <a16:creationId xmlns:a16="http://schemas.microsoft.com/office/drawing/2014/main" id="{BBCA4DE9-ABDE-8E50-429B-DA1912081AA1}"/>
                </a:ext>
              </a:extLst>
            </p:cNvPr>
            <p:cNvCxnSpPr/>
            <p:nvPr/>
          </p:nvCxnSpPr>
          <p:spPr>
            <a:xfrm>
              <a:off x="749300" y="7857131"/>
              <a:ext cx="6010155" cy="0"/>
            </a:xfrm>
            <a:prstGeom prst="straightConnector1">
              <a:avLst/>
            </a:prstGeom>
            <a:noFill/>
            <a:ln w="19050" cap="flat" cmpd="sng">
              <a:solidFill>
                <a:srgbClr val="F454CD"/>
              </a:solidFill>
              <a:prstDash val="solid"/>
              <a:round/>
              <a:headEnd type="none" w="sm" len="sm"/>
              <a:tailEnd type="none" w="sm" len="sm"/>
            </a:ln>
          </p:spPr>
        </p:cxnSp>
        <p:sp>
          <p:nvSpPr>
            <p:cNvPr id="35" name="Google Shape;129;p2">
              <a:extLst>
                <a:ext uri="{FF2B5EF4-FFF2-40B4-BE49-F238E27FC236}">
                  <a16:creationId xmlns:a16="http://schemas.microsoft.com/office/drawing/2014/main" id="{EB187CA4-2921-66D1-DF1B-71C413593FAF}"/>
                </a:ext>
              </a:extLst>
            </p:cNvPr>
            <p:cNvSpPr txBox="1"/>
            <p:nvPr/>
          </p:nvSpPr>
          <p:spPr>
            <a:xfrm>
              <a:off x="2537364" y="7660878"/>
              <a:ext cx="2437200" cy="360099"/>
            </a:xfrm>
            <a:prstGeom prst="rect">
              <a:avLst/>
            </a:prstGeom>
            <a:solidFill>
              <a:srgbClr val="FFFFFF"/>
            </a:solidFill>
            <a:ln>
              <a:noFill/>
            </a:ln>
          </p:spPr>
          <p:txBody>
            <a:bodyPr spcFirstLastPara="1" wrap="square" lIns="0" tIns="0" rIns="0" bIns="0" anchor="ctr" anchorCtr="0">
              <a:spAutoFit/>
            </a:bodyPr>
            <a:lstStyle/>
            <a:p>
              <a:pPr marL="0" marR="0" lvl="0" indent="0" algn="ctr" defTabSz="914400" eaLnBrk="1" fontAlgn="auto" latinLnBrk="0" hangingPunct="1">
                <a:lnSpc>
                  <a:spcPct val="129944"/>
                </a:lnSpc>
                <a:spcBef>
                  <a:spcPts val="0"/>
                </a:spcBef>
                <a:spcAft>
                  <a:spcPts val="0"/>
                </a:spcAft>
                <a:buClr>
                  <a:srgbClr val="000000"/>
                </a:buClr>
                <a:buSzTx/>
                <a:buFont typeface="Arial"/>
                <a:buNone/>
                <a:tabLst/>
                <a:defRPr/>
              </a:pPr>
              <a:r>
                <a:rPr kumimoji="0" lang="en-US" sz="1800" b="1" u="none" strike="noStrike" kern="0" cap="none" spc="0" normalizeH="0" baseline="0" noProof="0" dirty="0">
                  <a:ln>
                    <a:noFill/>
                  </a:ln>
                  <a:solidFill>
                    <a:srgbClr val="F454CD"/>
                  </a:solidFill>
                  <a:effectLst/>
                  <a:uLnTx/>
                  <a:uFillTx/>
                  <a:latin typeface="Work Sans" pitchFamily="2" charset="77"/>
                  <a:ea typeface="Work Sans Medium"/>
                  <a:cs typeface="Work Sans Medium"/>
                  <a:sym typeface="Work Sans Medium"/>
                </a:rPr>
                <a:t>Backed by Time</a:t>
              </a:r>
              <a:endParaRPr kumimoji="0" sz="1400" b="1" u="none" strike="noStrike" kern="0" cap="none" spc="0" normalizeH="0" baseline="0" noProof="0" dirty="0">
                <a:ln>
                  <a:noFill/>
                </a:ln>
                <a:solidFill>
                  <a:srgbClr val="F454CD"/>
                </a:solidFill>
                <a:effectLst/>
                <a:uLnTx/>
                <a:uFillTx/>
                <a:latin typeface="Work Sans" pitchFamily="2" charset="77"/>
                <a:cs typeface="Arial"/>
                <a:sym typeface="Arial"/>
              </a:endParaRPr>
            </a:p>
          </p:txBody>
        </p:sp>
      </p:grpSp>
      <p:sp>
        <p:nvSpPr>
          <p:cNvPr id="42" name="Google Shape;150;p2">
            <a:extLst>
              <a:ext uri="{FF2B5EF4-FFF2-40B4-BE49-F238E27FC236}">
                <a16:creationId xmlns:a16="http://schemas.microsoft.com/office/drawing/2014/main" id="{B2BE98BE-7323-A331-FBA8-FA43EEFAC3DE}"/>
              </a:ext>
            </a:extLst>
          </p:cNvPr>
          <p:cNvSpPr txBox="1"/>
          <p:nvPr/>
        </p:nvSpPr>
        <p:spPr>
          <a:xfrm>
            <a:off x="604236" y="2761979"/>
            <a:ext cx="1836000" cy="646290"/>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Simple to Own</a:t>
            </a:r>
            <a:endParaRPr sz="1200" b="1" kern="0" dirty="0">
              <a:solidFill>
                <a:srgbClr val="FF0000"/>
              </a:solidFill>
              <a:latin typeface="Work Sans" pitchFamily="2" charset="77"/>
              <a:ea typeface="Work Sans Medium"/>
              <a:cs typeface="Work Sans Medium"/>
              <a:sym typeface="Work Sans Medium"/>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lvl="0" algn="ctr" defTabSz="914400">
              <a:defRPr/>
            </a:pPr>
            <a:r>
              <a:rPr lang="en-US" sz="1000" dirty="0">
                <a:latin typeface="Work Sans" pitchFamily="2" charset="77"/>
              </a:rPr>
              <a:t>Low monthly payments, no credit card required.</a:t>
            </a:r>
          </a:p>
        </p:txBody>
      </p:sp>
      <p:sp>
        <p:nvSpPr>
          <p:cNvPr id="43" name="Google Shape;158;p2">
            <a:extLst>
              <a:ext uri="{FF2B5EF4-FFF2-40B4-BE49-F238E27FC236}">
                <a16:creationId xmlns:a16="http://schemas.microsoft.com/office/drawing/2014/main" id="{5AEEDC75-3178-4DF7-6156-C95942D8069C}"/>
              </a:ext>
            </a:extLst>
          </p:cNvPr>
          <p:cNvSpPr txBox="1"/>
          <p:nvPr/>
        </p:nvSpPr>
        <p:spPr>
          <a:xfrm>
            <a:off x="5116265" y="2761979"/>
            <a:ext cx="1836000" cy="646290"/>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Simple to Use</a:t>
            </a:r>
            <a:endParaRPr sz="1200" b="1" kern="0" dirty="0">
              <a:solidFill>
                <a:srgbClr val="000000"/>
              </a:solidFill>
              <a:latin typeface="Work Sans" pitchFamily="2" charset="77"/>
              <a:cs typeface="Arial"/>
              <a:sym typeface="Arial"/>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lvl="0" algn="ctr" defTabSz="914400">
              <a:defRPr/>
            </a:pPr>
            <a:r>
              <a:rPr lang="en-US" sz="1000" dirty="0">
                <a:latin typeface="Work Sans" pitchFamily="2" charset="77"/>
              </a:rPr>
              <a:t>Supported by brands you can trust.</a:t>
            </a:r>
          </a:p>
        </p:txBody>
      </p:sp>
      <p:sp>
        <p:nvSpPr>
          <p:cNvPr id="44" name="Google Shape;154;p2">
            <a:extLst>
              <a:ext uri="{FF2B5EF4-FFF2-40B4-BE49-F238E27FC236}">
                <a16:creationId xmlns:a16="http://schemas.microsoft.com/office/drawing/2014/main" id="{2720AA79-7B05-A908-6244-375731C88D13}"/>
              </a:ext>
            </a:extLst>
          </p:cNvPr>
          <p:cNvSpPr txBox="1"/>
          <p:nvPr/>
        </p:nvSpPr>
        <p:spPr>
          <a:xfrm>
            <a:off x="2835050" y="2761979"/>
            <a:ext cx="1886400" cy="646290"/>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Simple to Save</a:t>
            </a:r>
            <a:endParaRPr sz="1200" b="1" kern="0" dirty="0">
              <a:solidFill>
                <a:srgbClr val="000000"/>
              </a:solidFill>
              <a:latin typeface="Work Sans" pitchFamily="2" charset="77"/>
              <a:ea typeface="Work Sans Medium"/>
              <a:cs typeface="Work Sans Medium"/>
              <a:sym typeface="Work Sans Medium"/>
            </a:endParaRPr>
          </a:p>
          <a:p>
            <a:pPr algn="ctr" defTabSz="914400">
              <a:buClr>
                <a:srgbClr val="000000"/>
              </a:buClr>
              <a:buSzPts val="400"/>
              <a:buFont typeface="Calibri"/>
              <a:buNone/>
            </a:pPr>
            <a:endParaRPr lang="en-US" sz="400" kern="0" dirty="0">
              <a:solidFill>
                <a:srgbClr val="000000"/>
              </a:solidFill>
              <a:latin typeface="Work Sans" pitchFamily="2" charset="77"/>
              <a:ea typeface="Work Sans Medium"/>
              <a:cs typeface="Work Sans Medium"/>
              <a:sym typeface="Work Sans Medium"/>
            </a:endParaRPr>
          </a:p>
          <a:p>
            <a:pPr lvl="0" algn="ctr" defTabSz="914400">
              <a:defRPr/>
            </a:pPr>
            <a:r>
              <a:rPr lang="en-US" sz="1000" dirty="0">
                <a:latin typeface="Work Sans" pitchFamily="2" charset="77"/>
              </a:rPr>
              <a:t>Real savings on your TNB bill from day one.</a:t>
            </a:r>
          </a:p>
        </p:txBody>
      </p:sp>
      <p:sp>
        <p:nvSpPr>
          <p:cNvPr id="46" name="Google Shape;131;p2">
            <a:extLst>
              <a:ext uri="{FF2B5EF4-FFF2-40B4-BE49-F238E27FC236}">
                <a16:creationId xmlns:a16="http://schemas.microsoft.com/office/drawing/2014/main" id="{43E1A74E-3CF3-3976-975C-BCAD5E9D4EB3}"/>
              </a:ext>
            </a:extLst>
          </p:cNvPr>
          <p:cNvSpPr txBox="1"/>
          <p:nvPr/>
        </p:nvSpPr>
        <p:spPr>
          <a:xfrm>
            <a:off x="546090" y="5411337"/>
            <a:ext cx="2088000" cy="800179"/>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Proven Reliability</a:t>
            </a:r>
            <a:endParaRPr sz="1200" b="1" kern="0" dirty="0">
              <a:solidFill>
                <a:srgbClr val="000000"/>
              </a:solidFill>
              <a:latin typeface="Work Sans" pitchFamily="2" charset="77"/>
              <a:cs typeface="Arial"/>
              <a:sym typeface="Arial"/>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algn="ctr" defTabSz="914400">
              <a:buClr>
                <a:srgbClr val="000000"/>
              </a:buClr>
              <a:buFont typeface="Arial"/>
              <a:buNone/>
            </a:pPr>
            <a:r>
              <a:rPr lang="en-MY" sz="1000" kern="0" dirty="0">
                <a:solidFill>
                  <a:srgbClr val="000000"/>
                </a:solidFill>
                <a:latin typeface="Work Sans" pitchFamily="2" charset="77"/>
                <a:cs typeface="Arial"/>
                <a:sym typeface="Arial"/>
              </a:rPr>
              <a:t>Decades of quality products, consistent performance and trusted service.</a:t>
            </a:r>
            <a:endParaRPr sz="1400" kern="0" dirty="0">
              <a:solidFill>
                <a:srgbClr val="000000"/>
              </a:solidFill>
              <a:latin typeface="Work Sans" pitchFamily="2" charset="77"/>
              <a:cs typeface="Arial"/>
              <a:sym typeface="Arial"/>
            </a:endParaRPr>
          </a:p>
        </p:txBody>
      </p:sp>
      <p:sp>
        <p:nvSpPr>
          <p:cNvPr id="47" name="Google Shape;136;p2">
            <a:extLst>
              <a:ext uri="{FF2B5EF4-FFF2-40B4-BE49-F238E27FC236}">
                <a16:creationId xmlns:a16="http://schemas.microsoft.com/office/drawing/2014/main" id="{0C85E8D8-40B6-D2D4-5D00-6C07E0D0304A}"/>
              </a:ext>
            </a:extLst>
          </p:cNvPr>
          <p:cNvSpPr txBox="1"/>
          <p:nvPr/>
        </p:nvSpPr>
        <p:spPr>
          <a:xfrm>
            <a:off x="2669990" y="5411337"/>
            <a:ext cx="2487939" cy="800179"/>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Complete Expertise</a:t>
            </a:r>
            <a:endParaRPr sz="1200" b="1" kern="0" dirty="0">
              <a:solidFill>
                <a:srgbClr val="000000"/>
              </a:solidFill>
              <a:latin typeface="Work Sans" pitchFamily="2" charset="77"/>
              <a:cs typeface="Arial"/>
              <a:sym typeface="Arial"/>
            </a:endParaRPr>
          </a:p>
          <a:p>
            <a:pP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algn="ctr" defTabSz="914400">
              <a:buClr>
                <a:srgbClr val="000000"/>
              </a:buClr>
              <a:buFont typeface="Arial"/>
              <a:buNone/>
            </a:pPr>
            <a:r>
              <a:rPr lang="en-US" sz="1000" kern="0" dirty="0">
                <a:solidFill>
                  <a:srgbClr val="000000"/>
                </a:solidFill>
                <a:latin typeface="Work Sans" pitchFamily="2" charset="77"/>
                <a:ea typeface="Work Sans Light"/>
                <a:cs typeface="Work Sans Light"/>
                <a:sym typeface="Work Sans Light"/>
              </a:rPr>
              <a:t>Every system designed, component handpicked and installer trained </a:t>
            </a:r>
          </a:p>
          <a:p>
            <a:pPr algn="ctr" defTabSz="914400">
              <a:buClr>
                <a:srgbClr val="000000"/>
              </a:buClr>
              <a:buFont typeface="Arial"/>
              <a:buNone/>
            </a:pPr>
            <a:r>
              <a:rPr lang="en-US" sz="1000" kern="0" dirty="0">
                <a:solidFill>
                  <a:srgbClr val="000000"/>
                </a:solidFill>
                <a:latin typeface="Work Sans" pitchFamily="2" charset="77"/>
                <a:ea typeface="Work Sans Light"/>
                <a:cs typeface="Work Sans Light"/>
                <a:sym typeface="Work Sans Light"/>
              </a:rPr>
              <a:t>to our highest standards.</a:t>
            </a:r>
          </a:p>
        </p:txBody>
      </p:sp>
      <p:sp>
        <p:nvSpPr>
          <p:cNvPr id="48" name="Google Shape;143;p2">
            <a:extLst>
              <a:ext uri="{FF2B5EF4-FFF2-40B4-BE49-F238E27FC236}">
                <a16:creationId xmlns:a16="http://schemas.microsoft.com/office/drawing/2014/main" id="{0F9C415E-9389-4CED-9872-D2B2B47A7608}"/>
              </a:ext>
            </a:extLst>
          </p:cNvPr>
          <p:cNvSpPr txBox="1"/>
          <p:nvPr/>
        </p:nvSpPr>
        <p:spPr>
          <a:xfrm>
            <a:off x="5193828" y="5411337"/>
            <a:ext cx="1816582" cy="800179"/>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Certified Safety</a:t>
            </a:r>
            <a:endParaRPr sz="1200" b="1" kern="0" dirty="0">
              <a:solidFill>
                <a:srgbClr val="000000"/>
              </a:solidFill>
              <a:latin typeface="Work Sans" pitchFamily="2" charset="77"/>
              <a:cs typeface="Arial"/>
              <a:sym typeface="Arial"/>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algn="ctr" defTabSz="914400">
              <a:buClr>
                <a:srgbClr val="000000"/>
              </a:buClr>
              <a:buFont typeface="Arial"/>
              <a:buNone/>
            </a:pPr>
            <a:r>
              <a:rPr lang="en-US" sz="1000" kern="0" dirty="0">
                <a:solidFill>
                  <a:srgbClr val="000000"/>
                </a:solidFill>
                <a:latin typeface="Work Sans" pitchFamily="2" charset="77"/>
                <a:ea typeface="Work Sans Light"/>
                <a:cs typeface="Work Sans Light"/>
                <a:sym typeface="Work Sans Light"/>
              </a:rPr>
              <a:t>Fully licensed operations, highly skilled teams and strict safety standards.</a:t>
            </a:r>
            <a:endParaRPr sz="1400" kern="0" dirty="0">
              <a:solidFill>
                <a:srgbClr val="000000"/>
              </a:solidFill>
              <a:latin typeface="Work Sans" pitchFamily="2" charset="77"/>
              <a:cs typeface="Arial"/>
              <a:sym typeface="Arial"/>
            </a:endParaRPr>
          </a:p>
        </p:txBody>
      </p:sp>
      <p:pic>
        <p:nvPicPr>
          <p:cNvPr id="50" name="Picture 49">
            <a:extLst>
              <a:ext uri="{FF2B5EF4-FFF2-40B4-BE49-F238E27FC236}">
                <a16:creationId xmlns:a16="http://schemas.microsoft.com/office/drawing/2014/main" id="{B25F347E-31BB-B64F-B1E4-18F926BB1D7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38237" y="2169430"/>
            <a:ext cx="576000" cy="576000"/>
          </a:xfrm>
          <a:prstGeom prst="rect">
            <a:avLst/>
          </a:prstGeom>
        </p:spPr>
      </p:pic>
      <p:pic>
        <p:nvPicPr>
          <p:cNvPr id="54" name="Picture 53">
            <a:extLst>
              <a:ext uri="{FF2B5EF4-FFF2-40B4-BE49-F238E27FC236}">
                <a16:creationId xmlns:a16="http://schemas.microsoft.com/office/drawing/2014/main" id="{EEAE7FD6-834F-C6E3-C8BF-01D94691B5C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302090" y="4694637"/>
            <a:ext cx="576000" cy="576000"/>
          </a:xfrm>
          <a:prstGeom prst="rect">
            <a:avLst/>
          </a:prstGeom>
        </p:spPr>
      </p:pic>
      <p:pic>
        <p:nvPicPr>
          <p:cNvPr id="55" name="Picture 54">
            <a:extLst>
              <a:ext uri="{FF2B5EF4-FFF2-40B4-BE49-F238E27FC236}">
                <a16:creationId xmlns:a16="http://schemas.microsoft.com/office/drawing/2014/main" id="{00560468-D1FD-6962-592B-BFD25614937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14119" y="4699048"/>
            <a:ext cx="576000" cy="576000"/>
          </a:xfrm>
          <a:prstGeom prst="rect">
            <a:avLst/>
          </a:prstGeom>
        </p:spPr>
      </p:pic>
      <p:pic>
        <p:nvPicPr>
          <p:cNvPr id="56" name="Picture 55">
            <a:extLst>
              <a:ext uri="{FF2B5EF4-FFF2-40B4-BE49-F238E27FC236}">
                <a16:creationId xmlns:a16="http://schemas.microsoft.com/office/drawing/2014/main" id="{AEBAE92A-CA2E-46DE-0CEC-7D1C5A6A3DF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625959" y="4694637"/>
            <a:ext cx="576000" cy="576000"/>
          </a:xfrm>
          <a:prstGeom prst="rect">
            <a:avLst/>
          </a:prstGeom>
        </p:spPr>
      </p:pic>
      <p:sp>
        <p:nvSpPr>
          <p:cNvPr id="61" name="Google Shape;126;p2">
            <a:extLst>
              <a:ext uri="{FF2B5EF4-FFF2-40B4-BE49-F238E27FC236}">
                <a16:creationId xmlns:a16="http://schemas.microsoft.com/office/drawing/2014/main" id="{78C54958-2BC4-9369-E0FA-51E4268E5D8E}"/>
              </a:ext>
            </a:extLst>
          </p:cNvPr>
          <p:cNvSpPr/>
          <p:nvPr/>
        </p:nvSpPr>
        <p:spPr>
          <a:xfrm>
            <a:off x="2559673" y="1385155"/>
            <a:ext cx="2437155" cy="360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454CD"/>
              </a:buClr>
              <a:buSzPts val="1800"/>
              <a:buFont typeface="Work Sans Medium"/>
              <a:buNone/>
            </a:pPr>
            <a:r>
              <a:rPr lang="en-US" sz="1800" b="1" u="none" strike="noStrike" cap="none" dirty="0">
                <a:solidFill>
                  <a:srgbClr val="F454CD"/>
                </a:solidFill>
                <a:latin typeface="Work Sans" pitchFamily="2" charset="77"/>
                <a:ea typeface="Work Sans Medium"/>
                <a:cs typeface="Work Sans Medium"/>
                <a:sym typeface="Work Sans Medium"/>
              </a:rPr>
              <a:t>Solar Made Simple</a:t>
            </a:r>
            <a:endParaRPr b="1" dirty="0">
              <a:solidFill>
                <a:srgbClr val="F454CD"/>
              </a:solidFill>
              <a:latin typeface="Work Sans" pitchFamily="2" charset="77"/>
            </a:endParaRPr>
          </a:p>
        </p:txBody>
      </p:sp>
      <p:pic>
        <p:nvPicPr>
          <p:cNvPr id="2" name="Picture 1" descr="A black screen with pink icons&#10;&#10;AI-generated content may be incorrect.">
            <a:extLst>
              <a:ext uri="{FF2B5EF4-FFF2-40B4-BE49-F238E27FC236}">
                <a16:creationId xmlns:a16="http://schemas.microsoft.com/office/drawing/2014/main" id="{E6C4DD96-56DC-84E8-8DAA-FFDB213FBDE0}"/>
              </a:ext>
            </a:extLst>
          </p:cNvPr>
          <p:cNvPicPr>
            <a:picLocks noChangeAspect="1"/>
          </p:cNvPicPr>
          <p:nvPr/>
        </p:nvPicPr>
        <p:blipFill>
          <a:blip r:embed="rId9"/>
          <a:srcRect t="23673" r="84509" b="58202"/>
          <a:stretch>
            <a:fillRect/>
          </a:stretch>
        </p:blipFill>
        <p:spPr>
          <a:xfrm>
            <a:off x="1346993" y="2186280"/>
            <a:ext cx="486194" cy="517744"/>
          </a:xfrm>
          <a:prstGeom prst="rect">
            <a:avLst/>
          </a:prstGeom>
        </p:spPr>
      </p:pic>
      <p:pic>
        <p:nvPicPr>
          <p:cNvPr id="3" name="Picture 2" descr="A black screen with pink icons&#10;&#10;AI-generated content may be incorrect.">
            <a:extLst>
              <a:ext uri="{FF2B5EF4-FFF2-40B4-BE49-F238E27FC236}">
                <a16:creationId xmlns:a16="http://schemas.microsoft.com/office/drawing/2014/main" id="{590F3170-F9CC-8AB6-AE04-B9F797A80967}"/>
              </a:ext>
            </a:extLst>
          </p:cNvPr>
          <p:cNvPicPr>
            <a:picLocks noChangeAspect="1"/>
          </p:cNvPicPr>
          <p:nvPr/>
        </p:nvPicPr>
        <p:blipFill>
          <a:blip r:embed="rId9"/>
          <a:srcRect l="84572" b="83048"/>
          <a:stretch>
            <a:fillRect/>
          </a:stretch>
        </p:blipFill>
        <p:spPr>
          <a:xfrm>
            <a:off x="3537622" y="2169430"/>
            <a:ext cx="575963" cy="576001"/>
          </a:xfrm>
          <a:prstGeom prst="rect">
            <a:avLst/>
          </a:prstGeom>
        </p:spPr>
      </p:pic>
    </p:spTree>
    <p:extLst>
      <p:ext uri="{BB962C8B-B14F-4D97-AF65-F5344CB8AC3E}">
        <p14:creationId xmlns:p14="http://schemas.microsoft.com/office/powerpoint/2010/main" val="415209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37182-A542-F3A3-BB3F-6937D4D283AA}"/>
            </a:ext>
          </a:extLst>
        </p:cNvPr>
        <p:cNvGrpSpPr/>
        <p:nvPr/>
      </p:nvGrpSpPr>
      <p:grpSpPr>
        <a:xfrm>
          <a:off x="0" y="0"/>
          <a:ext cx="0" cy="0"/>
          <a:chOff x="0" y="0"/>
          <a:chExt cx="0" cy="0"/>
        </a:xfrm>
      </p:grpSpPr>
      <p:graphicFrame>
        <p:nvGraphicFramePr>
          <p:cNvPr id="57" name="Google Shape;179;p3">
            <a:extLst>
              <a:ext uri="{FF2B5EF4-FFF2-40B4-BE49-F238E27FC236}">
                <a16:creationId xmlns:a16="http://schemas.microsoft.com/office/drawing/2014/main" id="{79040442-93AD-6814-DB67-F1B4686666A1}"/>
              </a:ext>
            </a:extLst>
          </p:cNvPr>
          <p:cNvGraphicFramePr/>
          <p:nvPr/>
        </p:nvGraphicFramePr>
        <p:xfrm>
          <a:off x="327706" y="2975512"/>
          <a:ext cx="6904262" cy="6691432"/>
        </p:xfrm>
        <a:graphic>
          <a:graphicData uri="http://schemas.openxmlformats.org/drawingml/2006/table">
            <a:tbl>
              <a:tblPr firstRow="1" bandRow="1">
                <a:noFill/>
              </a:tblPr>
              <a:tblGrid>
                <a:gridCol w="2700000">
                  <a:extLst>
                    <a:ext uri="{9D8B030D-6E8A-4147-A177-3AD203B41FA5}">
                      <a16:colId xmlns:a16="http://schemas.microsoft.com/office/drawing/2014/main" val="20000"/>
                    </a:ext>
                  </a:extLst>
                </a:gridCol>
                <a:gridCol w="2102400">
                  <a:extLst>
                    <a:ext uri="{9D8B030D-6E8A-4147-A177-3AD203B41FA5}">
                      <a16:colId xmlns:a16="http://schemas.microsoft.com/office/drawing/2014/main" val="3549424417"/>
                    </a:ext>
                  </a:extLst>
                </a:gridCol>
                <a:gridCol w="1050931">
                  <a:extLst>
                    <a:ext uri="{9D8B030D-6E8A-4147-A177-3AD203B41FA5}">
                      <a16:colId xmlns:a16="http://schemas.microsoft.com/office/drawing/2014/main" val="20005"/>
                    </a:ext>
                  </a:extLst>
                </a:gridCol>
                <a:gridCol w="1050931">
                  <a:extLst>
                    <a:ext uri="{9D8B030D-6E8A-4147-A177-3AD203B41FA5}">
                      <a16:colId xmlns:a16="http://schemas.microsoft.com/office/drawing/2014/main" val="2949957867"/>
                    </a:ext>
                  </a:extLst>
                </a:gridCol>
              </a:tblGrid>
              <a:tr h="540000">
                <a:tc gridSpan="4">
                  <a:txBody>
                    <a:bodyPr/>
                    <a:lstStyle/>
                    <a:p>
                      <a:pPr marL="0" marR="0" lvl="0" indent="0" algn="l" rtl="0">
                        <a:spcBef>
                          <a:spcPts val="0"/>
                        </a:spcBef>
                        <a:spcAft>
                          <a:spcPts val="0"/>
                        </a:spcAft>
                        <a:buNone/>
                      </a:pPr>
                      <a:r>
                        <a:rPr lang="en-US" sz="1600" b="1" i="0" dirty="0">
                          <a:solidFill>
                            <a:srgbClr val="F454CD"/>
                          </a:solidFill>
                          <a:latin typeface="Work Sans" pitchFamily="2" charset="77"/>
                        </a:rPr>
                        <a:t>TNB Bill Estimates</a:t>
                      </a:r>
                      <a:endParaRPr lang="en-US" sz="1800" b="1" i="0" dirty="0">
                        <a:solidFill>
                          <a:srgbClr val="F454CD"/>
                        </a:solidFill>
                        <a:latin typeface="Work Sans" pitchFamily="2" charset="77"/>
                      </a:endParaRPr>
                    </a:p>
                  </a:txBody>
                  <a:tcPr marL="91450" marR="91450" marT="45725" marB="45725" anchor="b">
                    <a:lnL w="6350" cap="flat" cmpd="sng" algn="ctr">
                      <a:noFill/>
                      <a:prstDash val="solid"/>
                      <a:round/>
                      <a:headEnd type="none" w="med" len="med"/>
                      <a:tailEnd type="none" w="med" len="med"/>
                    </a:lnL>
                    <a:lnR w="12700" cmpd="sng">
                      <a:noFill/>
                      <a:prstDash val="soli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rtl="0">
                        <a:spcBef>
                          <a:spcPts val="0"/>
                        </a:spcBef>
                        <a:spcAft>
                          <a:spcPts val="0"/>
                        </a:spcAft>
                        <a:buNone/>
                      </a:pPr>
                      <a:endParaRPr sz="1200" b="1" i="0" dirty="0">
                        <a:solidFill>
                          <a:srgbClr val="F454CD"/>
                        </a:solidFill>
                        <a:latin typeface="Work Sans" pitchFamily="2" charset="77"/>
                      </a:endParaRPr>
                    </a:p>
                  </a:txBody>
                  <a:tcPr marL="91450" marR="91450" marT="45725" marB="45725"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sz="24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826474417"/>
                  </a:ext>
                </a:extLst>
              </a:tr>
              <a:tr h="432000">
                <a:tc>
                  <a:txBody>
                    <a:bodyPr/>
                    <a:lstStyle/>
                    <a:p>
                      <a:pPr marL="0" marR="0" lvl="0" indent="0" algn="l" rtl="0">
                        <a:spcBef>
                          <a:spcPts val="0"/>
                        </a:spcBef>
                        <a:spcAft>
                          <a:spcPts val="0"/>
                        </a:spcAft>
                        <a:buNone/>
                      </a:pPr>
                      <a:endParaRPr lang="en-US" sz="14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en-US" sz="1200" b="1" i="0" dirty="0">
                          <a:solidFill>
                            <a:schemeClr val="tx1"/>
                          </a:solidFill>
                          <a:latin typeface="Work Sans" pitchFamily="2" charset="77"/>
                          <a:ea typeface="Work Sans"/>
                          <a:cs typeface="Work Sans"/>
                        </a:rPr>
                        <a:t>Before Solar</a:t>
                      </a:r>
                    </a:p>
                    <a:p>
                      <a:pPr marL="0" marR="0" lvl="0" indent="0" algn="ctr" rtl="0">
                        <a:spcBef>
                          <a:spcPts val="0"/>
                        </a:spcBef>
                        <a:spcAft>
                          <a:spcPts val="0"/>
                        </a:spcAft>
                        <a:buNone/>
                      </a:pPr>
                      <a:r>
                        <a:rPr lang="en-US" sz="1200" b="1" i="0" dirty="0">
                          <a:solidFill>
                            <a:schemeClr val="tx1"/>
                          </a:solidFill>
                          <a:latin typeface="Work Sans" pitchFamily="2" charset="77"/>
                        </a:rPr>
                        <a:t>(+/-) RM</a:t>
                      </a:r>
                      <a:endParaRPr sz="1200" b="1" i="0" dirty="0">
                        <a:solidFill>
                          <a:srgbClr val="F454CD"/>
                        </a:solidFill>
                        <a:latin typeface="Work Sans" pitchFamily="2" charset="77"/>
                      </a:endParaRPr>
                    </a:p>
                  </a:txBody>
                  <a:tcPr marL="91450" marR="91450" marT="45725" marB="45725"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a:cs typeface="Work Sans"/>
                        </a:rPr>
                        <a:t>After Solar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rPr>
                        <a:t>(+/-) RM</a:t>
                      </a:r>
                      <a:endParaRPr sz="24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180733956"/>
                  </a:ext>
                </a:extLst>
              </a:tr>
              <a:tr h="432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TNB Bill</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rtl="0">
                        <a:spcBef>
                          <a:spcPts val="0"/>
                        </a:spcBef>
                        <a:spcAft>
                          <a:spcPts val="0"/>
                        </a:spcAft>
                        <a:buNone/>
                      </a:pPr>
                      <a:endParaRPr lang="en-MY"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F7FF"/>
                    </a:solidFill>
                  </a:tcPr>
                </a:tc>
                <a:tc hMerge="1">
                  <a:txBody>
                    <a:bodyPr/>
                    <a:lstStyle/>
                    <a:p>
                      <a:endParaRPr lang="en-US"/>
                    </a:p>
                  </a:txBody>
                  <a:tcPr/>
                </a:tc>
                <a:extLst>
                  <a:ext uri="{0D108BD9-81ED-4DB2-BD59-A6C34878D82A}">
                    <a16:rowId xmlns:a16="http://schemas.microsoft.com/office/drawing/2014/main" val="1000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Monthly Solar Savings</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rtl="0">
                        <a:spcBef>
                          <a:spcPts val="0"/>
                        </a:spcBef>
                        <a:spcAft>
                          <a:spcPts val="0"/>
                        </a:spcAft>
                        <a:buNone/>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N/A</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solidFill>
                        <a:srgbClr val="F454C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Work Sans" pitchFamily="2" charset="77"/>
                          <a:cs typeface="Arial"/>
                          <a:sym typeface="Arial"/>
                        </a:rPr>
                        <a:t>[        Savings]</a:t>
                      </a:r>
                    </a:p>
                  </a:txBody>
                  <a:tcPr marL="91450" marR="91450" marT="45725" marB="45725" anchor="ctr">
                    <a:lnL w="19050" cap="flat" cmpd="sng" algn="ctr">
                      <a:solidFill>
                        <a:srgbClr val="F454CD"/>
                      </a:solidFill>
                      <a:prstDash val="solid"/>
                      <a:round/>
                      <a:headEnd type="none" w="med" len="med"/>
                      <a:tailEnd type="none" w="med" len="med"/>
                    </a:lnL>
                    <a:lnR w="19050" cap="flat" cmpd="sng" algn="ctr">
                      <a:solidFill>
                        <a:srgbClr val="F454CD"/>
                      </a:solid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DEFF"/>
                    </a:solidFill>
                  </a:tcPr>
                </a:tc>
                <a:tc hMerge="1">
                  <a:txBody>
                    <a:bodyPr/>
                    <a:lstStyle/>
                    <a:p>
                      <a:endParaRPr lang="en-US"/>
                    </a:p>
                  </a:txBody>
                  <a:tcPr/>
                </a:tc>
                <a:extLst>
                  <a:ext uri="{0D108BD9-81ED-4DB2-BD59-A6C34878D82A}">
                    <a16:rowId xmlns:a16="http://schemas.microsoft.com/office/drawing/2014/main" val="1958619888"/>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10-Year Solar Savings</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rtl="0">
                        <a:spcBef>
                          <a:spcPts val="0"/>
                        </a:spcBef>
                        <a:spcAft>
                          <a:spcPts val="0"/>
                        </a:spcAft>
                        <a:buNone/>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N/A</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Work Sans" pitchFamily="2" charset="77"/>
                          <a:cs typeface="Arial"/>
                          <a:sym typeface="Arial"/>
                        </a:rPr>
                        <a:t>[Payback:                ]</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hMerge="1">
                  <a:txBody>
                    <a:bodyPr/>
                    <a:lstStyle/>
                    <a:p>
                      <a:endParaRPr lang="en-US"/>
                    </a:p>
                  </a:txBody>
                  <a:tcPr/>
                </a:tc>
                <a:extLst>
                  <a:ext uri="{0D108BD9-81ED-4DB2-BD59-A6C34878D82A}">
                    <a16:rowId xmlns:a16="http://schemas.microsoft.com/office/drawing/2014/main" val="1326647892"/>
                  </a:ext>
                </a:extLst>
              </a:tr>
              <a:tr h="540000">
                <a:tc gridSpan="4">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Savings are based on Solar Generation of </a:t>
                      </a:r>
                      <a:r>
                        <a:rPr kumimoji="0" lang="en-US" sz="1000" b="1"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t>
                      </a: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assuming a Daytime Electricity Use of </a:t>
                      </a:r>
                    </a:p>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t>
                      </a: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Additional savings may be achieved by switching to TNB’s Time of Use (</a:t>
                      </a:r>
                      <a:r>
                        <a:rPr kumimoji="0" lang="en-US" sz="1000" b="0" i="0" u="none" strike="noStrike" kern="1200" cap="none" spc="0" normalizeH="0" baseline="0" noProof="0" dirty="0" err="1">
                          <a:ln>
                            <a:noFill/>
                          </a:ln>
                          <a:solidFill>
                            <a:prstClr val="black">
                              <a:lumMod val="65000"/>
                              <a:lumOff val="35000"/>
                            </a:prstClr>
                          </a:solidFill>
                          <a:effectLst/>
                          <a:uLnTx/>
                          <a:uFillTx/>
                          <a:latin typeface="Work Sans" pitchFamily="2" charset="77"/>
                          <a:ea typeface="+mn-ea"/>
                          <a:cs typeface="+mn-cs"/>
                        </a:rPr>
                        <a:t>ToU</a:t>
                      </a: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Tariff.</a:t>
                      </a:r>
                    </a:p>
                  </a:txBody>
                  <a:tcPr marL="91450" marR="91450" marT="45725" marB="45725" anchor="ctr">
                    <a:lnL w="6350" cap="flat" cmpd="sng" algn="ctr">
                      <a:noFill/>
                      <a:prstDash val="solid"/>
                      <a:round/>
                      <a:headEnd type="none" w="med" len="med"/>
                      <a:tailEnd type="none" w="med" len="med"/>
                    </a:lnL>
                    <a:lnR w="12700" cmpd="sng">
                      <a:noFill/>
                      <a:prstDash val="soli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rtl="0">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hMerge="1">
                  <a:txBody>
                    <a:bodyPr/>
                    <a:lstStyle/>
                    <a:p>
                      <a:endParaRPr lang="en-US"/>
                    </a:p>
                  </a:txBody>
                  <a:tcPr/>
                </a:tc>
                <a:extLst>
                  <a:ext uri="{0D108BD9-81ED-4DB2-BD59-A6C34878D82A}">
                    <a16:rowId xmlns:a16="http://schemas.microsoft.com/office/drawing/2014/main" val="3693306349"/>
                  </a:ext>
                </a:extLst>
              </a:tr>
              <a:tr h="582222">
                <a:tc gridSpan="4">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454CD"/>
                          </a:solidFill>
                          <a:effectLst/>
                          <a:uLnTx/>
                          <a:uFillTx/>
                          <a:latin typeface="Work Sans" pitchFamily="2" charset="77"/>
                          <a:ea typeface="+mn-ea"/>
                          <a:cs typeface="+mn-cs"/>
                        </a:rPr>
                        <a:t>Pricing &amp; Purchase Options</a:t>
                      </a:r>
                    </a:p>
                  </a:txBody>
                  <a:tcPr marL="91450" marR="91450" marT="45724" marB="45724" anchor="b">
                    <a:lnL w="6350" cap="flat" cmpd="sng" algn="ctr">
                      <a:noFill/>
                      <a:prstDash val="solid"/>
                      <a:round/>
                      <a:headEnd type="none" w="med" len="med"/>
                      <a:tailEnd type="none" w="med" len="med"/>
                    </a:lnL>
                    <a:lnR w="12700" cmpd="sng">
                      <a:noFill/>
                      <a:prstDash val="soli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chemeClr val="bg1"/>
                    </a:solidFill>
                  </a:tcPr>
                </a:tc>
                <a:tc hMerge="1">
                  <a:txBody>
                    <a:bodyPr/>
                    <a:lstStyle/>
                    <a:p>
                      <a:pPr marL="0" lvl="0" indent="0" algn="ctr">
                        <a:spcBef>
                          <a:spcPts val="0"/>
                        </a:spcBef>
                        <a:spcAft>
                          <a:spcPts val="0"/>
                        </a:spcAft>
                        <a:buNone/>
                      </a:pPr>
                      <a:endParaRPr sz="1200" b="0" i="0" dirty="0">
                        <a:solidFill>
                          <a:srgbClr val="F454CD"/>
                        </a:solidFill>
                        <a:latin typeface="Work Sans" pitchFamily="2" charset="77"/>
                        <a:ea typeface="Work Sans Light"/>
                        <a:cs typeface="Work Sans Light"/>
                        <a:sym typeface="Work Sans Light"/>
                      </a:endParaRPr>
                    </a:p>
                  </a:txBody>
                  <a:tcPr marL="91450" marR="91450" marT="45724" marB="45724"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0" dirty="0">
                        <a:solidFill>
                          <a:schemeClr val="tx1"/>
                        </a:solidFill>
                        <a:latin typeface="Work Sans" pitchFamily="2" charset="77"/>
                        <a:ea typeface="Work Sans"/>
                        <a:cs typeface="Work Sans"/>
                      </a:endParaRPr>
                    </a:p>
                  </a:txBody>
                  <a:tcPr marL="91450" marR="91450" marT="45724" marB="45724"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639856546"/>
                  </a:ext>
                </a:extLst>
              </a:tr>
              <a:tr h="432000">
                <a:tc>
                  <a:txBody>
                    <a:bodyPr/>
                    <a:lstStyle/>
                    <a:p>
                      <a:pPr marL="0" lvl="0" indent="0" algn="l">
                        <a:spcBef>
                          <a:spcPts val="0"/>
                        </a:spcBef>
                        <a:spcAft>
                          <a:spcPts val="0"/>
                        </a:spcAft>
                        <a:buNone/>
                      </a:pPr>
                      <a:endParaRPr sz="1400" b="1" i="0" dirty="0">
                        <a:solidFill>
                          <a:schemeClr val="tx1"/>
                        </a:solidFill>
                        <a:latin typeface="Work Sans" pitchFamily="2" charset="77"/>
                        <a:ea typeface="Work Sans Light"/>
                        <a:cs typeface="Work Sans Light"/>
                        <a:sym typeface="Work Sans Light"/>
                      </a:endParaRPr>
                    </a:p>
                  </a:txBody>
                  <a:tcPr marL="91450" marR="91450" marT="45724" marB="45724" anchor="b">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tc>
                  <a:txBody>
                    <a:bodyPr/>
                    <a:lstStyle/>
                    <a:p>
                      <a:pPr marL="0" lvl="0" indent="0" algn="ctr">
                        <a:spcBef>
                          <a:spcPts val="0"/>
                        </a:spcBef>
                        <a:spcAft>
                          <a:spcPts val="0"/>
                        </a:spcAft>
                        <a:buNone/>
                      </a:pPr>
                      <a:r>
                        <a:rPr lang="en-US" sz="1200" b="1" i="0" dirty="0">
                          <a:solidFill>
                            <a:schemeClr val="tx1"/>
                          </a:solidFill>
                          <a:latin typeface="Work Sans" pitchFamily="2" charset="77"/>
                          <a:ea typeface="Work Sans"/>
                          <a:cs typeface="Work Sans"/>
                        </a:rPr>
                        <a:t>Outright Purchase</a:t>
                      </a:r>
                      <a:endParaRPr sz="1200" b="0" i="0" dirty="0">
                        <a:solidFill>
                          <a:srgbClr val="F454CD"/>
                        </a:solidFill>
                        <a:latin typeface="Work Sans" pitchFamily="2" charset="77"/>
                        <a:ea typeface="Work Sans Light"/>
                        <a:cs typeface="Work Sans Light"/>
                        <a:sym typeface="Work Sans Light"/>
                      </a:endParaRPr>
                    </a:p>
                  </a:txBody>
                  <a:tcPr marL="91450" marR="91450" marT="45724" marB="45724"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a:cs typeface="Work Sans"/>
                        </a:rPr>
                        <a:t>Emit EzSolar</a:t>
                      </a:r>
                    </a:p>
                  </a:txBody>
                  <a:tcPr marL="91450" marR="91450" marT="45724" marB="45724"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876704926"/>
                  </a:ext>
                </a:extLst>
              </a:tr>
              <a:tr h="432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System Cost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AFAFA"/>
                    </a:solidFill>
                  </a:tcPr>
                </a:tc>
                <a:tc>
                  <a:txBody>
                    <a:bodyPr/>
                    <a:lstStyle/>
                    <a:p>
                      <a:pPr marL="0" lvl="0" indent="0" algn="ctr">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252226646"/>
                  </a:ext>
                </a:extLst>
              </a:tr>
              <a:tr h="18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Notes</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177800" indent="-177800" algn="l">
                        <a:buClr>
                          <a:srgbClr val="F454CD"/>
                        </a:buClr>
                        <a:buFont typeface="Arial" panose="020B0604020202020204" pitchFamily="34" charset="0"/>
                        <a:buChar char="•"/>
                        <a:tabLst/>
                      </a:pPr>
                      <a:r>
                        <a:rPr lang="en-MY" sz="1000" b="0" kern="1200" dirty="0">
                          <a:solidFill>
                            <a:schemeClr val="tx1"/>
                          </a:solidFill>
                          <a:effectLst/>
                          <a:latin typeface="Work Sans" pitchFamily="2" charset="77"/>
                          <a:ea typeface="+mn-ea"/>
                          <a:cs typeface="+mn-cs"/>
                        </a:rPr>
                        <a:t>Up to 60 months 0% interest credit card instalment plans with selected banks</a:t>
                      </a:r>
                    </a:p>
                    <a:p>
                      <a:pPr marL="171450" indent="-171450" algn="l">
                        <a:buClr>
                          <a:srgbClr val="F454CD"/>
                        </a:buClr>
                        <a:buFont typeface="Arial" panose="020B0604020202020204" pitchFamily="34" charset="0"/>
                        <a:buChar char="•"/>
                      </a:pPr>
                      <a:r>
                        <a:rPr lang="en-MY" sz="1000" b="0" kern="1200" dirty="0">
                          <a:solidFill>
                            <a:schemeClr val="tx1"/>
                          </a:solidFill>
                          <a:effectLst/>
                          <a:latin typeface="Work Sans" pitchFamily="2" charset="77"/>
                          <a:ea typeface="+mn-ea"/>
                          <a:cs typeface="+mn-cs"/>
                        </a:rPr>
                        <a:t>Purchases without credit card instalment plans are entitled to 7.5% discount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Payable monthly over 60 months.</a:t>
                      </a: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Payable monthly over 120 months.</a:t>
                      </a: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625853490"/>
                  </a:ext>
                </a:extLst>
              </a:tr>
              <a:tr h="540000">
                <a:tc gridSpan="4">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000" b="0" i="0" dirty="0">
                          <a:solidFill>
                            <a:schemeClr val="tx1">
                              <a:lumMod val="65000"/>
                              <a:lumOff val="35000"/>
                            </a:schemeClr>
                          </a:solidFill>
                          <a:latin typeface="Work Sans" pitchFamily="2" charset="77"/>
                          <a:ea typeface="Work Sans Light"/>
                          <a:cs typeface="Work Sans Light"/>
                          <a:sym typeface="Work Sans Light"/>
                        </a:rPr>
                        <a:t>A deposit equivalent to RM1,000 (Outright Purchase) or 3 months’ payment (Emit EzSolar) is payable upon proposal acceptance for system reservation; offsets your balance payment or first 3 bills after installation.</a:t>
                      </a:r>
                    </a:p>
                  </a:txBody>
                  <a:tcPr marL="91450" marR="91450" marT="45724" marB="45724" anchor="ctr">
                    <a:lnL w="635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0">
                      <a:noFill/>
                    </a:lnTlToBr>
                    <a:lnBlToTr w="0">
                      <a:noFill/>
                    </a:lnBlToTr>
                    <a:solidFill>
                      <a:sysClr val="window" lastClr="FFFFFF"/>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38100" cap="flat" cmpd="sng" algn="ctr">
                      <a:noFill/>
                      <a:prstDash val="solid"/>
                      <a:round/>
                      <a:headEnd type="none" w="med" len="med"/>
                      <a:tailEnd type="none" w="med" len="med"/>
                    </a:lnL>
                    <a:lnR w="38100" cap="flat" cmpd="sng" algn="ctr">
                      <a:solidFill>
                        <a:srgbClr val="F454CD"/>
                      </a:solidFill>
                      <a:prstDash val="solid"/>
                      <a:round/>
                      <a:headEnd type="none" w="med" len="med"/>
                      <a:tailEnd type="none" w="med" len="med"/>
                    </a:lnR>
                    <a:lnT w="19050" cap="flat" cmpd="sng" algn="ctr">
                      <a:solidFill>
                        <a:srgbClr val="F454CD"/>
                      </a:solidFill>
                      <a:prstDash val="solid"/>
                      <a:round/>
                      <a:headEnd type="none" w="med" len="med"/>
                      <a:tailEnd type="none" w="med" len="med"/>
                    </a:lnT>
                    <a:lnB w="3810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ECCFF"/>
                    </a:solidFill>
                  </a:tcPr>
                </a:tc>
                <a:tc hMerge="1">
                  <a:txBody>
                    <a:bodyPr/>
                    <a:lstStyle/>
                    <a:p>
                      <a:endParaRPr lang="en-US"/>
                    </a:p>
                  </a:txBody>
                  <a:tcPr/>
                </a:tc>
                <a:extLst>
                  <a:ext uri="{0D108BD9-81ED-4DB2-BD59-A6C34878D82A}">
                    <a16:rowId xmlns:a16="http://schemas.microsoft.com/office/drawing/2014/main" val="2915309402"/>
                  </a:ext>
                </a:extLst>
              </a:tr>
            </a:tbl>
          </a:graphicData>
        </a:graphic>
      </p:graphicFrame>
      <p:grpSp>
        <p:nvGrpSpPr>
          <p:cNvPr id="16" name="Group 15">
            <a:extLst>
              <a:ext uri="{FF2B5EF4-FFF2-40B4-BE49-F238E27FC236}">
                <a16:creationId xmlns:a16="http://schemas.microsoft.com/office/drawing/2014/main" id="{89D49D3B-8A9B-8290-146A-47725EDCAA54}"/>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33793C31-BCD6-3108-7B6D-082F8223F01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EC9727C4-9C13-7B9D-E661-BF9BF8CAF9A7}"/>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33" name="Rectangle 32">
            <a:extLst>
              <a:ext uri="{FF2B5EF4-FFF2-40B4-BE49-F238E27FC236}">
                <a16:creationId xmlns:a16="http://schemas.microsoft.com/office/drawing/2014/main" id="{4B489B51-D8BF-6EEC-B3EF-AF6752110AD6}"/>
              </a:ext>
            </a:extLst>
          </p:cNvPr>
          <p:cNvSpPr/>
          <p:nvPr/>
        </p:nvSpPr>
        <p:spPr>
          <a:xfrm>
            <a:off x="321806" y="1315280"/>
            <a:ext cx="6916062" cy="1468092"/>
          </a:xfrm>
          <a:prstGeom prst="rect">
            <a:avLst/>
          </a:prstGeom>
          <a:solidFill>
            <a:srgbClr val="FFDEFF">
              <a:alpha val="25098"/>
            </a:srgbClr>
          </a:solidFill>
          <a:ln w="571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480AC1F8-6A90-FD74-4BA0-816BB8F5C0B5}"/>
              </a:ext>
            </a:extLst>
          </p:cNvPr>
          <p:cNvCxnSpPr>
            <a:cxnSpLocks/>
          </p:cNvCxnSpPr>
          <p:nvPr/>
        </p:nvCxnSpPr>
        <p:spPr>
          <a:xfrm>
            <a:off x="2651161" y="150932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F999B14-7A23-79B5-3932-F3697D46A605}"/>
              </a:ext>
            </a:extLst>
          </p:cNvPr>
          <p:cNvCxnSpPr>
            <a:cxnSpLocks/>
          </p:cNvCxnSpPr>
          <p:nvPr/>
        </p:nvCxnSpPr>
        <p:spPr>
          <a:xfrm>
            <a:off x="4944515" y="150932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sp>
        <p:nvSpPr>
          <p:cNvPr id="21" name="panel_size">
            <a:extLst>
              <a:ext uri="{FF2B5EF4-FFF2-40B4-BE49-F238E27FC236}">
                <a16:creationId xmlns:a16="http://schemas.microsoft.com/office/drawing/2014/main" id="{C0AC3B38-D9FB-CE4C-3322-649212E8D1D1}"/>
              </a:ext>
            </a:extLst>
          </p:cNvPr>
          <p:cNvSpPr txBox="1"/>
          <p:nvPr/>
        </p:nvSpPr>
        <p:spPr>
          <a:xfrm>
            <a:off x="820483" y="2260510"/>
            <a:ext cx="1332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Work Sans" pitchFamily="2" charset="77"/>
                <a:ea typeface="+mn-ea"/>
                <a:cs typeface="+mn-cs"/>
              </a:rPr>
              <a:t>32</a:t>
            </a:r>
            <a:endParaRPr kumimoji="0" lang="en-US" sz="18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22" name="TextBox 21">
            <a:extLst>
              <a:ext uri="{FF2B5EF4-FFF2-40B4-BE49-F238E27FC236}">
                <a16:creationId xmlns:a16="http://schemas.microsoft.com/office/drawing/2014/main" id="{19DF62EB-637A-7B1E-6975-B6DBF35CF120}"/>
              </a:ext>
            </a:extLst>
          </p:cNvPr>
          <p:cNvSpPr txBox="1"/>
          <p:nvPr/>
        </p:nvSpPr>
        <p:spPr>
          <a:xfrm>
            <a:off x="820483" y="2038954"/>
            <a:ext cx="1332000"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Number of Panels</a:t>
            </a:r>
          </a:p>
        </p:txBody>
      </p:sp>
      <p:pic>
        <p:nvPicPr>
          <p:cNvPr id="6" name="Picture 5">
            <a:extLst>
              <a:ext uri="{FF2B5EF4-FFF2-40B4-BE49-F238E27FC236}">
                <a16:creationId xmlns:a16="http://schemas.microsoft.com/office/drawing/2014/main" id="{8AECFDC4-C73A-2130-4B25-07CCAF381D6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216483" y="1623958"/>
            <a:ext cx="540000" cy="327525"/>
          </a:xfrm>
          <a:prstGeom prst="rect">
            <a:avLst/>
          </a:prstGeom>
        </p:spPr>
      </p:pic>
      <p:sp>
        <p:nvSpPr>
          <p:cNvPr id="25" name="inverter_size">
            <a:extLst>
              <a:ext uri="{FF2B5EF4-FFF2-40B4-BE49-F238E27FC236}">
                <a16:creationId xmlns:a16="http://schemas.microsoft.com/office/drawing/2014/main" id="{A08BDB14-188C-F716-3715-25ABA534DC02}"/>
              </a:ext>
            </a:extLst>
          </p:cNvPr>
          <p:cNvSpPr txBox="1"/>
          <p:nvPr/>
        </p:nvSpPr>
        <p:spPr>
          <a:xfrm>
            <a:off x="3149838" y="2260510"/>
            <a:ext cx="1296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Work Sans" pitchFamily="2" charset="77"/>
                <a:ea typeface="+mn-ea"/>
                <a:cs typeface="+mn-cs"/>
              </a:rPr>
              <a:t>12kWac</a:t>
            </a:r>
            <a:endParaRPr kumimoji="0" lang="en-US" sz="18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26" name="TextBox 25">
            <a:extLst>
              <a:ext uri="{FF2B5EF4-FFF2-40B4-BE49-F238E27FC236}">
                <a16:creationId xmlns:a16="http://schemas.microsoft.com/office/drawing/2014/main" id="{58111212-B54A-9ACF-50B5-76FBCC52DE9D}"/>
              </a:ext>
            </a:extLst>
          </p:cNvPr>
          <p:cNvSpPr txBox="1"/>
          <p:nvPr/>
        </p:nvSpPr>
        <p:spPr>
          <a:xfrm>
            <a:off x="3149838" y="2038954"/>
            <a:ext cx="1296000"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Inverter Sizing</a:t>
            </a:r>
          </a:p>
        </p:txBody>
      </p:sp>
      <p:pic>
        <p:nvPicPr>
          <p:cNvPr id="9" name="Picture 8">
            <a:extLst>
              <a:ext uri="{FF2B5EF4-FFF2-40B4-BE49-F238E27FC236}">
                <a16:creationId xmlns:a16="http://schemas.microsoft.com/office/drawing/2014/main" id="{17EBA8F6-ED8E-06F7-72A6-E9412D750B7F}"/>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649189" y="1486810"/>
            <a:ext cx="297298" cy="468000"/>
          </a:xfrm>
          <a:prstGeom prst="rect">
            <a:avLst/>
          </a:prstGeom>
        </p:spPr>
      </p:pic>
      <p:sp>
        <p:nvSpPr>
          <p:cNvPr id="29" name="solar_generation_1">
            <a:extLst>
              <a:ext uri="{FF2B5EF4-FFF2-40B4-BE49-F238E27FC236}">
                <a16:creationId xmlns:a16="http://schemas.microsoft.com/office/drawing/2014/main" id="{B8595E1A-2F19-AC06-E8F4-7086025911D6}"/>
              </a:ext>
            </a:extLst>
          </p:cNvPr>
          <p:cNvSpPr txBox="1"/>
          <p:nvPr/>
        </p:nvSpPr>
        <p:spPr>
          <a:xfrm>
            <a:off x="5230190" y="2260510"/>
            <a:ext cx="1794671"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Work Sans" pitchFamily="2" charset="77"/>
                <a:ea typeface="+mn-ea"/>
                <a:cs typeface="+mn-cs"/>
              </a:rPr>
              <a:t>1,673kWh</a:t>
            </a:r>
            <a:endParaRPr kumimoji="0" lang="en-US" sz="18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0" name="TextBox 29">
            <a:extLst>
              <a:ext uri="{FF2B5EF4-FFF2-40B4-BE49-F238E27FC236}">
                <a16:creationId xmlns:a16="http://schemas.microsoft.com/office/drawing/2014/main" id="{A3CE1105-AE85-E539-1AE0-B646F4E29AD3}"/>
              </a:ext>
            </a:extLst>
          </p:cNvPr>
          <p:cNvSpPr txBox="1"/>
          <p:nvPr/>
        </p:nvSpPr>
        <p:spPr>
          <a:xfrm>
            <a:off x="5318524" y="2038954"/>
            <a:ext cx="1618003"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Solar Generation (+/-)</a:t>
            </a:r>
          </a:p>
        </p:txBody>
      </p:sp>
      <p:pic>
        <p:nvPicPr>
          <p:cNvPr id="13" name="Picture 12">
            <a:extLst>
              <a:ext uri="{FF2B5EF4-FFF2-40B4-BE49-F238E27FC236}">
                <a16:creationId xmlns:a16="http://schemas.microsoft.com/office/drawing/2014/main" id="{C79063A4-8BE0-7243-BBBC-BF68C71310EF}"/>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854791" y="1468810"/>
            <a:ext cx="545469" cy="504000"/>
          </a:xfrm>
          <a:prstGeom prst="rect">
            <a:avLst/>
          </a:prstGeom>
        </p:spPr>
      </p:pic>
      <p:sp>
        <p:nvSpPr>
          <p:cNvPr id="7" name="TextBox 6">
            <a:extLst>
              <a:ext uri="{FF2B5EF4-FFF2-40B4-BE49-F238E27FC236}">
                <a16:creationId xmlns:a16="http://schemas.microsoft.com/office/drawing/2014/main" id="{7458593A-9115-C8CC-8C66-D65BC4D73698}"/>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2" name="old_bill">
            <a:extLst>
              <a:ext uri="{FF2B5EF4-FFF2-40B4-BE49-F238E27FC236}">
                <a16:creationId xmlns:a16="http://schemas.microsoft.com/office/drawing/2014/main" id="{37D9A4CC-DB2F-86E5-6835-E9FC6653ADA0}"/>
              </a:ext>
            </a:extLst>
          </p:cNvPr>
          <p:cNvSpPr txBox="1"/>
          <p:nvPr/>
        </p:nvSpPr>
        <p:spPr>
          <a:xfrm>
            <a:off x="3270786" y="4052448"/>
            <a:ext cx="1602378" cy="276999"/>
          </a:xfrm>
          <a:prstGeom prst="rect">
            <a:avLst/>
          </a:prstGeom>
          <a:noFill/>
        </p:spPr>
        <p:txBody>
          <a:bodyPr wrap="square">
            <a:spAutoFit/>
          </a:bodyPr>
          <a:lstStyle/>
          <a:p>
            <a:pPr algn="ct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lang="en-MY" sz="1200" dirty="0"/>
          </a:p>
        </p:txBody>
      </p:sp>
      <p:sp>
        <p:nvSpPr>
          <p:cNvPr id="5" name="new_bill">
            <a:extLst>
              <a:ext uri="{FF2B5EF4-FFF2-40B4-BE49-F238E27FC236}">
                <a16:creationId xmlns:a16="http://schemas.microsoft.com/office/drawing/2014/main" id="{95F36732-BE1A-02A0-E407-36367E69E452}"/>
              </a:ext>
            </a:extLst>
          </p:cNvPr>
          <p:cNvSpPr txBox="1"/>
          <p:nvPr/>
        </p:nvSpPr>
        <p:spPr>
          <a:xfrm>
            <a:off x="5374858" y="4052448"/>
            <a:ext cx="1602378" cy="276999"/>
          </a:xfrm>
          <a:prstGeom prst="rect">
            <a:avLst/>
          </a:prstGeom>
          <a:noFill/>
        </p:spPr>
        <p:txBody>
          <a:bodyPr wrap="square">
            <a:spAutoFit/>
          </a:bodyPr>
          <a:lstStyle/>
          <a:p>
            <a:pPr algn="ct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RM651</a:t>
            </a:r>
            <a:endParaRPr lang="en-MY" sz="1200" dirty="0"/>
          </a:p>
        </p:txBody>
      </p:sp>
      <p:sp>
        <p:nvSpPr>
          <p:cNvPr id="12" name="monthly_savings">
            <a:extLst>
              <a:ext uri="{FF2B5EF4-FFF2-40B4-BE49-F238E27FC236}">
                <a16:creationId xmlns:a16="http://schemas.microsoft.com/office/drawing/2014/main" id="{AC542D07-EB0E-F508-D640-B5D21B72DE19}"/>
              </a:ext>
            </a:extLst>
          </p:cNvPr>
          <p:cNvSpPr txBox="1"/>
          <p:nvPr/>
        </p:nvSpPr>
        <p:spPr>
          <a:xfrm>
            <a:off x="5382416" y="4466945"/>
            <a:ext cx="1602378" cy="276999"/>
          </a:xfrm>
          <a:prstGeom prst="rect">
            <a:avLst/>
          </a:prstGeom>
          <a:noFill/>
        </p:spPr>
        <p:txBody>
          <a:bodyPr wrap="square">
            <a:spAutoFit/>
          </a:bodyPr>
          <a:lstStyle/>
          <a:p>
            <a:pPr algn="ct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RM849</a:t>
            </a:r>
            <a:endParaRPr lang="en-MY" sz="1200" dirty="0"/>
          </a:p>
        </p:txBody>
      </p:sp>
      <p:sp>
        <p:nvSpPr>
          <p:cNvPr id="14" name="savings_percent">
            <a:extLst>
              <a:ext uri="{FF2B5EF4-FFF2-40B4-BE49-F238E27FC236}">
                <a16:creationId xmlns:a16="http://schemas.microsoft.com/office/drawing/2014/main" id="{A7A304FC-D290-C9D5-36C0-C30A3F533481}"/>
              </a:ext>
            </a:extLst>
          </p:cNvPr>
          <p:cNvSpPr txBox="1"/>
          <p:nvPr/>
        </p:nvSpPr>
        <p:spPr>
          <a:xfrm>
            <a:off x="5368642" y="4620837"/>
            <a:ext cx="1260078" cy="215444"/>
          </a:xfrm>
          <a:prstGeom prst="rect">
            <a:avLst/>
          </a:prstGeom>
          <a:noFill/>
        </p:spPr>
        <p:txBody>
          <a:bodyPr wrap="square">
            <a:spAutoFit/>
          </a:bodyPr>
          <a:lstStyle/>
          <a:p>
            <a:pPr algn="ctr"/>
            <a:r>
              <a:rPr kumimoji="0" lang="en-US" sz="800" b="0" i="0" u="none" strike="noStrike" kern="0" cap="none" spc="0" normalizeH="0" baseline="0" noProof="0">
                <a:ln>
                  <a:noFill/>
                </a:ln>
                <a:solidFill>
                  <a:schemeClr val="tx1"/>
                </a:solidFill>
                <a:effectLst/>
                <a:uLnTx/>
                <a:uFillTx/>
                <a:latin typeface="Work Sans" pitchFamily="2" charset="77"/>
                <a:cs typeface="Arial"/>
                <a:sym typeface="Work Sans Light"/>
              </a:rPr>
              <a:t>57%</a:t>
            </a:r>
            <a:endParaRPr lang="en-MY" sz="800" dirty="0"/>
          </a:p>
        </p:txBody>
      </p:sp>
      <p:sp>
        <p:nvSpPr>
          <p:cNvPr id="15" name="10y_savings">
            <a:extLst>
              <a:ext uri="{FF2B5EF4-FFF2-40B4-BE49-F238E27FC236}">
                <a16:creationId xmlns:a16="http://schemas.microsoft.com/office/drawing/2014/main" id="{186E46CC-F95D-58A1-61F5-AE75DA93142D}"/>
              </a:ext>
            </a:extLst>
          </p:cNvPr>
          <p:cNvSpPr txBox="1"/>
          <p:nvPr/>
        </p:nvSpPr>
        <p:spPr>
          <a:xfrm>
            <a:off x="5382416" y="4917902"/>
            <a:ext cx="1602378" cy="276999"/>
          </a:xfrm>
          <a:prstGeom prst="rect">
            <a:avLst/>
          </a:prstGeom>
          <a:noFill/>
        </p:spPr>
        <p:txBody>
          <a:bodyPr wrap="square">
            <a:spAutoFit/>
          </a:bodyPr>
          <a:lstStyle/>
          <a:p>
            <a:pPr algn="ct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RM101,926</a:t>
            </a:r>
            <a:endParaRPr lang="en-MY" sz="1200" dirty="0"/>
          </a:p>
        </p:txBody>
      </p:sp>
      <p:sp>
        <p:nvSpPr>
          <p:cNvPr id="19" name="payback">
            <a:extLst>
              <a:ext uri="{FF2B5EF4-FFF2-40B4-BE49-F238E27FC236}">
                <a16:creationId xmlns:a16="http://schemas.microsoft.com/office/drawing/2014/main" id="{8A7D1953-909A-E8DA-5B6D-C0F0742921B7}"/>
              </a:ext>
            </a:extLst>
          </p:cNvPr>
          <p:cNvSpPr txBox="1"/>
          <p:nvPr/>
        </p:nvSpPr>
        <p:spPr>
          <a:xfrm>
            <a:off x="5772763" y="5094737"/>
            <a:ext cx="1260078" cy="215444"/>
          </a:xfrm>
          <a:prstGeom prst="rect">
            <a:avLst/>
          </a:prstGeom>
          <a:noFill/>
        </p:spPr>
        <p:txBody>
          <a:bodyPr wrap="square">
            <a:spAutoFit/>
          </a:bodyPr>
          <a:lstStyle/>
          <a:p>
            <a:pPr algn="ctr"/>
            <a:r>
              <a:rPr kumimoji="0" lang="en-US" sz="800" b="0" i="0" u="none" strike="noStrike" kern="0" cap="none" spc="0" normalizeH="0" baseline="0" noProof="0">
                <a:ln>
                  <a:noFill/>
                </a:ln>
                <a:solidFill>
                  <a:schemeClr val="tx1"/>
                </a:solidFill>
                <a:effectLst/>
                <a:uLnTx/>
                <a:uFillTx/>
                <a:latin typeface="Work Sans" pitchFamily="2" charset="77"/>
                <a:cs typeface="Arial"/>
                <a:sym typeface="Work Sans Light"/>
              </a:rPr>
              <a:t>3.5  Years</a:t>
            </a:r>
            <a:endParaRPr lang="en-MY" sz="800" dirty="0"/>
          </a:p>
        </p:txBody>
      </p:sp>
      <p:sp>
        <p:nvSpPr>
          <p:cNvPr id="20" name="solar_generation_2">
            <a:extLst>
              <a:ext uri="{FF2B5EF4-FFF2-40B4-BE49-F238E27FC236}">
                <a16:creationId xmlns:a16="http://schemas.microsoft.com/office/drawing/2014/main" id="{CE7EF0F6-732E-FDE8-2387-0B7B0F03D0AF}"/>
              </a:ext>
            </a:extLst>
          </p:cNvPr>
          <p:cNvSpPr txBox="1"/>
          <p:nvPr/>
        </p:nvSpPr>
        <p:spPr>
          <a:xfrm>
            <a:off x="3280311" y="5420011"/>
            <a:ext cx="872390" cy="246221"/>
          </a:xfrm>
          <a:prstGeom prst="rect">
            <a:avLst/>
          </a:prstGeom>
          <a:noFill/>
        </p:spPr>
        <p:txBody>
          <a:bodyPr wrap="square">
            <a:spAutoFit/>
          </a:bodyPr>
          <a:lstStyle/>
          <a:p>
            <a:r>
              <a:rPr kumimoji="0" lang="en-US" sz="1000" b="1" i="0" u="none" strike="noStrike" kern="1200" cap="none" spc="0" normalizeH="0" baseline="0" noProof="0">
                <a:ln>
                  <a:noFill/>
                </a:ln>
                <a:solidFill>
                  <a:prstClr val="black">
                    <a:lumMod val="65000"/>
                    <a:lumOff val="35000"/>
                  </a:prstClr>
                </a:solidFill>
                <a:effectLst/>
                <a:uLnTx/>
                <a:uFillTx/>
                <a:latin typeface="Work Sans" pitchFamily="2" charset="77"/>
                <a:ea typeface="+mn-ea"/>
                <a:cs typeface="+mn-cs"/>
              </a:rPr>
              <a:t>1,673kWh</a:t>
            </a:r>
            <a:endParaRPr lang="en-MY" sz="1000" dirty="0"/>
          </a:p>
        </p:txBody>
      </p:sp>
      <p:sp>
        <p:nvSpPr>
          <p:cNvPr id="23" name="daytime_usage">
            <a:extLst>
              <a:ext uri="{FF2B5EF4-FFF2-40B4-BE49-F238E27FC236}">
                <a16:creationId xmlns:a16="http://schemas.microsoft.com/office/drawing/2014/main" id="{DFA2ABD3-8743-882C-8E28-E760291326A6}"/>
              </a:ext>
            </a:extLst>
          </p:cNvPr>
          <p:cNvSpPr txBox="1"/>
          <p:nvPr/>
        </p:nvSpPr>
        <p:spPr>
          <a:xfrm>
            <a:off x="26639" y="5571696"/>
            <a:ext cx="2133424"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prstClr val="black">
                    <a:lumMod val="65000"/>
                    <a:lumOff val="35000"/>
                  </a:prstClr>
                </a:solidFill>
                <a:effectLst/>
                <a:uLnTx/>
                <a:uFillTx/>
                <a:latin typeface="Work Sans" pitchFamily="2" charset="77"/>
                <a:ea typeface="+mn-ea"/>
                <a:cs typeface="+mn-cs"/>
              </a:rPr>
              <a:t>1,016kWh</a:t>
            </a:r>
            <a:endParaRPr lang="en-MY" sz="1000" dirty="0"/>
          </a:p>
        </p:txBody>
      </p:sp>
      <p:sp>
        <p:nvSpPr>
          <p:cNvPr id="27" name="op_price_1">
            <a:extLst>
              <a:ext uri="{FF2B5EF4-FFF2-40B4-BE49-F238E27FC236}">
                <a16:creationId xmlns:a16="http://schemas.microsoft.com/office/drawing/2014/main" id="{241A26F9-77E5-E716-D3D4-196A082CDB72}"/>
              </a:ext>
            </a:extLst>
          </p:cNvPr>
          <p:cNvSpPr txBox="1"/>
          <p:nvPr/>
        </p:nvSpPr>
        <p:spPr>
          <a:xfrm>
            <a:off x="2914650" y="6978822"/>
            <a:ext cx="221932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RM35,600</a:t>
            </a: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32" name="5y_price">
            <a:extLst>
              <a:ext uri="{FF2B5EF4-FFF2-40B4-BE49-F238E27FC236}">
                <a16:creationId xmlns:a16="http://schemas.microsoft.com/office/drawing/2014/main" id="{E0E4F8D7-1DE1-645D-C49F-0E5FDC854D10}"/>
              </a:ext>
            </a:extLst>
          </p:cNvPr>
          <p:cNvSpPr txBox="1"/>
          <p:nvPr/>
        </p:nvSpPr>
        <p:spPr>
          <a:xfrm>
            <a:off x="5211764" y="6983895"/>
            <a:ext cx="848546"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RM593</a:t>
            </a: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35" name="10y_price">
            <a:extLst>
              <a:ext uri="{FF2B5EF4-FFF2-40B4-BE49-F238E27FC236}">
                <a16:creationId xmlns:a16="http://schemas.microsoft.com/office/drawing/2014/main" id="{CC0033EC-DFD1-6D54-1385-6AE3E696A8C2}"/>
              </a:ext>
            </a:extLst>
          </p:cNvPr>
          <p:cNvSpPr txBox="1"/>
          <p:nvPr/>
        </p:nvSpPr>
        <p:spPr>
          <a:xfrm>
            <a:off x="6191250" y="6983894"/>
            <a:ext cx="104071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RM371</a:t>
            </a: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 name="TextBox 7">
            <a:extLst>
              <a:ext uri="{FF2B5EF4-FFF2-40B4-BE49-F238E27FC236}">
                <a16:creationId xmlns:a16="http://schemas.microsoft.com/office/drawing/2014/main" id="{B8F2D8F9-B0F1-EF0E-BDD3-AA90C9052A26}"/>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                  Solar System</a:t>
            </a:r>
            <a:endParaRPr lang="en-US" sz="700" dirty="0">
              <a:latin typeface="Work Sans" pitchFamily="2" charset="77"/>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Work Sans" pitchFamily="2" charset="77"/>
                <a:ea typeface="+mn-ea"/>
                <a:cs typeface="+mn-cs"/>
              </a:rPr>
              <a:t>Savings and system cost.</a:t>
            </a:r>
          </a:p>
        </p:txBody>
      </p:sp>
      <p:sp>
        <p:nvSpPr>
          <p:cNvPr id="10" name="system_size">
            <a:extLst>
              <a:ext uri="{FF2B5EF4-FFF2-40B4-BE49-F238E27FC236}">
                <a16:creationId xmlns:a16="http://schemas.microsoft.com/office/drawing/2014/main" id="{5AEADC9E-B88B-C3CA-A04A-83FBA7BAA7D7}"/>
              </a:ext>
            </a:extLst>
          </p:cNvPr>
          <p:cNvSpPr txBox="1"/>
          <p:nvPr/>
        </p:nvSpPr>
        <p:spPr>
          <a:xfrm>
            <a:off x="321806" y="395207"/>
            <a:ext cx="2208330" cy="58477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3200" b="1">
                <a:solidFill>
                  <a:srgbClr val="F454CD"/>
                </a:solidFill>
                <a:latin typeface="Work Sans" pitchFamily="2" charset="77"/>
              </a:rPr>
              <a:t>16.32kWp</a:t>
            </a:r>
            <a:endParaRPr kumimoji="0" lang="en-US" sz="3200" i="0" u="none" strike="noStrike" kern="1200" cap="none" spc="0" normalizeH="0" baseline="0" noProof="0" dirty="0">
              <a:ln>
                <a:noFill/>
              </a:ln>
              <a:effectLst/>
              <a:uLnTx/>
              <a:uFillTx/>
              <a:latin typeface="Work Sans" pitchFamily="2" charset="77"/>
              <a:ea typeface="+mn-ea"/>
              <a:cs typeface="+mn-cs"/>
            </a:endParaRPr>
          </a:p>
        </p:txBody>
      </p:sp>
    </p:spTree>
    <p:extLst>
      <p:ext uri="{BB962C8B-B14F-4D97-AF65-F5344CB8AC3E}">
        <p14:creationId xmlns:p14="http://schemas.microsoft.com/office/powerpoint/2010/main" val="2394964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A31B6-9705-FE8F-D8BF-5E2250CF97FA}"/>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A9170A4A-178A-EBDF-5B77-CFF5EE6AD115}"/>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775A4D2B-582A-C4C2-1099-981BC045E8C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DEEE0B1C-D6FF-FA40-AD19-12EA1CCB4D54}"/>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pSp>
        <p:nvGrpSpPr>
          <p:cNvPr id="13" name="Group 12">
            <a:extLst>
              <a:ext uri="{FF2B5EF4-FFF2-40B4-BE49-F238E27FC236}">
                <a16:creationId xmlns:a16="http://schemas.microsoft.com/office/drawing/2014/main" id="{D312F3DA-A7D9-B4F6-C9F0-69FA7F644179}"/>
              </a:ext>
            </a:extLst>
          </p:cNvPr>
          <p:cNvGrpSpPr/>
          <p:nvPr/>
        </p:nvGrpSpPr>
        <p:grpSpPr>
          <a:xfrm>
            <a:off x="321806" y="1315280"/>
            <a:ext cx="6916062" cy="1468092"/>
            <a:chOff x="321806" y="1315280"/>
            <a:chExt cx="6916062" cy="1468092"/>
          </a:xfrm>
        </p:grpSpPr>
        <p:sp>
          <p:nvSpPr>
            <p:cNvPr id="33" name="Rectangle 32">
              <a:extLst>
                <a:ext uri="{FF2B5EF4-FFF2-40B4-BE49-F238E27FC236}">
                  <a16:creationId xmlns:a16="http://schemas.microsoft.com/office/drawing/2014/main" id="{45471C70-BEEC-2F24-E63F-C114EB2430E3}"/>
                </a:ext>
              </a:extLst>
            </p:cNvPr>
            <p:cNvSpPr/>
            <p:nvPr/>
          </p:nvSpPr>
          <p:spPr>
            <a:xfrm>
              <a:off x="321806" y="1315280"/>
              <a:ext cx="6916062" cy="1468092"/>
            </a:xfrm>
            <a:prstGeom prst="rect">
              <a:avLst/>
            </a:prstGeom>
            <a:solidFill>
              <a:srgbClr val="FFDEFF">
                <a:alpha val="25098"/>
              </a:srgbClr>
            </a:solidFill>
            <a:ln w="571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4B6BB255-D2A9-E9A4-914E-67AE7B2408DF}"/>
                </a:ext>
              </a:extLst>
            </p:cNvPr>
            <p:cNvCxnSpPr>
              <a:cxnSpLocks/>
            </p:cNvCxnSpPr>
            <p:nvPr/>
          </p:nvCxnSpPr>
          <p:spPr>
            <a:xfrm>
              <a:off x="2153479" y="151384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D935599-CF4A-B1BB-86A0-F26CF598C432}"/>
                </a:ext>
              </a:extLst>
            </p:cNvPr>
            <p:cNvCxnSpPr>
              <a:cxnSpLocks/>
            </p:cNvCxnSpPr>
            <p:nvPr/>
          </p:nvCxnSpPr>
          <p:spPr>
            <a:xfrm>
              <a:off x="3656825" y="151384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045BF3D-A154-9357-6360-E541CE618D4B}"/>
                </a:ext>
              </a:extLst>
            </p:cNvPr>
            <p:cNvCxnSpPr>
              <a:cxnSpLocks/>
            </p:cNvCxnSpPr>
            <p:nvPr/>
          </p:nvCxnSpPr>
          <p:spPr>
            <a:xfrm>
              <a:off x="5520171" y="151384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A5756C5-94C1-5451-F795-0901E51046CB}"/>
                </a:ext>
              </a:extLst>
            </p:cNvPr>
            <p:cNvSpPr txBox="1"/>
            <p:nvPr/>
          </p:nvSpPr>
          <p:spPr>
            <a:xfrm>
              <a:off x="2257152" y="1887518"/>
              <a:ext cx="1296000"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Solar Generation</a:t>
              </a:r>
            </a:p>
            <a:p>
              <a:pPr algn="ctr"/>
              <a:r>
                <a:rPr lang="en-US" sz="1000" dirty="0">
                  <a:solidFill>
                    <a:schemeClr val="tx1">
                      <a:lumMod val="65000"/>
                      <a:lumOff val="35000"/>
                    </a:schemeClr>
                  </a:solidFill>
                  <a:latin typeface="Work Sans" pitchFamily="2" charset="77"/>
                </a:rPr>
                <a:t>(+/-)</a:t>
              </a:r>
            </a:p>
          </p:txBody>
        </p:sp>
        <p:sp>
          <p:nvSpPr>
            <p:cNvPr id="14" name="TextBox 13">
              <a:extLst>
                <a:ext uri="{FF2B5EF4-FFF2-40B4-BE49-F238E27FC236}">
                  <a16:creationId xmlns:a16="http://schemas.microsoft.com/office/drawing/2014/main" id="{E9E5D0E3-24CE-F055-3DF5-72E8888E4485}"/>
                </a:ext>
              </a:extLst>
            </p:cNvPr>
            <p:cNvSpPr txBox="1"/>
            <p:nvPr/>
          </p:nvSpPr>
          <p:spPr>
            <a:xfrm>
              <a:off x="3751688" y="1895861"/>
              <a:ext cx="1665346"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Daytime Electricity Use</a:t>
              </a:r>
            </a:p>
            <a:p>
              <a:pPr algn="ctr"/>
              <a:r>
                <a:rPr lang="en-US" sz="1000" dirty="0">
                  <a:solidFill>
                    <a:schemeClr val="tx1">
                      <a:lumMod val="65000"/>
                      <a:lumOff val="35000"/>
                    </a:schemeClr>
                  </a:solidFill>
                  <a:latin typeface="Work Sans" pitchFamily="2" charset="77"/>
                </a:rPr>
                <a:t>(+/-)</a:t>
              </a:r>
            </a:p>
          </p:txBody>
        </p:sp>
        <p:sp>
          <p:nvSpPr>
            <p:cNvPr id="20" name="TextBox 19">
              <a:extLst>
                <a:ext uri="{FF2B5EF4-FFF2-40B4-BE49-F238E27FC236}">
                  <a16:creationId xmlns:a16="http://schemas.microsoft.com/office/drawing/2014/main" id="{6C0F65C7-46BF-65CD-191D-5F32328ADD85}"/>
                </a:ext>
              </a:extLst>
            </p:cNvPr>
            <p:cNvSpPr txBox="1"/>
            <p:nvPr/>
          </p:nvSpPr>
          <p:spPr>
            <a:xfrm>
              <a:off x="321806" y="1887518"/>
              <a:ext cx="1728000"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Home Electricity Usage (+/-)</a:t>
              </a:r>
            </a:p>
          </p:txBody>
        </p:sp>
        <p:sp>
          <p:nvSpPr>
            <p:cNvPr id="27" name="TextBox 26">
              <a:extLst>
                <a:ext uri="{FF2B5EF4-FFF2-40B4-BE49-F238E27FC236}">
                  <a16:creationId xmlns:a16="http://schemas.microsoft.com/office/drawing/2014/main" id="{879A0B62-01CF-E9B3-EE83-034C48FB241A}"/>
                </a:ext>
              </a:extLst>
            </p:cNvPr>
            <p:cNvSpPr txBox="1"/>
            <p:nvPr/>
          </p:nvSpPr>
          <p:spPr>
            <a:xfrm>
              <a:off x="5623844" y="1887518"/>
              <a:ext cx="1512000"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Solar Export to TNB</a:t>
              </a:r>
            </a:p>
            <a:p>
              <a:pPr algn="ctr"/>
              <a:r>
                <a:rPr lang="en-US" sz="1000" dirty="0">
                  <a:solidFill>
                    <a:schemeClr val="tx1">
                      <a:lumMod val="65000"/>
                      <a:lumOff val="35000"/>
                    </a:schemeClr>
                  </a:solidFill>
                  <a:latin typeface="Work Sans" pitchFamily="2" charset="77"/>
                </a:rPr>
                <a:t>(+/-)</a:t>
              </a:r>
            </a:p>
          </p:txBody>
        </p:sp>
        <p:pic>
          <p:nvPicPr>
            <p:cNvPr id="31" name="Picture 30">
              <a:extLst>
                <a:ext uri="{FF2B5EF4-FFF2-40B4-BE49-F238E27FC236}">
                  <a16:creationId xmlns:a16="http://schemas.microsoft.com/office/drawing/2014/main" id="{BDC7C936-FD79-703D-FE0E-DB77572DE09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883311" y="1461422"/>
              <a:ext cx="504000" cy="405411"/>
            </a:xfrm>
            <a:prstGeom prst="rect">
              <a:avLst/>
            </a:prstGeom>
          </p:spPr>
        </p:pic>
        <p:pic>
          <p:nvPicPr>
            <p:cNvPr id="32" name="Picture 31">
              <a:extLst>
                <a:ext uri="{FF2B5EF4-FFF2-40B4-BE49-F238E27FC236}">
                  <a16:creationId xmlns:a16="http://schemas.microsoft.com/office/drawing/2014/main" id="{74254C56-CE46-9FDD-FA89-2E4C219373EC}"/>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632417" y="1373960"/>
              <a:ext cx="545469" cy="504000"/>
            </a:xfrm>
            <a:prstGeom prst="rect">
              <a:avLst/>
            </a:prstGeom>
          </p:spPr>
        </p:pic>
        <p:pic>
          <p:nvPicPr>
            <p:cNvPr id="34" name="Picture 33">
              <a:extLst>
                <a:ext uri="{FF2B5EF4-FFF2-40B4-BE49-F238E27FC236}">
                  <a16:creationId xmlns:a16="http://schemas.microsoft.com/office/drawing/2014/main" id="{99E2D6F0-CA4C-BF49-E7EE-DE26D0FB098F}"/>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4332361" y="1464005"/>
              <a:ext cx="504000" cy="406800"/>
            </a:xfrm>
            <a:prstGeom prst="rect">
              <a:avLst/>
            </a:prstGeom>
          </p:spPr>
        </p:pic>
        <p:grpSp>
          <p:nvGrpSpPr>
            <p:cNvPr id="39" name="Group 38">
              <a:extLst>
                <a:ext uri="{FF2B5EF4-FFF2-40B4-BE49-F238E27FC236}">
                  <a16:creationId xmlns:a16="http://schemas.microsoft.com/office/drawing/2014/main" id="{1661CBAF-958F-618C-268C-66E5FE08DCFE}"/>
                </a:ext>
              </a:extLst>
            </p:cNvPr>
            <p:cNvGrpSpPr/>
            <p:nvPr/>
          </p:nvGrpSpPr>
          <p:grpSpPr>
            <a:xfrm>
              <a:off x="5842984" y="1464746"/>
              <a:ext cx="1073720" cy="406800"/>
              <a:chOff x="5954124" y="1489254"/>
              <a:chExt cx="1073720" cy="406800"/>
            </a:xfrm>
          </p:grpSpPr>
          <p:cxnSp>
            <p:nvCxnSpPr>
              <p:cNvPr id="36" name="Straight Arrow Connector 35">
                <a:extLst>
                  <a:ext uri="{FF2B5EF4-FFF2-40B4-BE49-F238E27FC236}">
                    <a16:creationId xmlns:a16="http://schemas.microsoft.com/office/drawing/2014/main" id="{0C40046F-9D25-FB38-BE10-67D4C63857AD}"/>
                  </a:ext>
                </a:extLst>
              </p:cNvPr>
              <p:cNvCxnSpPr>
                <a:cxnSpLocks/>
              </p:cNvCxnSpPr>
              <p:nvPr/>
            </p:nvCxnSpPr>
            <p:spPr>
              <a:xfrm>
                <a:off x="6470640" y="1692654"/>
                <a:ext cx="288000" cy="0"/>
              </a:xfrm>
              <a:prstGeom prst="straightConnector1">
                <a:avLst/>
              </a:prstGeom>
              <a:ln w="12700">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FE9A58DC-71C4-04E6-175C-3B230C64C2EE}"/>
                  </a:ext>
                </a:extLst>
              </p:cNvPr>
              <p:cNvPicPr>
                <a:picLocks/>
              </p:cNvPicPr>
              <p:nvPr/>
            </p:nvPicPr>
            <p:blipFill>
              <a:blip r:embed="rId5" cstate="email">
                <a:extLst>
                  <a:ext uri="{28A0092B-C50C-407E-A947-70E740481C1C}">
                    <a14:useLocalDpi xmlns:a14="http://schemas.microsoft.com/office/drawing/2010/main"/>
                  </a:ext>
                </a:extLst>
              </a:blip>
              <a:srcRect/>
              <a:stretch>
                <a:fillRect/>
              </a:stretch>
            </p:blipFill>
            <p:spPr>
              <a:xfrm>
                <a:off x="5954124" y="1489254"/>
                <a:ext cx="504000" cy="406800"/>
              </a:xfrm>
              <a:prstGeom prst="rect">
                <a:avLst/>
              </a:prstGeom>
            </p:spPr>
          </p:pic>
          <p:pic>
            <p:nvPicPr>
              <p:cNvPr id="38" name="Picture 37">
                <a:extLst>
                  <a:ext uri="{FF2B5EF4-FFF2-40B4-BE49-F238E27FC236}">
                    <a16:creationId xmlns:a16="http://schemas.microsoft.com/office/drawing/2014/main" id="{5BE2043C-7D70-116C-28EA-8C3DD43B2607}"/>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6771155" y="1489254"/>
                <a:ext cx="256689" cy="406800"/>
              </a:xfrm>
              <a:prstGeom prst="rect">
                <a:avLst/>
              </a:prstGeom>
            </p:spPr>
          </p:pic>
        </p:grpSp>
      </p:grpSp>
      <p:graphicFrame>
        <p:nvGraphicFramePr>
          <p:cNvPr id="41" name="Google Shape;179;p3">
            <a:extLst>
              <a:ext uri="{FF2B5EF4-FFF2-40B4-BE49-F238E27FC236}">
                <a16:creationId xmlns:a16="http://schemas.microsoft.com/office/drawing/2014/main" id="{66175A80-356F-E8A3-C4D5-4D72B9AE2205}"/>
              </a:ext>
            </a:extLst>
          </p:cNvPr>
          <p:cNvGraphicFramePr/>
          <p:nvPr>
            <p:extLst>
              <p:ext uri="{D42A27DB-BD31-4B8C-83A1-F6EECF244321}">
                <p14:modId xmlns:p14="http://schemas.microsoft.com/office/powerpoint/2010/main" val="3161966450"/>
              </p:ext>
            </p:extLst>
          </p:nvPr>
        </p:nvGraphicFramePr>
        <p:xfrm>
          <a:off x="251803" y="2945862"/>
          <a:ext cx="7056068" cy="6645780"/>
        </p:xfrm>
        <a:graphic>
          <a:graphicData uri="http://schemas.openxmlformats.org/drawingml/2006/table">
            <a:tbl>
              <a:tblPr firstRow="1" bandRow="1">
                <a:noFill/>
              </a:tblPr>
              <a:tblGrid>
                <a:gridCol w="3384000">
                  <a:extLst>
                    <a:ext uri="{9D8B030D-6E8A-4147-A177-3AD203B41FA5}">
                      <a16:colId xmlns:a16="http://schemas.microsoft.com/office/drawing/2014/main" val="20000"/>
                    </a:ext>
                  </a:extLst>
                </a:gridCol>
                <a:gridCol w="1836034">
                  <a:extLst>
                    <a:ext uri="{9D8B030D-6E8A-4147-A177-3AD203B41FA5}">
                      <a16:colId xmlns:a16="http://schemas.microsoft.com/office/drawing/2014/main" val="20004"/>
                    </a:ext>
                  </a:extLst>
                </a:gridCol>
                <a:gridCol w="1836034">
                  <a:extLst>
                    <a:ext uri="{9D8B030D-6E8A-4147-A177-3AD203B41FA5}">
                      <a16:colId xmlns:a16="http://schemas.microsoft.com/office/drawing/2014/main" val="20005"/>
                    </a:ext>
                  </a:extLst>
                </a:gridCol>
              </a:tblGrid>
              <a:tr h="393535">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400" b="1" i="0" dirty="0">
                          <a:solidFill>
                            <a:schemeClr val="tx1"/>
                          </a:solidFill>
                          <a:latin typeface="Work Sans" pitchFamily="2" charset="77"/>
                        </a:rPr>
                        <a:t>Electricity Consumption</a:t>
                      </a:r>
                      <a:endParaRPr sz="105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rtl="0">
                        <a:spcBef>
                          <a:spcPts val="0"/>
                        </a:spcBef>
                        <a:spcAft>
                          <a:spcPts val="0"/>
                        </a:spcAft>
                        <a:buNone/>
                      </a:pPr>
                      <a:r>
                        <a:rPr lang="en-US" sz="1200" b="1" i="0" dirty="0">
                          <a:solidFill>
                            <a:schemeClr val="tx1"/>
                          </a:solidFill>
                          <a:latin typeface="Work Sans" pitchFamily="2" charset="77"/>
                          <a:ea typeface="Work Sans"/>
                          <a:cs typeface="Work Sans"/>
                        </a:rPr>
                        <a:t>Before Solar</a:t>
                      </a:r>
                    </a:p>
                    <a:p>
                      <a:pPr marL="0" marR="0" lvl="0" indent="0" algn="r" rtl="0">
                        <a:spcBef>
                          <a:spcPts val="0"/>
                        </a:spcBef>
                        <a:spcAft>
                          <a:spcPts val="0"/>
                        </a:spcAft>
                        <a:buNone/>
                      </a:pPr>
                      <a:r>
                        <a:rPr lang="en-US" sz="1200" b="1" i="0" dirty="0">
                          <a:solidFill>
                            <a:schemeClr val="tx1"/>
                          </a:solidFill>
                          <a:latin typeface="Work Sans" pitchFamily="2" charset="77"/>
                        </a:rPr>
                        <a:t>(+/-) kWh</a:t>
                      </a:r>
                    </a:p>
                  </a:txBody>
                  <a:tcPr marL="91450" marR="91450" marT="45725" marB="45725"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a:cs typeface="Work Sans"/>
                        </a:rPr>
                        <a:t>After Solar</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rPr>
                        <a:t>(+/-) kWh</a:t>
                      </a:r>
                      <a:r>
                        <a:rPr lang="en-US" sz="1200" b="1" i="0" dirty="0">
                          <a:solidFill>
                            <a:schemeClr val="tx1"/>
                          </a:solidFill>
                          <a:latin typeface="Work Sans" pitchFamily="2" charset="77"/>
                          <a:ea typeface="Work Sans"/>
                          <a:cs typeface="Work Sans"/>
                        </a:rPr>
                        <a:t> </a:t>
                      </a:r>
                      <a:endParaRPr sz="24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125">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TNB Electricity Consumption</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000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Daytime Electricity Use (powered by solar)</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0</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397669446"/>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Total Electricity Consumption</a:t>
                      </a:r>
                      <a:endParaRPr sz="1400" b="1"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958619888"/>
                  </a:ext>
                </a:extLst>
              </a:tr>
              <a:tr h="1224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endParaRPr sz="200" b="1" i="0" dirty="0">
                        <a:solidFill>
                          <a:srgbClr val="F454CD"/>
                        </a:solidFill>
                        <a:latin typeface="Work Sans Light"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 b="1" i="0" u="none" strike="noStrike" kern="0" cap="none" spc="0" normalizeH="0" baseline="0" noProof="0" dirty="0">
                        <a:ln>
                          <a:noFill/>
                        </a:ln>
                        <a:solidFill>
                          <a:schemeClr val="tx1"/>
                        </a:solidFill>
                        <a:effectLst/>
                        <a:uLnTx/>
                        <a:uFillTx/>
                        <a:latin typeface="Work Sans Light" pitchFamily="2" charset="0"/>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 b="1" i="0" u="none" strike="noStrike" kern="0" cap="none" spc="0" normalizeH="0" baseline="0" noProof="0" dirty="0">
                        <a:ln>
                          <a:noFill/>
                        </a:ln>
                        <a:solidFill>
                          <a:schemeClr val="tx1"/>
                        </a:solidFill>
                        <a:effectLst/>
                        <a:uLnTx/>
                        <a:uFillTx/>
                        <a:latin typeface="Work Sans Light" pitchFamily="2" charset="0"/>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420449"/>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TNB Charges</a:t>
                      </a:r>
                      <a:endParaRPr sz="1400" b="1" i="0" dirty="0">
                        <a:solidFill>
                          <a:schemeClr val="tx1"/>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Before Solar</a:t>
                      </a: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After Solar</a:t>
                      </a:r>
                      <a:endPar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Energy</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52226646"/>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Capacity</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1625853490"/>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Network</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3360665071"/>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Automatic Fuel Adjustment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39164424"/>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Energy Efficiency Incentive (EEI)</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556984188"/>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Retail</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18667413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KWTBB</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23861442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SST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61848322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1" i="0" dirty="0">
                          <a:solidFill>
                            <a:schemeClr val="tx1"/>
                          </a:solidFill>
                          <a:latin typeface="Work Sans" pitchFamily="2" charset="77"/>
                          <a:ea typeface="Work Sans Light"/>
                          <a:cs typeface="Work Sans Light"/>
                          <a:sym typeface="Work Sans Light"/>
                        </a:rPr>
                        <a:t>Total Electricity Charges</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863716916"/>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Less Solar Export Credits [               ]</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756466798"/>
                  </a:ext>
                </a:extLst>
              </a:tr>
              <a:tr h="262821">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EEI Adjustment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    </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599064317"/>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Total TNB Bill</a:t>
                      </a:r>
                      <a:endParaRPr sz="14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306571710"/>
                  </a:ext>
                </a:extLst>
              </a:tr>
              <a:tr h="1224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endParaRPr sz="200" b="1" i="0" dirty="0">
                        <a:solidFill>
                          <a:schemeClr val="bg1"/>
                        </a:solidFill>
                        <a:latin typeface="Work Sans Light"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0">
                      <a:noFill/>
                    </a:lnTlToBr>
                    <a:lnBlToTr w="0">
                      <a:noFill/>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00" b="1" i="0" u="none" strike="noStrike" kern="0" cap="none" spc="0" normalizeH="0" baseline="0" noProof="0" dirty="0">
                        <a:ln>
                          <a:noFill/>
                        </a:ln>
                        <a:solidFill>
                          <a:schemeClr val="bg1"/>
                        </a:solidFill>
                        <a:effectLst/>
                        <a:uLnTx/>
                        <a:uFillTx/>
                        <a:latin typeface="Work Sans Medium" pitchFamily="2" charset="0"/>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00" b="1" i="0" u="none" strike="noStrike" kern="0" cap="none" spc="0" normalizeH="0" baseline="0" noProof="0" dirty="0">
                        <a:ln>
                          <a:noFill/>
                        </a:ln>
                        <a:solidFill>
                          <a:schemeClr val="tx1"/>
                        </a:solidFill>
                        <a:effectLst/>
                        <a:uLnTx/>
                        <a:uFillTx/>
                        <a:latin typeface="Work Sans Medium" pitchFamily="2" charset="0"/>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9573824"/>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914400" rtl="0" eaLnBrk="1" latinLnBrk="0" hangingPunct="1">
                        <a:spcBef>
                          <a:spcPts val="0"/>
                        </a:spcBef>
                        <a:spcAft>
                          <a:spcPts val="0"/>
                        </a:spcAft>
                        <a:buNone/>
                      </a:pPr>
                      <a:r>
                        <a:rPr lang="en-MY" sz="1400" b="1" i="0" kern="1200" dirty="0">
                          <a:solidFill>
                            <a:schemeClr val="tx1"/>
                          </a:solidFill>
                          <a:latin typeface="Work Sans" pitchFamily="2" charset="77"/>
                          <a:ea typeface="Work Sans Light"/>
                          <a:cs typeface="Work Sans Light"/>
                          <a:sym typeface="Work Sans Light"/>
                        </a:rPr>
                        <a:t>Solar Savings</a:t>
                      </a:r>
                      <a:endParaRPr sz="1400" b="1" i="0" kern="1200" dirty="0">
                        <a:solidFill>
                          <a:schemeClr val="tx1"/>
                        </a:solidFill>
                        <a:latin typeface="Work Sans" pitchFamily="2" charset="77"/>
                        <a:ea typeface="Work Sans Light"/>
                        <a:cs typeface="Work Sans Light"/>
                        <a:sym typeface="Work Sans Light"/>
                      </a:endParaRPr>
                    </a:p>
                  </a:txBody>
                  <a:tcPr marL="91450" marR="91450" marT="45724" marB="4572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Before Solar</a:t>
                      </a: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After Solar</a:t>
                      </a:r>
                      <a:endPar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0243731"/>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Savings from Daytime Electricity Use</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017917172"/>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Savings from Solar Export to TNB</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1364007271"/>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400" b="1" i="0" dirty="0">
                          <a:solidFill>
                            <a:srgbClr val="F454CD"/>
                          </a:solidFill>
                          <a:latin typeface="Work Sans" pitchFamily="2" charset="77"/>
                          <a:ea typeface="Work Sans Light"/>
                          <a:cs typeface="Work Sans Light"/>
                          <a:sym typeface="Work Sans Light"/>
                        </a:rPr>
                        <a:t>Total Savings</a:t>
                      </a:r>
                      <a:endParaRPr sz="1400" b="1" i="0" dirty="0">
                        <a:solidFill>
                          <a:srgbClr val="F454CD"/>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solidFill>
                        <a:srgbClr val="F454CD"/>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solidFill>
                        <a:srgbClr val="F454CD"/>
                      </a:solidFill>
                      <a:prstDash val="solid"/>
                      <a:round/>
                      <a:headEnd type="none" w="med" len="med"/>
                      <a:tailEnd type="none" w="med" len="med"/>
                    </a:lnL>
                    <a:lnR w="19050" cap="flat" cmpd="sng" algn="ctr">
                      <a:solidFill>
                        <a:srgbClr val="F454CD"/>
                      </a:solid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3841042101"/>
                  </a:ext>
                </a:extLst>
              </a:tr>
            </a:tbl>
          </a:graphicData>
        </a:graphic>
      </p:graphicFrame>
      <p:sp>
        <p:nvSpPr>
          <p:cNvPr id="6" name="TextBox 5">
            <a:extLst>
              <a:ext uri="{FF2B5EF4-FFF2-40B4-BE49-F238E27FC236}">
                <a16:creationId xmlns:a16="http://schemas.microsoft.com/office/drawing/2014/main" id="{31756421-B676-0531-F955-1A2E08B16658}"/>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             TNB Bill Savings</a:t>
            </a:r>
            <a:endParaRPr lang="en-US" sz="700" dirty="0">
              <a:latin typeface="Work Sans" pitchFamily="2" charset="77"/>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Work Sans" pitchFamily="2" charset="77"/>
                <a:ea typeface="+mn-ea"/>
                <a:cs typeface="+mn-cs"/>
              </a:rPr>
              <a:t>How it’s achieved.</a:t>
            </a:r>
          </a:p>
        </p:txBody>
      </p:sp>
      <p:sp>
        <p:nvSpPr>
          <p:cNvPr id="9" name="TextBox 8">
            <a:extLst>
              <a:ext uri="{FF2B5EF4-FFF2-40B4-BE49-F238E27FC236}">
                <a16:creationId xmlns:a16="http://schemas.microsoft.com/office/drawing/2014/main" id="{15A5AFFE-909D-DBAA-59CE-D1F16FD48EDB}"/>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2" name="monthly_saving">
            <a:extLst>
              <a:ext uri="{FF2B5EF4-FFF2-40B4-BE49-F238E27FC236}">
                <a16:creationId xmlns:a16="http://schemas.microsoft.com/office/drawing/2014/main" id="{3CF8E1B2-1000-B2B1-E469-2796CC40244B}"/>
              </a:ext>
            </a:extLst>
          </p:cNvPr>
          <p:cNvSpPr txBox="1"/>
          <p:nvPr/>
        </p:nvSpPr>
        <p:spPr>
          <a:xfrm>
            <a:off x="301448" y="423613"/>
            <a:ext cx="1667726" cy="584775"/>
          </a:xfrm>
          <a:prstGeom prst="rect">
            <a:avLst/>
          </a:prstGeom>
          <a:noFill/>
        </p:spPr>
        <p:txBody>
          <a:bodyPr wrap="square">
            <a:spAutoFit/>
          </a:bodyPr>
          <a:lstStyle/>
          <a:p>
            <a:pPr algn="ctr"/>
            <a:r>
              <a:rPr kumimoji="0" lang="en-US" sz="3200" b="1" i="0" u="none" strike="noStrike" kern="1200" cap="none" spc="0" normalizeH="0" baseline="0" noProof="0">
                <a:ln>
                  <a:noFill/>
                </a:ln>
                <a:solidFill>
                  <a:srgbClr val="F454CD"/>
                </a:solidFill>
                <a:effectLst/>
                <a:uLnTx/>
                <a:uFillTx/>
                <a:latin typeface="Work Sans" pitchFamily="2" charset="77"/>
                <a:ea typeface="+mn-ea"/>
                <a:cs typeface="+mn-cs"/>
              </a:rPr>
              <a:t>RM268</a:t>
            </a:r>
            <a:endParaRPr lang="en-MY" sz="3200" dirty="0"/>
          </a:p>
        </p:txBody>
      </p:sp>
      <p:sp>
        <p:nvSpPr>
          <p:cNvPr id="22" name="solar_kwh">
            <a:extLst>
              <a:ext uri="{FF2B5EF4-FFF2-40B4-BE49-F238E27FC236}">
                <a16:creationId xmlns:a16="http://schemas.microsoft.com/office/drawing/2014/main" id="{EC84C5E5-62B0-A638-4B31-9F377950C4CB}"/>
              </a:ext>
            </a:extLst>
          </p:cNvPr>
          <p:cNvSpPr txBox="1"/>
          <p:nvPr/>
        </p:nvSpPr>
        <p:spPr>
          <a:xfrm>
            <a:off x="2033688" y="2232899"/>
            <a:ext cx="1716138" cy="369332"/>
          </a:xfrm>
          <a:prstGeom prst="rect">
            <a:avLst/>
          </a:prstGeom>
          <a:noFill/>
        </p:spPr>
        <p:txBody>
          <a:bodyPr wrap="square" rtlCol="0">
            <a:spAutoFit/>
          </a:bodyPr>
          <a:lstStyle/>
          <a:p>
            <a:pPr algn="ctr"/>
            <a:r>
              <a:rPr lang="en-US" b="1">
                <a:latin typeface="Work Sans" pitchFamily="2" charset="77"/>
              </a:rPr>
              <a:t>732kWh</a:t>
            </a:r>
            <a:endParaRPr lang="en-US" b="1" dirty="0">
              <a:latin typeface="Work Sans" pitchFamily="2" charset="77"/>
            </a:endParaRPr>
          </a:p>
        </p:txBody>
      </p:sp>
      <p:sp>
        <p:nvSpPr>
          <p:cNvPr id="24" name="daytime_kwh_1">
            <a:extLst>
              <a:ext uri="{FF2B5EF4-FFF2-40B4-BE49-F238E27FC236}">
                <a16:creationId xmlns:a16="http://schemas.microsoft.com/office/drawing/2014/main" id="{2C9E040C-E3E7-55FF-0C20-E1E92BC206ED}"/>
              </a:ext>
            </a:extLst>
          </p:cNvPr>
          <p:cNvSpPr txBox="1"/>
          <p:nvPr/>
        </p:nvSpPr>
        <p:spPr>
          <a:xfrm>
            <a:off x="3712897" y="2232899"/>
            <a:ext cx="1716138" cy="369332"/>
          </a:xfrm>
          <a:prstGeom prst="rect">
            <a:avLst/>
          </a:prstGeom>
          <a:noFill/>
        </p:spPr>
        <p:txBody>
          <a:bodyPr wrap="square" rtlCol="0">
            <a:spAutoFit/>
          </a:bodyPr>
          <a:lstStyle/>
          <a:p>
            <a:pPr algn="ctr"/>
            <a:r>
              <a:rPr lang="en-US" b="1">
                <a:latin typeface="Work Sans" pitchFamily="2" charset="77"/>
              </a:rPr>
              <a:t>262kWh</a:t>
            </a:r>
            <a:endParaRPr lang="en-US" b="1" dirty="0">
              <a:latin typeface="Work Sans" pitchFamily="2" charset="77"/>
            </a:endParaRPr>
          </a:p>
        </p:txBody>
      </p:sp>
      <p:sp>
        <p:nvSpPr>
          <p:cNvPr id="25" name="old_kwh_1">
            <a:extLst>
              <a:ext uri="{FF2B5EF4-FFF2-40B4-BE49-F238E27FC236}">
                <a16:creationId xmlns:a16="http://schemas.microsoft.com/office/drawing/2014/main" id="{03DA21EA-58A9-5627-35B3-6983B8555ED1}"/>
              </a:ext>
            </a:extLst>
          </p:cNvPr>
          <p:cNvSpPr txBox="1"/>
          <p:nvPr/>
        </p:nvSpPr>
        <p:spPr>
          <a:xfrm>
            <a:off x="290135" y="2232899"/>
            <a:ext cx="1763808" cy="369332"/>
          </a:xfrm>
          <a:prstGeom prst="rect">
            <a:avLst/>
          </a:prstGeom>
          <a:noFill/>
        </p:spPr>
        <p:txBody>
          <a:bodyPr wrap="square" rtlCol="0">
            <a:spAutoFit/>
          </a:bodyPr>
          <a:lstStyle/>
          <a:p>
            <a:pPr algn="ctr"/>
            <a:r>
              <a:rPr lang="en-US" b="1">
                <a:latin typeface="Work Sans" pitchFamily="2" charset="77"/>
              </a:rPr>
              <a:t>1,048kWh</a:t>
            </a:r>
            <a:endParaRPr lang="en-US" b="1" dirty="0">
              <a:latin typeface="Work Sans" pitchFamily="2" charset="77"/>
            </a:endParaRPr>
          </a:p>
        </p:txBody>
      </p:sp>
      <p:sp>
        <p:nvSpPr>
          <p:cNvPr id="26" name="export_kwh_1">
            <a:extLst>
              <a:ext uri="{FF2B5EF4-FFF2-40B4-BE49-F238E27FC236}">
                <a16:creationId xmlns:a16="http://schemas.microsoft.com/office/drawing/2014/main" id="{CA4AB542-22F2-0EAA-DD18-B4C8B7685B44}"/>
              </a:ext>
            </a:extLst>
          </p:cNvPr>
          <p:cNvSpPr txBox="1"/>
          <p:nvPr/>
        </p:nvSpPr>
        <p:spPr>
          <a:xfrm>
            <a:off x="5508380" y="2232899"/>
            <a:ext cx="1716138" cy="369332"/>
          </a:xfrm>
          <a:prstGeom prst="rect">
            <a:avLst/>
          </a:prstGeom>
          <a:noFill/>
        </p:spPr>
        <p:txBody>
          <a:bodyPr wrap="square" rtlCol="0">
            <a:spAutoFit/>
          </a:bodyPr>
          <a:lstStyle/>
          <a:p>
            <a:pPr algn="ctr"/>
            <a:r>
              <a:rPr lang="en-US" b="1">
                <a:latin typeface="Work Sans" pitchFamily="2" charset="77"/>
              </a:rPr>
              <a:t>470kWh</a:t>
            </a:r>
            <a:endParaRPr lang="en-US" b="1" dirty="0">
              <a:latin typeface="Work Sans" pitchFamily="2" charset="77"/>
            </a:endParaRPr>
          </a:p>
        </p:txBody>
      </p:sp>
      <p:sp>
        <p:nvSpPr>
          <p:cNvPr id="28" name="TextBox 27">
            <a:extLst>
              <a:ext uri="{FF2B5EF4-FFF2-40B4-BE49-F238E27FC236}">
                <a16:creationId xmlns:a16="http://schemas.microsoft.com/office/drawing/2014/main" id="{1633688F-5DDB-C64B-2C1C-B9DF35CA157B}"/>
              </a:ext>
            </a:extLst>
          </p:cNvPr>
          <p:cNvSpPr txBox="1"/>
          <p:nvPr/>
        </p:nvSpPr>
        <p:spPr>
          <a:xfrm>
            <a:off x="3756361" y="2475141"/>
            <a:ext cx="1656000" cy="215444"/>
          </a:xfrm>
          <a:prstGeom prst="rect">
            <a:avLst/>
          </a:prstGeom>
          <a:noFill/>
        </p:spPr>
        <p:txBody>
          <a:bodyPr wrap="square" rtlCol="0">
            <a:spAutoFit/>
          </a:bodyPr>
          <a:lstStyle/>
          <a:p>
            <a:pPr algn="ctr"/>
            <a:r>
              <a:rPr lang="en-US" sz="800" dirty="0">
                <a:solidFill>
                  <a:schemeClr val="tx1">
                    <a:lumMod val="65000"/>
                    <a:lumOff val="35000"/>
                  </a:schemeClr>
                </a:solidFill>
                <a:latin typeface="Work Sans" pitchFamily="2" charset="77"/>
              </a:rPr>
              <a:t>[        of Home Usage]</a:t>
            </a:r>
          </a:p>
        </p:txBody>
      </p:sp>
      <p:sp>
        <p:nvSpPr>
          <p:cNvPr id="29" name="savings_percent">
            <a:extLst>
              <a:ext uri="{FF2B5EF4-FFF2-40B4-BE49-F238E27FC236}">
                <a16:creationId xmlns:a16="http://schemas.microsoft.com/office/drawing/2014/main" id="{19CD4835-AF43-8605-7C95-B9E11C1401F4}"/>
              </a:ext>
            </a:extLst>
          </p:cNvPr>
          <p:cNvSpPr txBox="1"/>
          <p:nvPr/>
        </p:nvSpPr>
        <p:spPr>
          <a:xfrm>
            <a:off x="3994409" y="2475602"/>
            <a:ext cx="418606" cy="215444"/>
          </a:xfrm>
          <a:prstGeom prst="rect">
            <a:avLst/>
          </a:prstGeom>
          <a:noFill/>
        </p:spPr>
        <p:txBody>
          <a:bodyPr wrap="square" rtlCol="0">
            <a:spAutoFit/>
          </a:bodyPr>
          <a:lstStyle/>
          <a:p>
            <a:pPr algn="ctr"/>
            <a:r>
              <a:rPr lang="en-US" sz="800">
                <a:solidFill>
                  <a:schemeClr val="tx1">
                    <a:lumMod val="65000"/>
                    <a:lumOff val="35000"/>
                  </a:schemeClr>
                </a:solidFill>
                <a:latin typeface="Work Sans" pitchFamily="2" charset="77"/>
              </a:rPr>
              <a:t>25%</a:t>
            </a:r>
            <a:endParaRPr lang="en-US" sz="800" dirty="0">
              <a:solidFill>
                <a:schemeClr val="tx1">
                  <a:lumMod val="65000"/>
                  <a:lumOff val="35000"/>
                </a:schemeClr>
              </a:solidFill>
              <a:latin typeface="Work Sans" pitchFamily="2" charset="77"/>
            </a:endParaRPr>
          </a:p>
        </p:txBody>
      </p:sp>
      <p:sp>
        <p:nvSpPr>
          <p:cNvPr id="50" name="export_kwh_2">
            <a:extLst>
              <a:ext uri="{FF2B5EF4-FFF2-40B4-BE49-F238E27FC236}">
                <a16:creationId xmlns:a16="http://schemas.microsoft.com/office/drawing/2014/main" id="{D70D4061-DBC1-93BD-5B7B-65EFF64B732E}"/>
              </a:ext>
            </a:extLst>
          </p:cNvPr>
          <p:cNvSpPr txBox="1"/>
          <p:nvPr/>
        </p:nvSpPr>
        <p:spPr>
          <a:xfrm>
            <a:off x="1182778" y="7302165"/>
            <a:ext cx="3107185" cy="2861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470kWh</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78" name="before_total_kwh">
            <a:extLst>
              <a:ext uri="{FF2B5EF4-FFF2-40B4-BE49-F238E27FC236}">
                <a16:creationId xmlns:a16="http://schemas.microsoft.com/office/drawing/2014/main" id="{B5762A0E-256B-4F92-5D4D-5AF07C8AEF87}"/>
              </a:ext>
            </a:extLst>
          </p:cNvPr>
          <p:cNvSpPr txBox="1"/>
          <p:nvPr/>
        </p:nvSpPr>
        <p:spPr>
          <a:xfrm>
            <a:off x="4633667" y="3995482"/>
            <a:ext cx="8851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chemeClr val="tx1"/>
                </a:solidFill>
                <a:effectLst/>
                <a:uLnTx/>
                <a:uFillTx/>
                <a:latin typeface="Work Sans" pitchFamily="2" charset="77"/>
                <a:cs typeface="Arial"/>
                <a:sym typeface="Arial"/>
              </a:rPr>
              <a:t>1048</a:t>
            </a: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79" name="old_kwh_2">
            <a:extLst>
              <a:ext uri="{FF2B5EF4-FFF2-40B4-BE49-F238E27FC236}">
                <a16:creationId xmlns:a16="http://schemas.microsoft.com/office/drawing/2014/main" id="{EF1BFE34-A39B-12FC-2E20-ED2EF00A3B14}"/>
              </a:ext>
            </a:extLst>
          </p:cNvPr>
          <p:cNvSpPr txBox="1"/>
          <p:nvPr/>
        </p:nvSpPr>
        <p:spPr>
          <a:xfrm>
            <a:off x="4584362" y="3423091"/>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1048</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0" name="after_total_kwh">
            <a:extLst>
              <a:ext uri="{FF2B5EF4-FFF2-40B4-BE49-F238E27FC236}">
                <a16:creationId xmlns:a16="http://schemas.microsoft.com/office/drawing/2014/main" id="{1204FCCE-2321-DB0F-3A88-267F9F099015}"/>
              </a:ext>
            </a:extLst>
          </p:cNvPr>
          <p:cNvSpPr txBox="1"/>
          <p:nvPr/>
        </p:nvSpPr>
        <p:spPr>
          <a:xfrm>
            <a:off x="6482234" y="3983096"/>
            <a:ext cx="8851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chemeClr val="tx1"/>
                </a:solidFill>
                <a:effectLst/>
                <a:uLnTx/>
                <a:uFillTx/>
                <a:latin typeface="Work Sans" pitchFamily="2" charset="77"/>
                <a:cs typeface="Arial"/>
                <a:sym typeface="Arial"/>
              </a:rPr>
              <a:t>1048</a:t>
            </a: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1" name="old_energy">
            <a:extLst>
              <a:ext uri="{FF2B5EF4-FFF2-40B4-BE49-F238E27FC236}">
                <a16:creationId xmlns:a16="http://schemas.microsoft.com/office/drawing/2014/main" id="{33A33DEF-EAA3-D235-CCE4-5F2776EBFF2A}"/>
              </a:ext>
            </a:extLst>
          </p:cNvPr>
          <p:cNvSpPr txBox="1"/>
          <p:nvPr/>
        </p:nvSpPr>
        <p:spPr>
          <a:xfrm>
            <a:off x="4566108" y="4870677"/>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283</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2" name="old_capacity">
            <a:extLst>
              <a:ext uri="{FF2B5EF4-FFF2-40B4-BE49-F238E27FC236}">
                <a16:creationId xmlns:a16="http://schemas.microsoft.com/office/drawing/2014/main" id="{74770D39-1AC6-875A-7AD1-EDBCAD542252}"/>
              </a:ext>
            </a:extLst>
          </p:cNvPr>
          <p:cNvSpPr txBox="1"/>
          <p:nvPr/>
        </p:nvSpPr>
        <p:spPr>
          <a:xfrm>
            <a:off x="4560425" y="513703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48</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3" name="old_network">
            <a:extLst>
              <a:ext uri="{FF2B5EF4-FFF2-40B4-BE49-F238E27FC236}">
                <a16:creationId xmlns:a16="http://schemas.microsoft.com/office/drawing/2014/main" id="{FE6A3FDF-E68E-0846-1BC1-524C23A57D31}"/>
              </a:ext>
            </a:extLst>
          </p:cNvPr>
          <p:cNvSpPr txBox="1"/>
          <p:nvPr/>
        </p:nvSpPr>
        <p:spPr>
          <a:xfrm>
            <a:off x="4559360" y="542274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135</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4" name="old_afa">
            <a:extLst>
              <a:ext uri="{FF2B5EF4-FFF2-40B4-BE49-F238E27FC236}">
                <a16:creationId xmlns:a16="http://schemas.microsoft.com/office/drawing/2014/main" id="{2016A721-EDA3-EA1C-16F6-1D7480CA9FDE}"/>
              </a:ext>
            </a:extLst>
          </p:cNvPr>
          <p:cNvSpPr txBox="1"/>
          <p:nvPr/>
        </p:nvSpPr>
        <p:spPr>
          <a:xfrm>
            <a:off x="4567718" y="5689112"/>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5" name="old_eei">
            <a:extLst>
              <a:ext uri="{FF2B5EF4-FFF2-40B4-BE49-F238E27FC236}">
                <a16:creationId xmlns:a16="http://schemas.microsoft.com/office/drawing/2014/main" id="{0E036A79-A293-2564-94AA-9B4E4E1EC4D6}"/>
              </a:ext>
            </a:extLst>
          </p:cNvPr>
          <p:cNvSpPr txBox="1"/>
          <p:nvPr/>
        </p:nvSpPr>
        <p:spPr>
          <a:xfrm>
            <a:off x="4563174" y="596130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6" name="old_retail">
            <a:extLst>
              <a:ext uri="{FF2B5EF4-FFF2-40B4-BE49-F238E27FC236}">
                <a16:creationId xmlns:a16="http://schemas.microsoft.com/office/drawing/2014/main" id="{2E27CAF1-E484-9732-7874-5B253D73FC08}"/>
              </a:ext>
            </a:extLst>
          </p:cNvPr>
          <p:cNvSpPr txBox="1"/>
          <p:nvPr/>
        </p:nvSpPr>
        <p:spPr>
          <a:xfrm>
            <a:off x="4563175" y="624311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7" name="old_kwtbb">
            <a:extLst>
              <a:ext uri="{FF2B5EF4-FFF2-40B4-BE49-F238E27FC236}">
                <a16:creationId xmlns:a16="http://schemas.microsoft.com/office/drawing/2014/main" id="{051A73DB-528B-BB42-772B-DF728F28D219}"/>
              </a:ext>
            </a:extLst>
          </p:cNvPr>
          <p:cNvSpPr txBox="1"/>
          <p:nvPr/>
        </p:nvSpPr>
        <p:spPr>
          <a:xfrm>
            <a:off x="4563171" y="6512151"/>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8" name="old_sst">
            <a:extLst>
              <a:ext uri="{FF2B5EF4-FFF2-40B4-BE49-F238E27FC236}">
                <a16:creationId xmlns:a16="http://schemas.microsoft.com/office/drawing/2014/main" id="{E45B3881-C454-3952-ADEE-6177F703C5AD}"/>
              </a:ext>
            </a:extLst>
          </p:cNvPr>
          <p:cNvSpPr txBox="1"/>
          <p:nvPr/>
        </p:nvSpPr>
        <p:spPr>
          <a:xfrm>
            <a:off x="4567317" y="6775508"/>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9" name="new_energy">
            <a:extLst>
              <a:ext uri="{FF2B5EF4-FFF2-40B4-BE49-F238E27FC236}">
                <a16:creationId xmlns:a16="http://schemas.microsoft.com/office/drawing/2014/main" id="{9A9C947C-EE5E-1A36-35B7-0EC7EA847A74}"/>
              </a:ext>
            </a:extLst>
          </p:cNvPr>
          <p:cNvSpPr txBox="1"/>
          <p:nvPr/>
        </p:nvSpPr>
        <p:spPr>
          <a:xfrm>
            <a:off x="6408014" y="4862251"/>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212</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0" name="new_capacity">
            <a:extLst>
              <a:ext uri="{FF2B5EF4-FFF2-40B4-BE49-F238E27FC236}">
                <a16:creationId xmlns:a16="http://schemas.microsoft.com/office/drawing/2014/main" id="{B4D94913-1C6A-BB09-D6A2-2A2CFCCC017B}"/>
              </a:ext>
            </a:extLst>
          </p:cNvPr>
          <p:cNvSpPr txBox="1"/>
          <p:nvPr/>
        </p:nvSpPr>
        <p:spPr>
          <a:xfrm>
            <a:off x="6408014" y="512860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36</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1" name="new_network">
            <a:extLst>
              <a:ext uri="{FF2B5EF4-FFF2-40B4-BE49-F238E27FC236}">
                <a16:creationId xmlns:a16="http://schemas.microsoft.com/office/drawing/2014/main" id="{3FADBB8C-250B-FD56-DEE2-D2F4B3A1320F}"/>
              </a:ext>
            </a:extLst>
          </p:cNvPr>
          <p:cNvSpPr txBox="1"/>
          <p:nvPr/>
        </p:nvSpPr>
        <p:spPr>
          <a:xfrm>
            <a:off x="6408014" y="541432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101</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2" name="new_afa">
            <a:extLst>
              <a:ext uri="{FF2B5EF4-FFF2-40B4-BE49-F238E27FC236}">
                <a16:creationId xmlns:a16="http://schemas.microsoft.com/office/drawing/2014/main" id="{921435E8-883F-2A65-AADD-235F1FD59F12}"/>
              </a:ext>
            </a:extLst>
          </p:cNvPr>
          <p:cNvSpPr txBox="1"/>
          <p:nvPr/>
        </p:nvSpPr>
        <p:spPr>
          <a:xfrm>
            <a:off x="6408014" y="568068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3" name="new_eei">
            <a:extLst>
              <a:ext uri="{FF2B5EF4-FFF2-40B4-BE49-F238E27FC236}">
                <a16:creationId xmlns:a16="http://schemas.microsoft.com/office/drawing/2014/main" id="{2761641E-9A15-E4F1-F27C-0549D072B4CA}"/>
              </a:ext>
            </a:extLst>
          </p:cNvPr>
          <p:cNvSpPr txBox="1"/>
          <p:nvPr/>
        </p:nvSpPr>
        <p:spPr>
          <a:xfrm>
            <a:off x="6408014" y="595287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-31</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4" name="new_retail">
            <a:extLst>
              <a:ext uri="{FF2B5EF4-FFF2-40B4-BE49-F238E27FC236}">
                <a16:creationId xmlns:a16="http://schemas.microsoft.com/office/drawing/2014/main" id="{DA46DE38-69BE-B65B-D6A5-7BDDF0C01C03}"/>
              </a:ext>
            </a:extLst>
          </p:cNvPr>
          <p:cNvSpPr txBox="1"/>
          <p:nvPr/>
        </p:nvSpPr>
        <p:spPr>
          <a:xfrm>
            <a:off x="6408014" y="623468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5" name="new_kwtbb">
            <a:extLst>
              <a:ext uri="{FF2B5EF4-FFF2-40B4-BE49-F238E27FC236}">
                <a16:creationId xmlns:a16="http://schemas.microsoft.com/office/drawing/2014/main" id="{4429845F-2266-C4F9-E59F-178C37CC5BCB}"/>
              </a:ext>
            </a:extLst>
          </p:cNvPr>
          <p:cNvSpPr txBox="1"/>
          <p:nvPr/>
        </p:nvSpPr>
        <p:spPr>
          <a:xfrm>
            <a:off x="6408014" y="6503725"/>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5</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6" name="new_sst">
            <a:extLst>
              <a:ext uri="{FF2B5EF4-FFF2-40B4-BE49-F238E27FC236}">
                <a16:creationId xmlns:a16="http://schemas.microsoft.com/office/drawing/2014/main" id="{68C32A79-9B07-AD1E-3C40-A585795F16CC}"/>
              </a:ext>
            </a:extLst>
          </p:cNvPr>
          <p:cNvSpPr txBox="1"/>
          <p:nvPr/>
        </p:nvSpPr>
        <p:spPr>
          <a:xfrm>
            <a:off x="6408014" y="6767082"/>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7" name="old_total_charges">
            <a:extLst>
              <a:ext uri="{FF2B5EF4-FFF2-40B4-BE49-F238E27FC236}">
                <a16:creationId xmlns:a16="http://schemas.microsoft.com/office/drawing/2014/main" id="{5501C7CE-7290-54D2-0D8C-4EEAE3DB8698}"/>
              </a:ext>
            </a:extLst>
          </p:cNvPr>
          <p:cNvSpPr txBox="1"/>
          <p:nvPr/>
        </p:nvSpPr>
        <p:spPr>
          <a:xfrm>
            <a:off x="4644424" y="7057318"/>
            <a:ext cx="742480" cy="276999"/>
          </a:xfrm>
          <a:prstGeom prst="rect">
            <a:avLst/>
          </a:prstGeom>
          <a:noFill/>
        </p:spPr>
        <p:txBody>
          <a:bodyPr wrap="square">
            <a:spAutoFit/>
          </a:bodyPr>
          <a:lstStyle/>
          <a:p>
            <a:pPr algn="r"/>
            <a:r>
              <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500</a:t>
            </a:r>
            <a:endParaRPr lang="en-MY" sz="1200" dirty="0"/>
          </a:p>
        </p:txBody>
      </p:sp>
      <p:sp>
        <p:nvSpPr>
          <p:cNvPr id="98" name="new_total_charges">
            <a:extLst>
              <a:ext uri="{FF2B5EF4-FFF2-40B4-BE49-F238E27FC236}">
                <a16:creationId xmlns:a16="http://schemas.microsoft.com/office/drawing/2014/main" id="{A8BB8910-3023-C32E-3924-3C02F943C7C2}"/>
              </a:ext>
            </a:extLst>
          </p:cNvPr>
          <p:cNvSpPr txBox="1"/>
          <p:nvPr/>
        </p:nvSpPr>
        <p:spPr>
          <a:xfrm>
            <a:off x="6493534" y="7053615"/>
            <a:ext cx="742480" cy="276999"/>
          </a:xfrm>
          <a:prstGeom prst="rect">
            <a:avLst/>
          </a:prstGeom>
          <a:noFill/>
        </p:spPr>
        <p:txBody>
          <a:bodyPr wrap="square">
            <a:spAutoFit/>
          </a:bodyPr>
          <a:lstStyle/>
          <a:p>
            <a:pPr algn="r"/>
            <a:r>
              <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340</a:t>
            </a:r>
          </a:p>
        </p:txBody>
      </p:sp>
      <p:sp>
        <p:nvSpPr>
          <p:cNvPr id="99" name="solar_export_credit">
            <a:extLst>
              <a:ext uri="{FF2B5EF4-FFF2-40B4-BE49-F238E27FC236}">
                <a16:creationId xmlns:a16="http://schemas.microsoft.com/office/drawing/2014/main" id="{7E9DA73B-3200-924F-58FA-B8F8117812E2}"/>
              </a:ext>
            </a:extLst>
          </p:cNvPr>
          <p:cNvSpPr txBox="1"/>
          <p:nvPr/>
        </p:nvSpPr>
        <p:spPr>
          <a:xfrm>
            <a:off x="6408014" y="732566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-127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0" name="old_total_bill">
            <a:extLst>
              <a:ext uri="{FF2B5EF4-FFF2-40B4-BE49-F238E27FC236}">
                <a16:creationId xmlns:a16="http://schemas.microsoft.com/office/drawing/2014/main" id="{78F360E7-6D34-FD34-7D53-0E07D3558E79}"/>
              </a:ext>
            </a:extLst>
          </p:cNvPr>
          <p:cNvSpPr txBox="1"/>
          <p:nvPr/>
        </p:nvSpPr>
        <p:spPr>
          <a:xfrm>
            <a:off x="4558904" y="7846510"/>
            <a:ext cx="828000" cy="307777"/>
          </a:xfrm>
          <a:prstGeom prst="rect">
            <a:avLst/>
          </a:prstGeom>
          <a:noFill/>
        </p:spPr>
        <p:txBody>
          <a:bodyPr wrap="square">
            <a:spAutoFit/>
          </a:bodyPr>
          <a:lstStyle/>
          <a:p>
            <a:pPr algn="r"/>
            <a:r>
              <a:rPr kumimoji="0" lang="en-US" sz="14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500</a:t>
            </a:r>
            <a:endParaRPr lang="en-MY" sz="1400" dirty="0"/>
          </a:p>
        </p:txBody>
      </p:sp>
      <p:sp>
        <p:nvSpPr>
          <p:cNvPr id="101" name="new_total_bill">
            <a:extLst>
              <a:ext uri="{FF2B5EF4-FFF2-40B4-BE49-F238E27FC236}">
                <a16:creationId xmlns:a16="http://schemas.microsoft.com/office/drawing/2014/main" id="{84D577EF-5E63-E642-5B43-06092D5FCA88}"/>
              </a:ext>
            </a:extLst>
          </p:cNvPr>
          <p:cNvSpPr txBox="1"/>
          <p:nvPr/>
        </p:nvSpPr>
        <p:spPr>
          <a:xfrm>
            <a:off x="6408014" y="7866428"/>
            <a:ext cx="828000" cy="307777"/>
          </a:xfrm>
          <a:prstGeom prst="rect">
            <a:avLst/>
          </a:prstGeom>
          <a:noFill/>
        </p:spPr>
        <p:txBody>
          <a:bodyPr wrap="square">
            <a:spAutoFit/>
          </a:bodyPr>
          <a:lstStyle/>
          <a:p>
            <a:pPr algn="r"/>
            <a:r>
              <a:rPr kumimoji="0" lang="en-US" sz="1400" b="1" i="0" u="none" strike="noStrike" kern="0" cap="none" spc="0" normalizeH="0" baseline="0" noProof="0" dirty="0">
                <a:ln>
                  <a:noFill/>
                </a:ln>
                <a:effectLst/>
                <a:uLnTx/>
                <a:uFillTx/>
                <a:latin typeface="Work Sans" pitchFamily="2" charset="77"/>
                <a:ea typeface="Work Sans Light"/>
                <a:cs typeface="Work Sans Light"/>
                <a:sym typeface="Work Sans Light"/>
              </a:rPr>
              <a:t>232</a:t>
            </a:r>
            <a:endParaRPr lang="en-MY" sz="1400" dirty="0"/>
          </a:p>
        </p:txBody>
      </p:sp>
      <p:sp>
        <p:nvSpPr>
          <p:cNvPr id="102" name="daytime_savings">
            <a:extLst>
              <a:ext uri="{FF2B5EF4-FFF2-40B4-BE49-F238E27FC236}">
                <a16:creationId xmlns:a16="http://schemas.microsoft.com/office/drawing/2014/main" id="{F907C344-2249-7151-4412-0DAB850CBF5E}"/>
              </a:ext>
            </a:extLst>
          </p:cNvPr>
          <p:cNvSpPr txBox="1"/>
          <p:nvPr/>
        </p:nvSpPr>
        <p:spPr>
          <a:xfrm>
            <a:off x="6391399" y="8750337"/>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160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3" name="export_savings">
            <a:extLst>
              <a:ext uri="{FF2B5EF4-FFF2-40B4-BE49-F238E27FC236}">
                <a16:creationId xmlns:a16="http://schemas.microsoft.com/office/drawing/2014/main" id="{E822E33C-7ECF-FB9E-E30C-9071DB41D665}"/>
              </a:ext>
            </a:extLst>
          </p:cNvPr>
          <p:cNvSpPr txBox="1"/>
          <p:nvPr/>
        </p:nvSpPr>
        <p:spPr>
          <a:xfrm>
            <a:off x="6391395" y="9019378"/>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108</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4" name="total_savings">
            <a:extLst>
              <a:ext uri="{FF2B5EF4-FFF2-40B4-BE49-F238E27FC236}">
                <a16:creationId xmlns:a16="http://schemas.microsoft.com/office/drawing/2014/main" id="{3A40B016-9701-8EA7-6E98-2C27AA5A054B}"/>
              </a:ext>
            </a:extLst>
          </p:cNvPr>
          <p:cNvSpPr txBox="1"/>
          <p:nvPr/>
        </p:nvSpPr>
        <p:spPr>
          <a:xfrm>
            <a:off x="6404938" y="9300923"/>
            <a:ext cx="828000" cy="307777"/>
          </a:xfrm>
          <a:prstGeom prst="rect">
            <a:avLst/>
          </a:prstGeom>
          <a:noFill/>
        </p:spPr>
        <p:txBody>
          <a:bodyPr wrap="square">
            <a:spAutoFit/>
          </a:bodyPr>
          <a:lstStyle/>
          <a:p>
            <a:pPr algn="r"/>
            <a:r>
              <a:rPr kumimoji="0" lang="en-US" sz="14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rPr>
              <a:t>268</a:t>
            </a:r>
            <a:endParaRPr lang="en-MY" sz="1400" dirty="0">
              <a:solidFill>
                <a:srgbClr val="F454CD"/>
              </a:solidFill>
            </a:endParaRPr>
          </a:p>
        </p:txBody>
      </p:sp>
      <p:sp>
        <p:nvSpPr>
          <p:cNvPr id="3" name="new_kwh">
            <a:extLst>
              <a:ext uri="{FF2B5EF4-FFF2-40B4-BE49-F238E27FC236}">
                <a16:creationId xmlns:a16="http://schemas.microsoft.com/office/drawing/2014/main" id="{75BDBDE6-9642-C300-09B7-3B7621011FD3}"/>
              </a:ext>
            </a:extLst>
          </p:cNvPr>
          <p:cNvSpPr txBox="1"/>
          <p:nvPr/>
        </p:nvSpPr>
        <p:spPr>
          <a:xfrm>
            <a:off x="6394087" y="341904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786</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 name="daytime_kwh_2">
            <a:extLst>
              <a:ext uri="{FF2B5EF4-FFF2-40B4-BE49-F238E27FC236}">
                <a16:creationId xmlns:a16="http://schemas.microsoft.com/office/drawing/2014/main" id="{04C1A9F5-D692-52D2-F37C-F4BC29075272}"/>
              </a:ext>
            </a:extLst>
          </p:cNvPr>
          <p:cNvSpPr txBox="1"/>
          <p:nvPr/>
        </p:nvSpPr>
        <p:spPr>
          <a:xfrm>
            <a:off x="6390870" y="371215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262</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 name="eei_adjust">
            <a:extLst>
              <a:ext uri="{FF2B5EF4-FFF2-40B4-BE49-F238E27FC236}">
                <a16:creationId xmlns:a16="http://schemas.microsoft.com/office/drawing/2014/main" id="{70CE43E4-B30F-4F54-8536-7B476F85CFF6}"/>
              </a:ext>
            </a:extLst>
          </p:cNvPr>
          <p:cNvSpPr txBox="1"/>
          <p:nvPr/>
        </p:nvSpPr>
        <p:spPr>
          <a:xfrm>
            <a:off x="6408014" y="7584449"/>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19</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Tree>
    <p:extLst>
      <p:ext uri="{BB962C8B-B14F-4D97-AF65-F5344CB8AC3E}">
        <p14:creationId xmlns:p14="http://schemas.microsoft.com/office/powerpoint/2010/main" val="225984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CBD88-3C2C-9F22-30A2-C0F6AB896241}"/>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A142E2DA-FB1F-2039-512E-B42273845EFB}"/>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B5B88FBC-EB0C-10E0-DE72-383E560E952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CC5D36DA-20C4-1B25-E3A2-EA8A64AFBF7F}"/>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aphicFrame>
        <p:nvGraphicFramePr>
          <p:cNvPr id="2" name="Google Shape;179;p3">
            <a:extLst>
              <a:ext uri="{FF2B5EF4-FFF2-40B4-BE49-F238E27FC236}">
                <a16:creationId xmlns:a16="http://schemas.microsoft.com/office/drawing/2014/main" id="{26EC1611-5515-A20A-C63A-E89C5F4825B4}"/>
              </a:ext>
            </a:extLst>
          </p:cNvPr>
          <p:cNvGraphicFramePr/>
          <p:nvPr/>
        </p:nvGraphicFramePr>
        <p:xfrm>
          <a:off x="323837" y="1249923"/>
          <a:ext cx="6912000" cy="8572953"/>
        </p:xfrm>
        <a:graphic>
          <a:graphicData uri="http://schemas.openxmlformats.org/drawingml/2006/table">
            <a:tbl>
              <a:tblPr firstRow="1" bandRow="1">
                <a:noFill/>
              </a:tblPr>
              <a:tblGrid>
                <a:gridCol w="2880000">
                  <a:extLst>
                    <a:ext uri="{9D8B030D-6E8A-4147-A177-3AD203B41FA5}">
                      <a16:colId xmlns:a16="http://schemas.microsoft.com/office/drawing/2014/main" val="20000"/>
                    </a:ext>
                  </a:extLst>
                </a:gridCol>
                <a:gridCol w="2016000">
                  <a:extLst>
                    <a:ext uri="{9D8B030D-6E8A-4147-A177-3AD203B41FA5}">
                      <a16:colId xmlns:a16="http://schemas.microsoft.com/office/drawing/2014/main" val="20004"/>
                    </a:ext>
                  </a:extLst>
                </a:gridCol>
                <a:gridCol w="2016000">
                  <a:extLst>
                    <a:ext uri="{9D8B030D-6E8A-4147-A177-3AD203B41FA5}">
                      <a16:colId xmlns:a16="http://schemas.microsoft.com/office/drawing/2014/main" val="20005"/>
                    </a:ext>
                  </a:extLst>
                </a:gridCol>
              </a:tblGrid>
              <a:tr h="808769">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600" b="1" i="0" dirty="0">
                          <a:solidFill>
                            <a:schemeClr val="tx1"/>
                          </a:solidFill>
                          <a:latin typeface="Work Sans" pitchFamily="2" charset="77"/>
                        </a:rPr>
                        <a:t>Benefit</a:t>
                      </a:r>
                      <a:endParaRPr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600" b="1" i="0" dirty="0">
                          <a:solidFill>
                            <a:schemeClr val="tx1"/>
                          </a:solidFill>
                          <a:latin typeface="Work Sans" pitchFamily="2" charset="77"/>
                          <a:ea typeface="Work Sans"/>
                          <a:cs typeface="Work Sans"/>
                        </a:rPr>
                        <a:t>Outright Purchase</a:t>
                      </a:r>
                      <a:endParaRPr lang="en-US"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Work Sans" pitchFamily="2" charset="77"/>
                          <a:ea typeface="Work Sans"/>
                          <a:cs typeface="Work Sans"/>
                        </a:rPr>
                        <a:t>Emit EzSolar</a:t>
                      </a:r>
                      <a:endParaRPr sz="16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70523">
                <a:tc>
                  <a:txBody>
                    <a:bodyPr/>
                    <a:lstStyle/>
                    <a:p>
                      <a:pPr marL="0" marR="0" lvl="0" indent="0" algn="l" rtl="0">
                        <a:spcBef>
                          <a:spcPts val="0"/>
                        </a:spcBef>
                        <a:spcAft>
                          <a:spcPts val="0"/>
                        </a:spcAft>
                        <a:buNone/>
                      </a:pPr>
                      <a:r>
                        <a:rPr lang="en-US" sz="1400" b="1" i="0" dirty="0">
                          <a:solidFill>
                            <a:schemeClr val="tx1"/>
                          </a:solidFill>
                          <a:latin typeface="Work Sans" pitchFamily="2" charset="77"/>
                          <a:ea typeface="Work Sans Light"/>
                          <a:cs typeface="Work Sans Light"/>
                          <a:sym typeface="Work Sans Light"/>
                        </a:rPr>
                        <a:t>Payment Options</a:t>
                      </a:r>
                    </a:p>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How you can pay for the system</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Cash</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Credit card</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Interest-free monthly payments</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0003"/>
                  </a:ext>
                </a:extLst>
              </a:tr>
              <a:tr h="970523">
                <a:tc>
                  <a:txBody>
                    <a:body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Credit Card Limit Utilisation</a:t>
                      </a:r>
                    </a:p>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Credit limit reduced by the full purchase amount</a:t>
                      </a:r>
                      <a:endParaRPr lang="en-MY"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Yes</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No</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532176653"/>
                  </a:ext>
                </a:extLst>
              </a:tr>
              <a:tr h="970523">
                <a:tc>
                  <a:txBody>
                    <a:body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Installation Warranty </a:t>
                      </a:r>
                    </a:p>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Covers workmanship defects during installation</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1 year</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1 year</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211419287"/>
                  </a:ext>
                </a:extLst>
              </a:tr>
              <a:tr h="970523">
                <a:tc>
                  <a:txBody>
                    <a:body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System Warranty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Ensures the system works as installed</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2 years</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2 years</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71114478"/>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schemeClr val="tx1"/>
                          </a:solidFill>
                          <a:effectLst/>
                          <a:uLnTx/>
                          <a:uFillTx/>
                          <a:latin typeface="Work Sans" pitchFamily="2" charset="77"/>
                          <a:sym typeface="Arial"/>
                        </a:rPr>
                        <a:t>Extended Support Package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Support for system faults caused by faulty components</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Not Applicable</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Up to 10 years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Work Sans" pitchFamily="2" charset="77"/>
                          <a:cs typeface="Arial"/>
                          <a:sym typeface="Arial"/>
                        </a:rPr>
                        <a:t>[contract duration]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933971099"/>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prstClr val="black"/>
                          </a:solidFill>
                          <a:effectLst/>
                          <a:uLnTx/>
                          <a:uFillTx/>
                          <a:latin typeface="Work Sans" pitchFamily="2" charset="77"/>
                          <a:sym typeface="Arial"/>
                        </a:rPr>
                        <a:t>EV-Ready Energy Hub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Quick setup with solar-first and dynamic load charging capability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416339683"/>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prstClr val="black"/>
                          </a:solidFill>
                          <a:effectLst/>
                          <a:uLnTx/>
                          <a:uFillTx/>
                          <a:latin typeface="Work Sans" pitchFamily="2" charset="77"/>
                          <a:sym typeface="Arial"/>
                        </a:rPr>
                        <a:t>Energy Storage System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Store Solar Electricity for use at night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775374152"/>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prstClr val="black"/>
                          </a:solidFill>
                          <a:effectLst/>
                          <a:uLnTx/>
                          <a:uFillTx/>
                          <a:latin typeface="Work Sans" pitchFamily="2" charset="77"/>
                          <a:sym typeface="Arial"/>
                        </a:rPr>
                        <a:t>Energy Backup System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Run essential appliances during blackouts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729417551"/>
                  </a:ext>
                </a:extLst>
              </a:tr>
            </a:tbl>
          </a:graphicData>
        </a:graphic>
      </p:graphicFrame>
      <p:sp>
        <p:nvSpPr>
          <p:cNvPr id="7" name="TextBox 6">
            <a:extLst>
              <a:ext uri="{FF2B5EF4-FFF2-40B4-BE49-F238E27FC236}">
                <a16:creationId xmlns:a16="http://schemas.microsoft.com/office/drawing/2014/main" id="{9C061619-3F9F-0D5A-1D5A-CC0C58E46292}"/>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Purchase Options</a:t>
            </a:r>
            <a:endParaRPr lang="en-US" sz="700" dirty="0">
              <a:latin typeface="Work Sans" pitchFamily="2" charset="77"/>
            </a:endParaRPr>
          </a:p>
          <a:p>
            <a:pPr lvl="0">
              <a:defRPr/>
            </a:pPr>
            <a:r>
              <a:rPr lang="en-US" sz="1200" dirty="0">
                <a:latin typeface="Work Sans" pitchFamily="2" charset="77"/>
              </a:rPr>
              <a:t>Flexible payment terms to suit your need and budget.</a:t>
            </a:r>
          </a:p>
        </p:txBody>
      </p:sp>
    </p:spTree>
    <p:extLst>
      <p:ext uri="{BB962C8B-B14F-4D97-AF65-F5344CB8AC3E}">
        <p14:creationId xmlns:p14="http://schemas.microsoft.com/office/powerpoint/2010/main" val="3058722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34AFEBC-D0E2-B576-FE36-4253FCF40D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C3A9C6-0649-3777-D9AD-DF494257DACE}"/>
              </a:ext>
            </a:extLst>
          </p:cNvPr>
          <p:cNvSpPr txBox="1"/>
          <p:nvPr/>
        </p:nvSpPr>
        <p:spPr>
          <a:xfrm>
            <a:off x="323837" y="8341042"/>
            <a:ext cx="6912000" cy="178510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Understand </a:t>
            </a:r>
            <a:b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b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Your Solar Savings</a:t>
            </a:r>
            <a:br>
              <a:rPr kumimoji="0" lang="en-US" sz="3600" b="0" i="0" u="none" strike="noStrike" kern="1200" cap="none" spc="0" normalizeH="0" baseline="0" noProof="0" dirty="0">
                <a:ln>
                  <a:noFill/>
                </a:ln>
                <a:solidFill>
                  <a:prstClr val="white"/>
                </a:solidFill>
                <a:effectLst/>
                <a:uLnTx/>
                <a:uFillTx/>
                <a:latin typeface="Work Sans" pitchFamily="2" charset="77"/>
                <a:ea typeface="+mn-ea"/>
                <a:cs typeface="+mn-cs"/>
              </a:rPr>
            </a:br>
            <a:r>
              <a:rPr lang="en-MY" sz="1400" dirty="0">
                <a:solidFill>
                  <a:schemeClr val="bg1"/>
                </a:solidFill>
                <a:latin typeface="Work Sans" pitchFamily="2" charset="77"/>
              </a:rPr>
              <a:t>How solar works, what affects savings, and why results can differ.</a:t>
            </a:r>
            <a:endParaRPr kumimoji="0" lang="en-US" sz="1600" b="0" i="0" u="none" strike="noStrike" kern="1200" cap="none" spc="0" normalizeH="0" baseline="0" noProof="0" dirty="0">
              <a:ln>
                <a:noFill/>
              </a:ln>
              <a:solidFill>
                <a:schemeClr val="bg1"/>
              </a:solidFill>
              <a:effectLst/>
              <a:uLnTx/>
              <a:uFillTx/>
              <a:latin typeface="Work Sans" pitchFamily="2" charset="77"/>
            </a:endParaRPr>
          </a:p>
        </p:txBody>
      </p:sp>
    </p:spTree>
    <p:extLst>
      <p:ext uri="{BB962C8B-B14F-4D97-AF65-F5344CB8AC3E}">
        <p14:creationId xmlns:p14="http://schemas.microsoft.com/office/powerpoint/2010/main" val="3853097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E86D7-25F6-7697-2D79-2BA430C2E362}"/>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C4D3257B-375F-950C-2754-1C48E4AEF875}"/>
              </a:ext>
            </a:extLst>
          </p:cNvPr>
          <p:cNvGraphicFramePr>
            <a:graphicFrameLocks noGrp="1"/>
          </p:cNvGraphicFramePr>
          <p:nvPr>
            <p:extLst>
              <p:ext uri="{D42A27DB-BD31-4B8C-83A1-F6EECF244321}">
                <p14:modId xmlns:p14="http://schemas.microsoft.com/office/powerpoint/2010/main" val="1385737571"/>
              </p:ext>
            </p:extLst>
          </p:nvPr>
        </p:nvGraphicFramePr>
        <p:xfrm>
          <a:off x="293455" y="7953174"/>
          <a:ext cx="6972764" cy="1442720"/>
        </p:xfrm>
        <a:graphic>
          <a:graphicData uri="http://schemas.openxmlformats.org/drawingml/2006/table">
            <a:tbl>
              <a:tblPr bandRow="1">
                <a:tableStyleId>{5C22544A-7EE6-4342-B048-85BDC9FD1C3A}</a:tableStyleId>
              </a:tblPr>
              <a:tblGrid>
                <a:gridCol w="1347191">
                  <a:extLst>
                    <a:ext uri="{9D8B030D-6E8A-4147-A177-3AD203B41FA5}">
                      <a16:colId xmlns:a16="http://schemas.microsoft.com/office/drawing/2014/main" val="805824610"/>
                    </a:ext>
                  </a:extLst>
                </a:gridCol>
                <a:gridCol w="1347191">
                  <a:extLst>
                    <a:ext uri="{9D8B030D-6E8A-4147-A177-3AD203B41FA5}">
                      <a16:colId xmlns:a16="http://schemas.microsoft.com/office/drawing/2014/main" val="214481236"/>
                    </a:ext>
                  </a:extLst>
                </a:gridCol>
                <a:gridCol w="1347191">
                  <a:extLst>
                    <a:ext uri="{9D8B030D-6E8A-4147-A177-3AD203B41FA5}">
                      <a16:colId xmlns:a16="http://schemas.microsoft.com/office/drawing/2014/main" val="1408707917"/>
                    </a:ext>
                  </a:extLst>
                </a:gridCol>
                <a:gridCol w="1584000">
                  <a:extLst>
                    <a:ext uri="{9D8B030D-6E8A-4147-A177-3AD203B41FA5}">
                      <a16:colId xmlns:a16="http://schemas.microsoft.com/office/drawing/2014/main" val="4104035185"/>
                    </a:ext>
                  </a:extLst>
                </a:gridCol>
                <a:gridCol w="1347191">
                  <a:extLst>
                    <a:ext uri="{9D8B030D-6E8A-4147-A177-3AD203B41FA5}">
                      <a16:colId xmlns:a16="http://schemas.microsoft.com/office/drawing/2014/main" val="3676158947"/>
                    </a:ext>
                  </a:extLst>
                </a:gridCol>
              </a:tblGrid>
              <a:tr h="370840">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extLst>
                  <a:ext uri="{0D108BD9-81ED-4DB2-BD59-A6C34878D82A}">
                    <a16:rowId xmlns:a16="http://schemas.microsoft.com/office/drawing/2014/main" val="2040653483"/>
                  </a:ext>
                </a:extLst>
              </a:tr>
              <a:tr h="370840">
                <a:tc>
                  <a:txBody>
                    <a:bodyPr/>
                    <a:lstStyle/>
                    <a:p>
                      <a:r>
                        <a:rPr lang="en-US" sz="1200" b="1" i="0" dirty="0">
                          <a:latin typeface="Work Sans" pitchFamily="2" charset="77"/>
                        </a:rPr>
                        <a:t>Solar Panels</a:t>
                      </a:r>
                    </a:p>
                  </a:txBody>
                  <a:tcPr anchor="ctr">
                    <a:noFill/>
                  </a:tcPr>
                </a:tc>
                <a:tc>
                  <a:txBody>
                    <a:bodyPr/>
                    <a:lstStyle/>
                    <a:p>
                      <a:r>
                        <a:rPr lang="en-US" sz="1200" b="1" i="0" dirty="0">
                          <a:latin typeface="Work Sans" pitchFamily="2" charset="77"/>
                        </a:rPr>
                        <a:t>Inverter</a:t>
                      </a:r>
                    </a:p>
                  </a:txBody>
                  <a:tcPr anchor="ctr">
                    <a:noFill/>
                  </a:tcPr>
                </a:tc>
                <a:tc>
                  <a:txBody>
                    <a:bodyPr/>
                    <a:lstStyle/>
                    <a:p>
                      <a:r>
                        <a:rPr lang="en-US" sz="1200" b="1" i="0" dirty="0">
                          <a:latin typeface="Work Sans" pitchFamily="2" charset="77"/>
                        </a:rPr>
                        <a:t>Home DB</a:t>
                      </a:r>
                    </a:p>
                  </a:txBody>
                  <a:tcPr anchor="ctr">
                    <a:noFill/>
                  </a:tcPr>
                </a:tc>
                <a:tc>
                  <a:txBody>
                    <a:bodyPr/>
                    <a:lstStyle/>
                    <a:p>
                      <a:r>
                        <a:rPr lang="en-US" sz="1200" b="1" i="0" dirty="0">
                          <a:latin typeface="Work Sans" pitchFamily="2" charset="77"/>
                        </a:rPr>
                        <a:t>Battery (Optional)</a:t>
                      </a:r>
                    </a:p>
                  </a:txBody>
                  <a:tcPr anchor="ctr">
                    <a:noFill/>
                  </a:tcPr>
                </a:tc>
                <a:tc>
                  <a:txBody>
                    <a:bodyPr/>
                    <a:lstStyle/>
                    <a:p>
                      <a:r>
                        <a:rPr lang="en-US" sz="1200" b="1" i="0" dirty="0">
                          <a:latin typeface="Work Sans" pitchFamily="2" charset="77"/>
                        </a:rPr>
                        <a:t>Power Grid</a:t>
                      </a:r>
                    </a:p>
                  </a:txBody>
                  <a:tcPr anchor="ctr">
                    <a:noFill/>
                  </a:tcPr>
                </a:tc>
                <a:extLst>
                  <a:ext uri="{0D108BD9-81ED-4DB2-BD59-A6C34878D82A}">
                    <a16:rowId xmlns:a16="http://schemas.microsoft.com/office/drawing/2014/main" val="1340948872"/>
                  </a:ext>
                </a:extLst>
              </a:tr>
              <a:tr h="37084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Capture sunlight and convert it into Direct Current (DC).</a:t>
                      </a:r>
                    </a:p>
                  </a:txBody>
                  <a:tcP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Converts DC into usable electricity (AC) for your home.</a:t>
                      </a:r>
                    </a:p>
                  </a:txBody>
                  <a:tcP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Distributes solar (when available) and TNB power.</a:t>
                      </a:r>
                    </a:p>
                  </a:txBody>
                  <a:tcP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Stores excess Solar Electricity for night use.</a:t>
                      </a:r>
                    </a:p>
                  </a:txBody>
                  <a:tcPr>
                    <a:noFill/>
                  </a:tcPr>
                </a:tc>
                <a:tc>
                  <a:txBody>
                    <a:bodyPr/>
                    <a:lstStyle/>
                    <a:p>
                      <a:pPr marL="0" marR="0" lvl="0" indent="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Exports leftover solar and supplies power when needed.</a:t>
                      </a:r>
                    </a:p>
                  </a:txBody>
                  <a:tcPr>
                    <a:noFill/>
                  </a:tcPr>
                </a:tc>
                <a:extLst>
                  <a:ext uri="{0D108BD9-81ED-4DB2-BD59-A6C34878D82A}">
                    <a16:rowId xmlns:a16="http://schemas.microsoft.com/office/drawing/2014/main" val="4056615621"/>
                  </a:ext>
                </a:extLst>
              </a:tr>
            </a:tbl>
          </a:graphicData>
        </a:graphic>
      </p:graphicFrame>
      <p:grpSp>
        <p:nvGrpSpPr>
          <p:cNvPr id="16" name="Group 15">
            <a:extLst>
              <a:ext uri="{FF2B5EF4-FFF2-40B4-BE49-F238E27FC236}">
                <a16:creationId xmlns:a16="http://schemas.microsoft.com/office/drawing/2014/main" id="{D9E7F806-EFD9-D4CD-E48B-E10BE34BC4E6}"/>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55CC84CE-37FB-DBE7-88D2-1B66568FD6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4D587797-B628-2D1A-E70A-394B7D646D6B}"/>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pic>
        <p:nvPicPr>
          <p:cNvPr id="3" name="Picture 2">
            <a:extLst>
              <a:ext uri="{FF2B5EF4-FFF2-40B4-BE49-F238E27FC236}">
                <a16:creationId xmlns:a16="http://schemas.microsoft.com/office/drawing/2014/main" id="{FFAD275D-C600-75E6-BC04-B241B2F7A3B7}"/>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21806" y="1647166"/>
            <a:ext cx="6916063" cy="5814155"/>
          </a:xfrm>
          <a:prstGeom prst="rect">
            <a:avLst/>
          </a:prstGeom>
        </p:spPr>
      </p:pic>
      <p:sp>
        <p:nvSpPr>
          <p:cNvPr id="12" name="Oval 11">
            <a:extLst>
              <a:ext uri="{FF2B5EF4-FFF2-40B4-BE49-F238E27FC236}">
                <a16:creationId xmlns:a16="http://schemas.microsoft.com/office/drawing/2014/main" id="{B649AEBE-06DC-2F55-A400-584F47B412EF}"/>
              </a:ext>
            </a:extLst>
          </p:cNvPr>
          <p:cNvSpPr>
            <a:spLocks noChangeAspect="1"/>
          </p:cNvSpPr>
          <p:nvPr/>
        </p:nvSpPr>
        <p:spPr>
          <a:xfrm>
            <a:off x="382127" y="8009834"/>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rPr>
              <a:t>1</a:t>
            </a:r>
          </a:p>
        </p:txBody>
      </p:sp>
      <p:sp>
        <p:nvSpPr>
          <p:cNvPr id="14" name="Oval 13">
            <a:extLst>
              <a:ext uri="{FF2B5EF4-FFF2-40B4-BE49-F238E27FC236}">
                <a16:creationId xmlns:a16="http://schemas.microsoft.com/office/drawing/2014/main" id="{E82628E1-A858-A1BD-F59B-0CB52700FF4E}"/>
              </a:ext>
            </a:extLst>
          </p:cNvPr>
          <p:cNvSpPr>
            <a:spLocks noChangeAspect="1"/>
          </p:cNvSpPr>
          <p:nvPr/>
        </p:nvSpPr>
        <p:spPr>
          <a:xfrm>
            <a:off x="1741535"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2</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32" name="Oval 31">
            <a:extLst>
              <a:ext uri="{FF2B5EF4-FFF2-40B4-BE49-F238E27FC236}">
                <a16:creationId xmlns:a16="http://schemas.microsoft.com/office/drawing/2014/main" id="{C36EE92A-BF76-2E7D-A09A-A7CF64D2B619}"/>
              </a:ext>
            </a:extLst>
          </p:cNvPr>
          <p:cNvSpPr>
            <a:spLocks noChangeAspect="1"/>
          </p:cNvSpPr>
          <p:nvPr/>
        </p:nvSpPr>
        <p:spPr>
          <a:xfrm>
            <a:off x="3085646"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3</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34" name="Oval 33">
            <a:extLst>
              <a:ext uri="{FF2B5EF4-FFF2-40B4-BE49-F238E27FC236}">
                <a16:creationId xmlns:a16="http://schemas.microsoft.com/office/drawing/2014/main" id="{42C9B114-73B0-CDEE-C3DD-C67A11FEDA08}"/>
              </a:ext>
            </a:extLst>
          </p:cNvPr>
          <p:cNvSpPr>
            <a:spLocks noChangeAspect="1"/>
          </p:cNvSpPr>
          <p:nvPr/>
        </p:nvSpPr>
        <p:spPr>
          <a:xfrm>
            <a:off x="4436501"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4</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35" name="Oval 34">
            <a:extLst>
              <a:ext uri="{FF2B5EF4-FFF2-40B4-BE49-F238E27FC236}">
                <a16:creationId xmlns:a16="http://schemas.microsoft.com/office/drawing/2014/main" id="{5D81747F-6D06-A70E-56B7-134EBF0DBF5C}"/>
              </a:ext>
            </a:extLst>
          </p:cNvPr>
          <p:cNvSpPr>
            <a:spLocks noChangeAspect="1"/>
          </p:cNvSpPr>
          <p:nvPr/>
        </p:nvSpPr>
        <p:spPr>
          <a:xfrm>
            <a:off x="6022749"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5</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4" name="TextBox 3">
            <a:extLst>
              <a:ext uri="{FF2B5EF4-FFF2-40B4-BE49-F238E27FC236}">
                <a16:creationId xmlns:a16="http://schemas.microsoft.com/office/drawing/2014/main" id="{AD3E627C-0FC8-905C-0FB9-46A8BA8BE3E1}"/>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Solar in Action</a:t>
            </a:r>
            <a:endParaRPr lang="en-US" sz="700" dirty="0">
              <a:latin typeface="Work Sans" pitchFamily="2" charset="77"/>
            </a:endParaRPr>
          </a:p>
          <a:p>
            <a:pPr lvl="0">
              <a:defRPr/>
            </a:pPr>
            <a:r>
              <a:rPr lang="en-US" sz="1200" dirty="0">
                <a:solidFill>
                  <a:prstClr val="black"/>
                </a:solidFill>
                <a:latin typeface="Work Sans" pitchFamily="2" charset="77"/>
              </a:rPr>
              <a:t>A simple look at how your solar system works.</a:t>
            </a:r>
          </a:p>
        </p:txBody>
      </p:sp>
    </p:spTree>
    <p:extLst>
      <p:ext uri="{BB962C8B-B14F-4D97-AF65-F5344CB8AC3E}">
        <p14:creationId xmlns:p14="http://schemas.microsoft.com/office/powerpoint/2010/main" val="17314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A909A-1888-9C04-5033-52662FB4BB96}"/>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6CF67889-2E2B-82E2-2D07-A52AFCA473C3}"/>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CA30376C-EA2A-D5B1-5CE5-3ADDD7896B9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190F37E5-7B4C-33CA-D044-0D2E3FCC3D61}"/>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Work Sans" pitchFamily="2" charset="77"/>
                  <a:ea typeface="+mn-ea"/>
                  <a:cs typeface="+mn-cs"/>
                </a:rPr>
                <a:t>www.emitsolar.com</a:t>
              </a:r>
            </a:p>
          </p:txBody>
        </p:sp>
      </p:grpSp>
      <p:sp>
        <p:nvSpPr>
          <p:cNvPr id="3" name="TextBox 2">
            <a:extLst>
              <a:ext uri="{FF2B5EF4-FFF2-40B4-BE49-F238E27FC236}">
                <a16:creationId xmlns:a16="http://schemas.microsoft.com/office/drawing/2014/main" id="{7F17D264-522E-5A2B-0B77-76D1141C0D57}"/>
              </a:ext>
            </a:extLst>
          </p:cNvPr>
          <p:cNvSpPr txBox="1"/>
          <p:nvPr/>
        </p:nvSpPr>
        <p:spPr>
          <a:xfrm>
            <a:off x="323837" y="405855"/>
            <a:ext cx="691200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454CD"/>
                </a:solidFill>
                <a:effectLst/>
                <a:uLnTx/>
                <a:uFillTx/>
                <a:latin typeface="Work Sans" pitchFamily="2" charset="77"/>
                <a:ea typeface="+mn-ea"/>
                <a:cs typeface="+mn-cs"/>
              </a:rPr>
              <a:t>Maximise Your Solar Savings</a:t>
            </a:r>
            <a:endParaRPr kumimoji="0" lang="en-US" sz="700" b="0" i="0" u="none" strike="noStrike" kern="1200" cap="none" spc="0" normalizeH="0" baseline="0" noProof="0" dirty="0">
              <a:ln>
                <a:noFill/>
              </a:ln>
              <a:solidFill>
                <a:prstClr val="black"/>
              </a:solidFill>
              <a:effectLst/>
              <a:uLnTx/>
              <a:uFillTx/>
              <a:latin typeface="Work Sans" pitchFamily="2" charset="77"/>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Work Sans" pitchFamily="2" charset="77"/>
                <a:ea typeface="+mn-ea"/>
                <a:cs typeface="+mn-cs"/>
              </a:rPr>
              <a:t>Use more Solar Electricity during the day to reduce grid imports and maximise savings.</a:t>
            </a:r>
          </a:p>
        </p:txBody>
      </p:sp>
      <p:sp>
        <p:nvSpPr>
          <p:cNvPr id="29" name="Rectangle 28">
            <a:extLst>
              <a:ext uri="{FF2B5EF4-FFF2-40B4-BE49-F238E27FC236}">
                <a16:creationId xmlns:a16="http://schemas.microsoft.com/office/drawing/2014/main" id="{4DDA9CE4-EE36-49EC-F713-CF64F4B46AF3}"/>
              </a:ext>
            </a:extLst>
          </p:cNvPr>
          <p:cNvSpPr/>
          <p:nvPr/>
        </p:nvSpPr>
        <p:spPr>
          <a:xfrm>
            <a:off x="332248" y="6361239"/>
            <a:ext cx="6916062" cy="1688591"/>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285D8113-D3A8-457F-60F6-CDB4EC0A6310}"/>
              </a:ext>
            </a:extLst>
          </p:cNvPr>
          <p:cNvGrpSpPr/>
          <p:nvPr/>
        </p:nvGrpSpPr>
        <p:grpSpPr>
          <a:xfrm>
            <a:off x="500536" y="1825611"/>
            <a:ext cx="6558603" cy="5305819"/>
            <a:chOff x="500535" y="1495552"/>
            <a:chExt cx="6558603" cy="5305819"/>
          </a:xfrm>
        </p:grpSpPr>
        <p:cxnSp>
          <p:nvCxnSpPr>
            <p:cNvPr id="92" name="Straight Connector 91">
              <a:extLst>
                <a:ext uri="{FF2B5EF4-FFF2-40B4-BE49-F238E27FC236}">
                  <a16:creationId xmlns:a16="http://schemas.microsoft.com/office/drawing/2014/main" id="{647AE888-9309-ECB4-750B-628D95E0DD10}"/>
                </a:ext>
              </a:extLst>
            </p:cNvPr>
            <p:cNvCxnSpPr>
              <a:cxnSpLocks/>
            </p:cNvCxnSpPr>
            <p:nvPr/>
          </p:nvCxnSpPr>
          <p:spPr>
            <a:xfrm>
              <a:off x="5758904" y="1919710"/>
              <a:ext cx="288000"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5811CA8-BA72-EBD5-0000-EC44C98A9CE8}"/>
                </a:ext>
              </a:extLst>
            </p:cNvPr>
            <p:cNvSpPr/>
            <p:nvPr/>
          </p:nvSpPr>
          <p:spPr>
            <a:xfrm>
              <a:off x="1818497" y="1495552"/>
              <a:ext cx="3955926" cy="856866"/>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latin typeface="Work Sans" pitchFamily="2" charset="77"/>
                </a:rPr>
                <a:t>             Solar Electricity Generation</a:t>
              </a:r>
            </a:p>
            <a:p>
              <a:pPr marL="755650"/>
              <a:r>
                <a:rPr kumimoji="0" lang="en-US" sz="1000" b="0" i="1"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Based on system size; influenced by factors such as roof design, tilt and orientation.</a:t>
              </a:r>
            </a:p>
          </p:txBody>
        </p:sp>
        <p:pic>
          <p:nvPicPr>
            <p:cNvPr id="24" name="Picture 23">
              <a:extLst>
                <a:ext uri="{FF2B5EF4-FFF2-40B4-BE49-F238E27FC236}">
                  <a16:creationId xmlns:a16="http://schemas.microsoft.com/office/drawing/2014/main" id="{05063638-103A-D613-EF5E-1BE108D60DA8}"/>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1957591" y="1659788"/>
              <a:ext cx="571870" cy="528394"/>
            </a:xfrm>
            <a:prstGeom prst="rect">
              <a:avLst/>
            </a:prstGeom>
          </p:spPr>
        </p:pic>
        <p:cxnSp>
          <p:nvCxnSpPr>
            <p:cNvPr id="27" name="Straight Connector 26">
              <a:extLst>
                <a:ext uri="{FF2B5EF4-FFF2-40B4-BE49-F238E27FC236}">
                  <a16:creationId xmlns:a16="http://schemas.microsoft.com/office/drawing/2014/main" id="{83AFE19A-55B1-D01D-07D1-A99D4273B240}"/>
                </a:ext>
              </a:extLst>
            </p:cNvPr>
            <p:cNvCxnSpPr>
              <a:cxnSpLocks/>
            </p:cNvCxnSpPr>
            <p:nvPr/>
          </p:nvCxnSpPr>
          <p:spPr>
            <a:xfrm flipH="1">
              <a:off x="1512771" y="1919710"/>
              <a:ext cx="288000" cy="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ED64DA2-188D-5764-8C0B-3A0DDB08C7A8}"/>
                </a:ext>
              </a:extLst>
            </p:cNvPr>
            <p:cNvCxnSpPr>
              <a:cxnSpLocks/>
            </p:cNvCxnSpPr>
            <p:nvPr/>
          </p:nvCxnSpPr>
          <p:spPr>
            <a:xfrm flipV="1">
              <a:off x="1512771" y="1919710"/>
              <a:ext cx="0" cy="57600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513B627-4271-0C6D-F7A5-E5AFEABA1BFB}"/>
                </a:ext>
              </a:extLst>
            </p:cNvPr>
            <p:cNvCxnSpPr>
              <a:cxnSpLocks/>
            </p:cNvCxnSpPr>
            <p:nvPr/>
          </p:nvCxnSpPr>
          <p:spPr>
            <a:xfrm>
              <a:off x="1512770" y="2495710"/>
              <a:ext cx="2011766" cy="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B86570B-650A-E26F-91C8-43DFC9FC5218}"/>
                </a:ext>
              </a:extLst>
            </p:cNvPr>
            <p:cNvCxnSpPr>
              <a:cxnSpLocks/>
            </p:cNvCxnSpPr>
            <p:nvPr/>
          </p:nvCxnSpPr>
          <p:spPr>
            <a:xfrm flipV="1">
              <a:off x="3524536" y="2495710"/>
              <a:ext cx="0" cy="57600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728F055-8702-012E-689F-9400CD6A64B9}"/>
                </a:ext>
              </a:extLst>
            </p:cNvPr>
            <p:cNvCxnSpPr>
              <a:cxnSpLocks/>
            </p:cNvCxnSpPr>
            <p:nvPr/>
          </p:nvCxnSpPr>
          <p:spPr>
            <a:xfrm flipV="1">
              <a:off x="824537" y="3064339"/>
              <a:ext cx="2699999" cy="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grpSp>
          <p:nvGrpSpPr>
            <p:cNvPr id="111" name="Group 110">
              <a:extLst>
                <a:ext uri="{FF2B5EF4-FFF2-40B4-BE49-F238E27FC236}">
                  <a16:creationId xmlns:a16="http://schemas.microsoft.com/office/drawing/2014/main" id="{CCD5A4B1-13C7-E98C-A0A2-8F612023AA1D}"/>
                </a:ext>
              </a:extLst>
            </p:cNvPr>
            <p:cNvGrpSpPr/>
            <p:nvPr/>
          </p:nvGrpSpPr>
          <p:grpSpPr>
            <a:xfrm>
              <a:off x="1133643" y="3433560"/>
              <a:ext cx="2390893" cy="3367811"/>
              <a:chOff x="1133632" y="3712719"/>
              <a:chExt cx="2390893" cy="3367811"/>
            </a:xfrm>
          </p:grpSpPr>
          <p:sp>
            <p:nvSpPr>
              <p:cNvPr id="58" name="Rectangle 57">
                <a:extLst>
                  <a:ext uri="{FF2B5EF4-FFF2-40B4-BE49-F238E27FC236}">
                    <a16:creationId xmlns:a16="http://schemas.microsoft.com/office/drawing/2014/main" id="{AB004ED7-B0BC-00BB-CE90-BD768B07F3D4}"/>
                  </a:ext>
                </a:extLst>
              </p:cNvPr>
              <p:cNvSpPr/>
              <p:nvPr/>
            </p:nvSpPr>
            <p:spPr>
              <a:xfrm>
                <a:off x="1133632" y="3712719"/>
                <a:ext cx="2390893" cy="3367811"/>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0" name="Group 109">
                <a:extLst>
                  <a:ext uri="{FF2B5EF4-FFF2-40B4-BE49-F238E27FC236}">
                    <a16:creationId xmlns:a16="http://schemas.microsoft.com/office/drawing/2014/main" id="{F2A93ED9-53AC-2B3E-83B9-6E7C27BEFD5A}"/>
                  </a:ext>
                </a:extLst>
              </p:cNvPr>
              <p:cNvGrpSpPr/>
              <p:nvPr/>
            </p:nvGrpSpPr>
            <p:grpSpPr>
              <a:xfrm>
                <a:off x="1195078" y="3924952"/>
                <a:ext cx="2268000" cy="2974122"/>
                <a:chOff x="1195078" y="3908517"/>
                <a:chExt cx="2268000" cy="2974122"/>
              </a:xfrm>
            </p:grpSpPr>
            <p:sp>
              <p:nvSpPr>
                <p:cNvPr id="61" name="TextBox 60">
                  <a:extLst>
                    <a:ext uri="{FF2B5EF4-FFF2-40B4-BE49-F238E27FC236}">
                      <a16:creationId xmlns:a16="http://schemas.microsoft.com/office/drawing/2014/main" id="{07F84C97-A724-FFF3-9030-272705526528}"/>
                    </a:ext>
                  </a:extLst>
                </p:cNvPr>
                <p:cNvSpPr txBox="1"/>
                <p:nvPr/>
              </p:nvSpPr>
              <p:spPr>
                <a:xfrm>
                  <a:off x="1195078" y="3908517"/>
                  <a:ext cx="2268000" cy="307777"/>
                </a:xfrm>
                <a:prstGeom prst="rect">
                  <a:avLst/>
                </a:prstGeom>
                <a:noFill/>
              </p:spPr>
              <p:txBody>
                <a:bodyPr wrap="square" rtlCol="0">
                  <a:spAutoFit/>
                </a:bodyPr>
                <a:lstStyle/>
                <a:p>
                  <a:r>
                    <a:rPr lang="en-US" sz="1400" b="1" dirty="0">
                      <a:solidFill>
                        <a:srgbClr val="F454CD"/>
                      </a:solidFill>
                      <a:latin typeface="Work Sans" pitchFamily="2" charset="77"/>
                    </a:rPr>
                    <a:t>1. Daytime Use</a:t>
                  </a:r>
                </a:p>
              </p:txBody>
            </p:sp>
            <p:sp>
              <p:nvSpPr>
                <p:cNvPr id="62" name="TextBox 61">
                  <a:extLst>
                    <a:ext uri="{FF2B5EF4-FFF2-40B4-BE49-F238E27FC236}">
                      <a16:creationId xmlns:a16="http://schemas.microsoft.com/office/drawing/2014/main" id="{A10D46C4-921B-54AD-97A4-AB64F422C313}"/>
                    </a:ext>
                  </a:extLst>
                </p:cNvPr>
                <p:cNvSpPr txBox="1"/>
                <p:nvPr/>
              </p:nvSpPr>
              <p:spPr>
                <a:xfrm>
                  <a:off x="1213078" y="4319040"/>
                  <a:ext cx="2232000" cy="1404000"/>
                </a:xfrm>
                <a:prstGeom prst="rect">
                  <a:avLst/>
                </a:prstGeom>
                <a:noFill/>
              </p:spPr>
              <p:txBody>
                <a:bodyPr wrap="square">
                  <a:spAutoFit/>
                </a:bodyPr>
                <a:lstStyle/>
                <a:p>
                  <a:pPr marL="171450" indent="-171450">
                    <a:buClr>
                      <a:srgbClr val="F454CD"/>
                    </a:buClr>
                    <a:buFont typeface="Arial" panose="020B0604020202020204" pitchFamily="34" charset="0"/>
                    <a:buChar char="•"/>
                    <a:defRPr sz="1100"/>
                  </a:pPr>
                  <a:r>
                    <a:rPr lang="en-US" sz="1200" dirty="0">
                      <a:solidFill>
                        <a:schemeClr val="tx1"/>
                      </a:solidFill>
                      <a:latin typeface="Work Sans" pitchFamily="2" charset="77"/>
                    </a:rPr>
                    <a:t>Solar Electricity powers your home as it’s generated</a:t>
                  </a:r>
                </a:p>
                <a:p>
                  <a:pPr marL="171450" indent="-171450">
                    <a:buClr>
                      <a:srgbClr val="F454CD"/>
                    </a:buClr>
                    <a:buFont typeface="Arial" panose="020B0604020202020204" pitchFamily="34" charset="0"/>
                    <a:buChar char="•"/>
                    <a:defRPr sz="1100"/>
                  </a:pPr>
                  <a:r>
                    <a:rPr lang="en-US" sz="1200" dirty="0">
                      <a:solidFill>
                        <a:schemeClr val="tx1"/>
                      </a:solidFill>
                      <a:latin typeface="Work Sans" pitchFamily="2" charset="77"/>
                    </a:rPr>
                    <a:t>Avoids importing electricity from TNB</a:t>
                  </a:r>
                </a:p>
                <a:p>
                  <a:pPr marL="171450" indent="-171450">
                    <a:buClr>
                      <a:srgbClr val="F454CD"/>
                    </a:buClr>
                    <a:buFont typeface="Arial" panose="020B0604020202020204" pitchFamily="34" charset="0"/>
                    <a:buChar char="•"/>
                    <a:defRPr sz="1100"/>
                  </a:pPr>
                  <a:r>
                    <a:rPr lang="en-US" sz="1200" dirty="0">
                      <a:solidFill>
                        <a:schemeClr val="tx1"/>
                      </a:solidFill>
                      <a:latin typeface="Work Sans" pitchFamily="2" charset="77"/>
                    </a:rPr>
                    <a:t>Delivers the highest savings</a:t>
                  </a:r>
                </a:p>
              </p:txBody>
            </p:sp>
            <p:sp>
              <p:nvSpPr>
                <p:cNvPr id="63" name="TextBox 62">
                  <a:extLst>
                    <a:ext uri="{FF2B5EF4-FFF2-40B4-BE49-F238E27FC236}">
                      <a16:creationId xmlns:a16="http://schemas.microsoft.com/office/drawing/2014/main" id="{87C0C16C-3953-514C-04A5-C1C8C5787E13}"/>
                    </a:ext>
                  </a:extLst>
                </p:cNvPr>
                <p:cNvSpPr txBox="1"/>
                <p:nvPr/>
              </p:nvSpPr>
              <p:spPr>
                <a:xfrm>
                  <a:off x="1213078" y="5928532"/>
                  <a:ext cx="2232000" cy="954107"/>
                </a:xfrm>
                <a:prstGeom prst="rect">
                  <a:avLst/>
                </a:prstGeom>
                <a:noFill/>
              </p:spPr>
              <p:txBody>
                <a:bodyPr wrap="square">
                  <a:spAutoFit/>
                </a:bodyPr>
                <a:lstStyle/>
                <a:p>
                  <a:pPr>
                    <a:defRPr sz="1100"/>
                  </a:pPr>
                  <a:r>
                    <a:rPr lang="en-US" sz="1200" dirty="0">
                      <a:solidFill>
                        <a:schemeClr val="tx1"/>
                      </a:solidFill>
                      <a:latin typeface="Work Sans" pitchFamily="2" charset="77"/>
                    </a:rPr>
                    <a:t>Savings</a:t>
                  </a:r>
                  <a:endParaRPr lang="en-US" sz="1200" dirty="0">
                    <a:latin typeface="Work Sans" pitchFamily="2" charset="77"/>
                  </a:endParaRPr>
                </a:p>
                <a:p>
                  <a:pPr>
                    <a:defRPr sz="1100"/>
                  </a:pPr>
                  <a:r>
                    <a:rPr lang="en-US" sz="1400" b="1" dirty="0">
                      <a:solidFill>
                        <a:srgbClr val="F454CD"/>
                      </a:solidFill>
                      <a:latin typeface="Work Sans" pitchFamily="2" charset="77"/>
                    </a:rPr>
                    <a:t>RM0.49–RM0.60</a:t>
                  </a:r>
                  <a:r>
                    <a:rPr lang="en-US" sz="1000" dirty="0">
                      <a:latin typeface="Work Sans" pitchFamily="2" charset="77"/>
                    </a:rPr>
                    <a:t>/</a:t>
                  </a:r>
                  <a:r>
                    <a:rPr lang="en-US" sz="1000" dirty="0">
                      <a:solidFill>
                        <a:schemeClr val="tx1"/>
                      </a:solidFill>
                      <a:latin typeface="Work Sans" pitchFamily="2" charset="77"/>
                    </a:rPr>
                    <a:t>kWh</a:t>
                  </a:r>
                </a:p>
                <a:p>
                  <a:pPr>
                    <a:defRPr sz="1100"/>
                  </a:pPr>
                  <a:endParaRPr lang="en-US" sz="1000" i="1" dirty="0">
                    <a:solidFill>
                      <a:schemeClr val="tx1">
                        <a:lumMod val="65000"/>
                        <a:lumOff val="35000"/>
                      </a:schemeClr>
                    </a:solidFill>
                    <a:latin typeface="Work Sans" pitchFamily="2" charset="77"/>
                  </a:endParaRPr>
                </a:p>
                <a:p>
                  <a:pPr>
                    <a:defRPr sz="1100"/>
                  </a:pPr>
                  <a:r>
                    <a:rPr lang="en-US" sz="1000" i="1" dirty="0">
                      <a:solidFill>
                        <a:schemeClr val="tx1">
                          <a:lumMod val="65000"/>
                          <a:lumOff val="35000"/>
                        </a:schemeClr>
                      </a:solidFill>
                      <a:latin typeface="Work Sans" pitchFamily="2" charset="77"/>
                    </a:rPr>
                    <a:t>Offsets Energy, Capacity, Network, SST &amp; KWTBB charges</a:t>
                  </a:r>
                </a:p>
              </p:txBody>
            </p:sp>
            <p:cxnSp>
              <p:nvCxnSpPr>
                <p:cNvPr id="64" name="Straight Connector 63">
                  <a:extLst>
                    <a:ext uri="{FF2B5EF4-FFF2-40B4-BE49-F238E27FC236}">
                      <a16:creationId xmlns:a16="http://schemas.microsoft.com/office/drawing/2014/main" id="{C68033B4-912F-EC99-6E98-BFE40F68C296}"/>
                    </a:ext>
                  </a:extLst>
                </p:cNvPr>
                <p:cNvCxnSpPr>
                  <a:cxnSpLocks/>
                </p:cNvCxnSpPr>
                <p:nvPr/>
              </p:nvCxnSpPr>
              <p:spPr>
                <a:xfrm>
                  <a:off x="1213078" y="5825786"/>
                  <a:ext cx="2232000" cy="0"/>
                </a:xfrm>
                <a:prstGeom prst="line">
                  <a:avLst/>
                </a:prstGeom>
                <a:ln w="6350">
                  <a:solidFill>
                    <a:srgbClr val="F454CD"/>
                  </a:solidFill>
                </a:ln>
              </p:spPr>
              <p:style>
                <a:lnRef idx="1">
                  <a:schemeClr val="accent1"/>
                </a:lnRef>
                <a:fillRef idx="0">
                  <a:schemeClr val="accent1"/>
                </a:fillRef>
                <a:effectRef idx="0">
                  <a:schemeClr val="accent1"/>
                </a:effectRef>
                <a:fontRef idx="minor">
                  <a:schemeClr val="tx1"/>
                </a:fontRef>
              </p:style>
            </p:cxnSp>
          </p:grpSp>
        </p:grpSp>
        <p:cxnSp>
          <p:nvCxnSpPr>
            <p:cNvPr id="93" name="Straight Connector 92">
              <a:extLst>
                <a:ext uri="{FF2B5EF4-FFF2-40B4-BE49-F238E27FC236}">
                  <a16:creationId xmlns:a16="http://schemas.microsoft.com/office/drawing/2014/main" id="{EF0D060D-669B-94CC-4DA6-B3F9B7FEC494}"/>
                </a:ext>
              </a:extLst>
            </p:cNvPr>
            <p:cNvCxnSpPr>
              <a:cxnSpLocks/>
            </p:cNvCxnSpPr>
            <p:nvPr/>
          </p:nvCxnSpPr>
          <p:spPr>
            <a:xfrm flipH="1" flipV="1">
              <a:off x="6046904" y="1919710"/>
              <a:ext cx="0" cy="57600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E168A91-7A73-D9D3-0440-F95FBF1D58E7}"/>
                </a:ext>
              </a:extLst>
            </p:cNvPr>
            <p:cNvCxnSpPr>
              <a:cxnSpLocks/>
            </p:cNvCxnSpPr>
            <p:nvPr/>
          </p:nvCxnSpPr>
          <p:spPr>
            <a:xfrm flipH="1">
              <a:off x="4035139" y="2495710"/>
              <a:ext cx="2011766"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D358231-ABFE-D4ED-6052-DB1B7FBBEB89}"/>
                </a:ext>
              </a:extLst>
            </p:cNvPr>
            <p:cNvCxnSpPr>
              <a:cxnSpLocks/>
            </p:cNvCxnSpPr>
            <p:nvPr/>
          </p:nvCxnSpPr>
          <p:spPr>
            <a:xfrm flipH="1" flipV="1">
              <a:off x="4035139" y="2495710"/>
              <a:ext cx="0" cy="57600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FF49E12-6C31-6240-8151-FE931F90FF88}"/>
                </a:ext>
              </a:extLst>
            </p:cNvPr>
            <p:cNvCxnSpPr>
              <a:cxnSpLocks/>
            </p:cNvCxnSpPr>
            <p:nvPr/>
          </p:nvCxnSpPr>
          <p:spPr>
            <a:xfrm flipH="1" flipV="1">
              <a:off x="4035139" y="3064339"/>
              <a:ext cx="2699999" cy="11073"/>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614D22F0-BBA4-647C-CDF4-107347462AF4}"/>
                </a:ext>
              </a:extLst>
            </p:cNvPr>
            <p:cNvSpPr>
              <a:spLocks noChangeAspect="1"/>
            </p:cNvSpPr>
            <p:nvPr/>
          </p:nvSpPr>
          <p:spPr>
            <a:xfrm>
              <a:off x="500535" y="2736712"/>
              <a:ext cx="648000" cy="648000"/>
            </a:xfrm>
            <a:prstGeom prst="ellipse">
              <a:avLst/>
            </a:prstGeom>
            <a:solidFill>
              <a:schemeClr val="bg1"/>
            </a:solid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F3F71F6E-A1E4-5460-D8A7-5040B0851CE9}"/>
                </a:ext>
              </a:extLst>
            </p:cNvPr>
            <p:cNvSpPr>
              <a:spLocks noChangeAspect="1"/>
            </p:cNvSpPr>
            <p:nvPr/>
          </p:nvSpPr>
          <p:spPr>
            <a:xfrm>
              <a:off x="6411138" y="2753926"/>
              <a:ext cx="648000" cy="648000"/>
            </a:xfrm>
            <a:prstGeom prst="ellipse">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9" name="Picture 98">
              <a:extLst>
                <a:ext uri="{FF2B5EF4-FFF2-40B4-BE49-F238E27FC236}">
                  <a16:creationId xmlns:a16="http://schemas.microsoft.com/office/drawing/2014/main" id="{E1F4ED81-0D36-2417-A3C6-71DBAA900E2B}"/>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601526" y="2897926"/>
              <a:ext cx="446017" cy="360000"/>
            </a:xfrm>
            <a:prstGeom prst="rect">
              <a:avLst/>
            </a:prstGeom>
          </p:spPr>
        </p:pic>
        <p:pic>
          <p:nvPicPr>
            <p:cNvPr id="100" name="Picture 99">
              <a:extLst>
                <a:ext uri="{FF2B5EF4-FFF2-40B4-BE49-F238E27FC236}">
                  <a16:creationId xmlns:a16="http://schemas.microsoft.com/office/drawing/2014/main" id="{8EF882AC-389C-58D8-4CAE-67EDBFEE4BB3}"/>
                </a:ext>
              </a:extLst>
            </p:cNvPr>
            <p:cNvPicPr>
              <a:picLocks noChangeAspect="1"/>
            </p:cNvPicPr>
            <p:nvPr/>
          </p:nvPicPr>
          <p:blipFill>
            <a:blip r:embed="rId6"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a:xfrm>
              <a:off x="6606794" y="2874526"/>
              <a:ext cx="256689" cy="406800"/>
            </a:xfrm>
            <a:prstGeom prst="rect">
              <a:avLst/>
            </a:prstGeom>
          </p:spPr>
        </p:pic>
        <p:sp>
          <p:nvSpPr>
            <p:cNvPr id="107" name="Oval 106">
              <a:extLst>
                <a:ext uri="{FF2B5EF4-FFF2-40B4-BE49-F238E27FC236}">
                  <a16:creationId xmlns:a16="http://schemas.microsoft.com/office/drawing/2014/main" id="{56EC3A4B-533F-14A1-0E08-2D0560552F2F}"/>
                </a:ext>
              </a:extLst>
            </p:cNvPr>
            <p:cNvSpPr>
              <a:spLocks noChangeAspect="1"/>
            </p:cNvSpPr>
            <p:nvPr/>
          </p:nvSpPr>
          <p:spPr>
            <a:xfrm>
              <a:off x="1713351" y="1869985"/>
              <a:ext cx="108000" cy="10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 dirty="0"/>
            </a:p>
          </p:txBody>
        </p:sp>
        <p:sp>
          <p:nvSpPr>
            <p:cNvPr id="108" name="Oval 107">
              <a:extLst>
                <a:ext uri="{FF2B5EF4-FFF2-40B4-BE49-F238E27FC236}">
                  <a16:creationId xmlns:a16="http://schemas.microsoft.com/office/drawing/2014/main" id="{4D69B25C-04C5-EE05-1AE2-D1DD7B29B645}"/>
                </a:ext>
              </a:extLst>
            </p:cNvPr>
            <p:cNvSpPr>
              <a:spLocks noChangeAspect="1"/>
            </p:cNvSpPr>
            <p:nvPr/>
          </p:nvSpPr>
          <p:spPr>
            <a:xfrm>
              <a:off x="5777410" y="1861079"/>
              <a:ext cx="108000" cy="10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 dirty="0"/>
            </a:p>
          </p:txBody>
        </p:sp>
        <p:grpSp>
          <p:nvGrpSpPr>
            <p:cNvPr id="112" name="Group 111">
              <a:extLst>
                <a:ext uri="{FF2B5EF4-FFF2-40B4-BE49-F238E27FC236}">
                  <a16:creationId xmlns:a16="http://schemas.microsoft.com/office/drawing/2014/main" id="{65564BCF-515D-9747-8E87-05400F9F48DB}"/>
                </a:ext>
              </a:extLst>
            </p:cNvPr>
            <p:cNvGrpSpPr/>
            <p:nvPr/>
          </p:nvGrpSpPr>
          <p:grpSpPr>
            <a:xfrm>
              <a:off x="4035139" y="3433559"/>
              <a:ext cx="2390893" cy="3367811"/>
              <a:chOff x="1133632" y="3712719"/>
              <a:chExt cx="2390893" cy="3367811"/>
            </a:xfrm>
          </p:grpSpPr>
          <p:sp>
            <p:nvSpPr>
              <p:cNvPr id="113" name="Rectangle 112">
                <a:extLst>
                  <a:ext uri="{FF2B5EF4-FFF2-40B4-BE49-F238E27FC236}">
                    <a16:creationId xmlns:a16="http://schemas.microsoft.com/office/drawing/2014/main" id="{63E0F836-169D-B6B6-16C9-C50DB84F633B}"/>
                  </a:ext>
                </a:extLst>
              </p:cNvPr>
              <p:cNvSpPr/>
              <p:nvPr/>
            </p:nvSpPr>
            <p:spPr>
              <a:xfrm>
                <a:off x="1133632" y="3712719"/>
                <a:ext cx="2390893" cy="3367811"/>
              </a:xfrm>
              <a:prstGeom prst="rect">
                <a:avLst/>
              </a:prstGeom>
              <a:solidFill>
                <a:srgbClr val="F9F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4" name="Group 113">
                <a:extLst>
                  <a:ext uri="{FF2B5EF4-FFF2-40B4-BE49-F238E27FC236}">
                    <a16:creationId xmlns:a16="http://schemas.microsoft.com/office/drawing/2014/main" id="{6A595DAB-78E2-604C-AF1F-C13C34AED624}"/>
                  </a:ext>
                </a:extLst>
              </p:cNvPr>
              <p:cNvGrpSpPr/>
              <p:nvPr/>
            </p:nvGrpSpPr>
            <p:grpSpPr>
              <a:xfrm>
                <a:off x="1195078" y="3924952"/>
                <a:ext cx="2268000" cy="2820234"/>
                <a:chOff x="1195078" y="3908517"/>
                <a:chExt cx="2268000" cy="2820234"/>
              </a:xfrm>
            </p:grpSpPr>
            <p:sp>
              <p:nvSpPr>
                <p:cNvPr id="115" name="TextBox 114">
                  <a:extLst>
                    <a:ext uri="{FF2B5EF4-FFF2-40B4-BE49-F238E27FC236}">
                      <a16:creationId xmlns:a16="http://schemas.microsoft.com/office/drawing/2014/main" id="{A238DCB9-E7FE-6C36-95DD-9C98BC4B3CA8}"/>
                    </a:ext>
                  </a:extLst>
                </p:cNvPr>
                <p:cNvSpPr txBox="1"/>
                <p:nvPr/>
              </p:nvSpPr>
              <p:spPr>
                <a:xfrm>
                  <a:off x="1195078" y="3908517"/>
                  <a:ext cx="2268000" cy="307777"/>
                </a:xfrm>
                <a:prstGeom prst="rect">
                  <a:avLst/>
                </a:prstGeom>
                <a:noFill/>
              </p:spPr>
              <p:txBody>
                <a:bodyPr wrap="square" rtlCol="0">
                  <a:spAutoFit/>
                </a:bodyPr>
                <a:lstStyle/>
                <a:p>
                  <a:r>
                    <a:rPr lang="en-US" sz="1400" b="1" dirty="0">
                      <a:latin typeface="Work Sans" pitchFamily="2" charset="77"/>
                    </a:rPr>
                    <a:t>2. Export to Grid</a:t>
                  </a:r>
                </a:p>
              </p:txBody>
            </p:sp>
            <p:sp>
              <p:nvSpPr>
                <p:cNvPr id="116" name="TextBox 115">
                  <a:extLst>
                    <a:ext uri="{FF2B5EF4-FFF2-40B4-BE49-F238E27FC236}">
                      <a16:creationId xmlns:a16="http://schemas.microsoft.com/office/drawing/2014/main" id="{758886AB-95ED-5C03-6961-B49417581D76}"/>
                    </a:ext>
                  </a:extLst>
                </p:cNvPr>
                <p:cNvSpPr txBox="1"/>
                <p:nvPr/>
              </p:nvSpPr>
              <p:spPr>
                <a:xfrm>
                  <a:off x="1213078" y="4319040"/>
                  <a:ext cx="2232000" cy="830997"/>
                </a:xfrm>
                <a:prstGeom prst="rect">
                  <a:avLst/>
                </a:prstGeom>
                <a:noFill/>
              </p:spPr>
              <p:txBody>
                <a:bodyPr wrap="square">
                  <a:spAutoFit/>
                </a:bodyPr>
                <a:lstStyle/>
                <a:p>
                  <a:pPr marL="171450" indent="-171450">
                    <a:buClr>
                      <a:srgbClr val="F454CD"/>
                    </a:buClr>
                    <a:buFont typeface="Arial" panose="020B0604020202020204" pitchFamily="34" charset="0"/>
                    <a:buChar char="•"/>
                    <a:defRPr sz="1100"/>
                  </a:pPr>
                  <a:r>
                    <a:rPr lang="en-US" sz="1200" dirty="0">
                      <a:latin typeface="Work Sans" pitchFamily="2" charset="77"/>
                    </a:rPr>
                    <a:t>Unused Solar Electricity is sent to the grid</a:t>
                  </a:r>
                </a:p>
                <a:p>
                  <a:pPr marL="171450" indent="-171450">
                    <a:buClr>
                      <a:srgbClr val="F454CD"/>
                    </a:buClr>
                    <a:buFont typeface="Arial" panose="020B0604020202020204" pitchFamily="34" charset="0"/>
                    <a:buChar char="•"/>
                    <a:defRPr sz="1100"/>
                  </a:pPr>
                  <a:r>
                    <a:rPr lang="en-US" sz="1200" dirty="0">
                      <a:latin typeface="Work Sans" pitchFamily="2" charset="77"/>
                    </a:rPr>
                    <a:t>Offsets the Energy charge on your TNB bill</a:t>
                  </a:r>
                </a:p>
              </p:txBody>
            </p:sp>
            <p:sp>
              <p:nvSpPr>
                <p:cNvPr id="117" name="TextBox 116">
                  <a:extLst>
                    <a:ext uri="{FF2B5EF4-FFF2-40B4-BE49-F238E27FC236}">
                      <a16:creationId xmlns:a16="http://schemas.microsoft.com/office/drawing/2014/main" id="{0EAD9F0B-5773-6C43-8828-7059C66E0058}"/>
                    </a:ext>
                  </a:extLst>
                </p:cNvPr>
                <p:cNvSpPr txBox="1"/>
                <p:nvPr/>
              </p:nvSpPr>
              <p:spPr>
                <a:xfrm>
                  <a:off x="1213078" y="5928532"/>
                  <a:ext cx="2232000" cy="800219"/>
                </a:xfrm>
                <a:prstGeom prst="rect">
                  <a:avLst/>
                </a:prstGeom>
                <a:noFill/>
              </p:spPr>
              <p:txBody>
                <a:bodyPr wrap="square">
                  <a:spAutoFit/>
                </a:bodyPr>
                <a:lstStyle/>
                <a:p>
                  <a:pPr>
                    <a:defRPr sz="1100"/>
                  </a:pPr>
                  <a:r>
                    <a:rPr lang="en-US" sz="1200" dirty="0">
                      <a:latin typeface="Work Sans" pitchFamily="2" charset="77"/>
                    </a:rPr>
                    <a:t>Savings</a:t>
                  </a:r>
                </a:p>
                <a:p>
                  <a:pPr>
                    <a:defRPr sz="1100"/>
                  </a:pPr>
                  <a:r>
                    <a:rPr lang="en-US" sz="1400" b="1" dirty="0">
                      <a:latin typeface="Work Sans" pitchFamily="2" charset="77"/>
                    </a:rPr>
                    <a:t>RM0.27–RM0.37</a:t>
                  </a:r>
                  <a:r>
                    <a:rPr lang="en-US" sz="1000" dirty="0">
                      <a:latin typeface="Work Sans" pitchFamily="2" charset="77"/>
                    </a:rPr>
                    <a:t>/kWh</a:t>
                  </a:r>
                </a:p>
                <a:p>
                  <a:pPr>
                    <a:defRPr sz="1100"/>
                  </a:pPr>
                  <a:endParaRPr lang="en-US" sz="1000" i="1" dirty="0">
                    <a:solidFill>
                      <a:schemeClr val="tx1">
                        <a:lumMod val="65000"/>
                        <a:lumOff val="35000"/>
                      </a:schemeClr>
                    </a:solidFill>
                    <a:latin typeface="Work Sans" pitchFamily="2" charset="77"/>
                  </a:endParaRPr>
                </a:p>
                <a:p>
                  <a:pPr>
                    <a:defRPr sz="1100"/>
                  </a:pPr>
                  <a:r>
                    <a:rPr lang="en-US" sz="1000" i="1" dirty="0">
                      <a:solidFill>
                        <a:schemeClr val="tx1">
                          <a:lumMod val="65000"/>
                          <a:lumOff val="35000"/>
                        </a:schemeClr>
                      </a:solidFill>
                      <a:latin typeface="Work Sans" pitchFamily="2" charset="77"/>
                    </a:rPr>
                    <a:t>Offsets Energy charge only</a:t>
                  </a:r>
                </a:p>
              </p:txBody>
            </p:sp>
            <p:cxnSp>
              <p:nvCxnSpPr>
                <p:cNvPr id="118" name="Straight Connector 117">
                  <a:extLst>
                    <a:ext uri="{FF2B5EF4-FFF2-40B4-BE49-F238E27FC236}">
                      <a16:creationId xmlns:a16="http://schemas.microsoft.com/office/drawing/2014/main" id="{56389A6E-5A02-E7CD-105F-50B1B19EAC33}"/>
                    </a:ext>
                  </a:extLst>
                </p:cNvPr>
                <p:cNvCxnSpPr>
                  <a:cxnSpLocks/>
                </p:cNvCxnSpPr>
                <p:nvPr/>
              </p:nvCxnSpPr>
              <p:spPr>
                <a:xfrm>
                  <a:off x="1213078" y="5825786"/>
                  <a:ext cx="2232000" cy="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grpSp>
      <p:grpSp>
        <p:nvGrpSpPr>
          <p:cNvPr id="2" name="Group 1">
            <a:extLst>
              <a:ext uri="{FF2B5EF4-FFF2-40B4-BE49-F238E27FC236}">
                <a16:creationId xmlns:a16="http://schemas.microsoft.com/office/drawing/2014/main" id="{B83017CE-CEDE-8C4E-FA55-0E00B29955B9}"/>
              </a:ext>
            </a:extLst>
          </p:cNvPr>
          <p:cNvGrpSpPr/>
          <p:nvPr/>
        </p:nvGrpSpPr>
        <p:grpSpPr>
          <a:xfrm>
            <a:off x="332248" y="7781745"/>
            <a:ext cx="6895178" cy="1581729"/>
            <a:chOff x="332248" y="6123963"/>
            <a:chExt cx="6895178" cy="1581729"/>
          </a:xfrm>
        </p:grpSpPr>
        <p:grpSp>
          <p:nvGrpSpPr>
            <p:cNvPr id="4" name="Group 3">
              <a:extLst>
                <a:ext uri="{FF2B5EF4-FFF2-40B4-BE49-F238E27FC236}">
                  <a16:creationId xmlns:a16="http://schemas.microsoft.com/office/drawing/2014/main" id="{26D9F817-D928-DA9F-83B8-D6AF278E5669}"/>
                </a:ext>
              </a:extLst>
            </p:cNvPr>
            <p:cNvGrpSpPr/>
            <p:nvPr/>
          </p:nvGrpSpPr>
          <p:grpSpPr>
            <a:xfrm>
              <a:off x="332248" y="6625692"/>
              <a:ext cx="6895178" cy="1080000"/>
              <a:chOff x="332248" y="6751868"/>
              <a:chExt cx="6895178" cy="1080000"/>
            </a:xfrm>
          </p:grpSpPr>
          <p:sp>
            <p:nvSpPr>
              <p:cNvPr id="7" name="Rectangle 6">
                <a:extLst>
                  <a:ext uri="{FF2B5EF4-FFF2-40B4-BE49-F238E27FC236}">
                    <a16:creationId xmlns:a16="http://schemas.microsoft.com/office/drawing/2014/main" id="{E02704C2-B4A2-052B-F6D6-F0F7BAE4C1DF}"/>
                  </a:ext>
                </a:extLst>
              </p:cNvPr>
              <p:cNvSpPr/>
              <p:nvPr/>
            </p:nvSpPr>
            <p:spPr>
              <a:xfrm>
                <a:off x="3878209" y="6751868"/>
                <a:ext cx="3349217"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100" b="1" dirty="0">
                    <a:solidFill>
                      <a:schemeClr val="tx1"/>
                    </a:solidFill>
                    <a:latin typeface="Work Sans SemiBold" pitchFamily="2" charset="77"/>
                  </a:rPr>
                  <a:t>Consider TNB’s </a:t>
                </a:r>
                <a:r>
                  <a:rPr lang="en-US" sz="1100" b="1" dirty="0" err="1">
                    <a:solidFill>
                      <a:schemeClr val="tx1"/>
                    </a:solidFill>
                    <a:latin typeface="Work Sans SemiBold" pitchFamily="2" charset="77"/>
                  </a:rPr>
                  <a:t>ToU</a:t>
                </a:r>
                <a:r>
                  <a:rPr lang="en-US" sz="1100" b="1" dirty="0">
                    <a:solidFill>
                      <a:schemeClr val="tx1"/>
                    </a:solidFill>
                    <a:latin typeface="Work Sans SemiBold" pitchFamily="2" charset="77"/>
                  </a:rPr>
                  <a:t> Tariff</a:t>
                </a:r>
              </a:p>
              <a:p>
                <a:pPr>
                  <a:buClr>
                    <a:srgbClr val="F454CD"/>
                  </a:buClr>
                </a:pPr>
                <a:endParaRPr lang="en-US" sz="500"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000" dirty="0">
                    <a:solidFill>
                      <a:schemeClr val="tx1"/>
                    </a:solidFill>
                    <a:latin typeface="Work Sans" pitchFamily="2" charset="77"/>
                  </a:rPr>
                  <a:t>May improve savings for homes with flexible usage patterns</a:t>
                </a:r>
              </a:p>
              <a:p>
                <a:pPr marL="171450" indent="-171450">
                  <a:buClr>
                    <a:srgbClr val="F454CD"/>
                  </a:buClr>
                  <a:buFont typeface="Arial" panose="020B0604020202020204" pitchFamily="34" charset="0"/>
                  <a:buChar char="•"/>
                </a:pPr>
                <a:r>
                  <a:rPr lang="en-US" sz="1000" dirty="0">
                    <a:solidFill>
                      <a:schemeClr val="tx1"/>
                    </a:solidFill>
                    <a:latin typeface="Work Sans" pitchFamily="2" charset="77"/>
                  </a:rPr>
                  <a:t>Exported Solar Electricity may offset higher-priced peak charges first</a:t>
                </a:r>
              </a:p>
            </p:txBody>
          </p:sp>
          <p:sp>
            <p:nvSpPr>
              <p:cNvPr id="8" name="Rectangle 7">
                <a:extLst>
                  <a:ext uri="{FF2B5EF4-FFF2-40B4-BE49-F238E27FC236}">
                    <a16:creationId xmlns:a16="http://schemas.microsoft.com/office/drawing/2014/main" id="{2FFBD751-43F5-CCC8-B48C-665DEE4C8273}"/>
                  </a:ext>
                </a:extLst>
              </p:cNvPr>
              <p:cNvSpPr/>
              <p:nvPr/>
            </p:nvSpPr>
            <p:spPr>
              <a:xfrm>
                <a:off x="332248" y="6751868"/>
                <a:ext cx="3370100"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100" b="1" dirty="0">
                    <a:solidFill>
                      <a:schemeClr val="tx1"/>
                    </a:solidFill>
                    <a:latin typeface="Work Sans SemiBold" pitchFamily="2" charset="77"/>
                  </a:rPr>
                  <a:t>Use More Solar During The Day</a:t>
                </a:r>
              </a:p>
              <a:p>
                <a:pPr marL="285750" indent="-285750">
                  <a:buClr>
                    <a:srgbClr val="F454CD"/>
                  </a:buClr>
                  <a:buFont typeface="Arial" panose="020B0604020202020204" pitchFamily="34" charset="0"/>
                  <a:buChar char="•"/>
                </a:pPr>
                <a:endParaRPr lang="en-US" sz="500" dirty="0">
                  <a:solidFill>
                    <a:schemeClr val="tx1"/>
                  </a:solidFill>
                  <a:latin typeface="Work Sans" pitchFamily="2" charset="77"/>
                </a:endParaRPr>
              </a:p>
              <a:p>
                <a:pPr marL="285750" indent="-285750">
                  <a:buClr>
                    <a:srgbClr val="F454CD"/>
                  </a:buClr>
                  <a:buFont typeface="Arial" panose="020B0604020202020204" pitchFamily="34" charset="0"/>
                  <a:buChar char="•"/>
                </a:pPr>
                <a:r>
                  <a:rPr lang="en-US" sz="1000" dirty="0">
                    <a:solidFill>
                      <a:schemeClr val="tx1"/>
                    </a:solidFill>
                    <a:latin typeface="Work Sans" pitchFamily="2" charset="77"/>
                  </a:rPr>
                  <a:t>Run appliances (e.g. washing machine) during solar generation hours (8am-6pm)</a:t>
                </a:r>
              </a:p>
              <a:p>
                <a:pPr marL="285750" indent="-285750">
                  <a:buClr>
                    <a:srgbClr val="F454CD"/>
                  </a:buClr>
                  <a:buFont typeface="Arial" panose="020B0604020202020204" pitchFamily="34" charset="0"/>
                  <a:buChar char="•"/>
                </a:pPr>
                <a:r>
                  <a:rPr lang="en-US" sz="1000" dirty="0">
                    <a:solidFill>
                      <a:schemeClr val="tx1"/>
                    </a:solidFill>
                    <a:latin typeface="Work Sans" pitchFamily="2" charset="77"/>
                  </a:rPr>
                  <a:t>Charge your EV when the sun is shining</a:t>
                </a:r>
              </a:p>
              <a:p>
                <a:pPr marL="285750" indent="-285750">
                  <a:buClr>
                    <a:srgbClr val="F454CD"/>
                  </a:buClr>
                  <a:buFont typeface="Arial" panose="020B0604020202020204" pitchFamily="34" charset="0"/>
                  <a:buChar char="•"/>
                </a:pPr>
                <a:r>
                  <a:rPr lang="en-US" sz="1000" dirty="0">
                    <a:solidFill>
                      <a:schemeClr val="tx1"/>
                    </a:solidFill>
                    <a:latin typeface="Work Sans" pitchFamily="2" charset="77"/>
                  </a:rPr>
                  <a:t>Schedule high-usage activities for daytime</a:t>
                </a:r>
              </a:p>
            </p:txBody>
          </p:sp>
        </p:grpSp>
        <p:sp>
          <p:nvSpPr>
            <p:cNvPr id="5" name="Google Shape;129;p2">
              <a:extLst>
                <a:ext uri="{FF2B5EF4-FFF2-40B4-BE49-F238E27FC236}">
                  <a16:creationId xmlns:a16="http://schemas.microsoft.com/office/drawing/2014/main" id="{DBE0CDA6-AD67-5A31-0A1D-83DC97F958AF}"/>
                </a:ext>
              </a:extLst>
            </p:cNvPr>
            <p:cNvSpPr txBox="1"/>
            <p:nvPr/>
          </p:nvSpPr>
          <p:spPr>
            <a:xfrm>
              <a:off x="413961" y="6123963"/>
              <a:ext cx="4258046" cy="240066"/>
            </a:xfrm>
            <a:prstGeom prst="rect">
              <a:avLst/>
            </a:prstGeom>
            <a:solidFill>
              <a:schemeClr val="bg1"/>
            </a:solidFill>
            <a:ln>
              <a:noFill/>
            </a:ln>
          </p:spPr>
          <p:txBody>
            <a:bodyPr spcFirstLastPara="1" wrap="square" lIns="0" tIns="0" rIns="0" bIns="0" anchor="ctr" anchorCtr="0">
              <a:spAutoFit/>
            </a:bodyPr>
            <a:lstStyle/>
            <a:p>
              <a:pPr marL="0" marR="0" lvl="0" indent="0" defTabSz="914400" eaLnBrk="1" fontAlgn="auto" latinLnBrk="0" hangingPunct="1">
                <a:lnSpc>
                  <a:spcPct val="129944"/>
                </a:lnSpc>
                <a:spcBef>
                  <a:spcPts val="0"/>
                </a:spcBef>
                <a:spcAft>
                  <a:spcPts val="0"/>
                </a:spcAft>
                <a:buClr>
                  <a:srgbClr val="000000"/>
                </a:buClr>
                <a:buSzTx/>
                <a:buFont typeface="Arial"/>
                <a:buNone/>
                <a:tabLst/>
                <a:defRPr/>
              </a:pPr>
              <a:r>
                <a:rPr kumimoji="0" lang="en-US" sz="1200" b="1" u="none" strike="noStrike" kern="0" cap="none" spc="0" normalizeH="0" baseline="0" noProof="0" dirty="0">
                  <a:ln>
                    <a:noFill/>
                  </a:ln>
                  <a:effectLst/>
                  <a:uLnTx/>
                  <a:uFillTx/>
                  <a:latin typeface="Work Sans" pitchFamily="2" charset="77"/>
                  <a:ea typeface="Work Sans Medium"/>
                  <a:cs typeface="Work Sans Medium"/>
                  <a:sym typeface="Work Sans Medium"/>
                </a:rPr>
                <a:t>How to Increase Your Savings</a:t>
              </a:r>
              <a:endParaRPr kumimoji="0" sz="1200" b="1" u="none" strike="noStrike" kern="0" cap="none" spc="0" normalizeH="0" baseline="0" noProof="0" dirty="0">
                <a:ln>
                  <a:noFill/>
                </a:ln>
                <a:effectLst/>
                <a:uLnTx/>
                <a:uFillTx/>
                <a:latin typeface="Work Sans" pitchFamily="2" charset="77"/>
                <a:cs typeface="Arial"/>
                <a:sym typeface="Arial"/>
              </a:endParaRPr>
            </a:p>
          </p:txBody>
        </p:sp>
        <p:cxnSp>
          <p:nvCxnSpPr>
            <p:cNvPr id="6" name="Straight Connector 5">
              <a:extLst>
                <a:ext uri="{FF2B5EF4-FFF2-40B4-BE49-F238E27FC236}">
                  <a16:creationId xmlns:a16="http://schemas.microsoft.com/office/drawing/2014/main" id="{A766891E-4C5D-EDD4-3550-1F22E1608536}"/>
                </a:ext>
              </a:extLst>
            </p:cNvPr>
            <p:cNvCxnSpPr>
              <a:cxnSpLocks/>
            </p:cNvCxnSpPr>
            <p:nvPr/>
          </p:nvCxnSpPr>
          <p:spPr>
            <a:xfrm>
              <a:off x="421088" y="6553367"/>
              <a:ext cx="6775669" cy="0"/>
            </a:xfrm>
            <a:prstGeom prst="line">
              <a:avLst/>
            </a:prstGeom>
            <a:ln w="6350">
              <a:solidFill>
                <a:srgbClr val="F454CD"/>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94296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752AD-BAB6-ABD8-E196-1A83B9A363ED}"/>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BD1E0884-0763-C028-2615-F6915F6B2988}"/>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F2EC8ABA-EDFE-E99A-8DEB-A2DB5F322F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4C184CE1-2399-2263-71DB-798204C69820}"/>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aphicFrame>
        <p:nvGraphicFramePr>
          <p:cNvPr id="3" name="Google Shape;179;p3">
            <a:extLst>
              <a:ext uri="{FF2B5EF4-FFF2-40B4-BE49-F238E27FC236}">
                <a16:creationId xmlns:a16="http://schemas.microsoft.com/office/drawing/2014/main" id="{73AF7E6E-B12B-3FA1-E00D-1185F175C1DD}"/>
              </a:ext>
            </a:extLst>
          </p:cNvPr>
          <p:cNvGraphicFramePr/>
          <p:nvPr>
            <p:extLst>
              <p:ext uri="{D42A27DB-BD31-4B8C-83A1-F6EECF244321}">
                <p14:modId xmlns:p14="http://schemas.microsoft.com/office/powerpoint/2010/main" val="1828651531"/>
              </p:ext>
            </p:extLst>
          </p:nvPr>
        </p:nvGraphicFramePr>
        <p:xfrm>
          <a:off x="261553" y="1847947"/>
          <a:ext cx="7036568" cy="7740000"/>
        </p:xfrm>
        <a:graphic>
          <a:graphicData uri="http://schemas.openxmlformats.org/drawingml/2006/table">
            <a:tbl>
              <a:tblPr firstRow="1" bandRow="1">
                <a:noFill/>
              </a:tblPr>
              <a:tblGrid>
                <a:gridCol w="904227">
                  <a:extLst>
                    <a:ext uri="{9D8B030D-6E8A-4147-A177-3AD203B41FA5}">
                      <a16:colId xmlns:a16="http://schemas.microsoft.com/office/drawing/2014/main" val="20000"/>
                    </a:ext>
                  </a:extLst>
                </a:gridCol>
                <a:gridCol w="828000">
                  <a:extLst>
                    <a:ext uri="{9D8B030D-6E8A-4147-A177-3AD203B41FA5}">
                      <a16:colId xmlns:a16="http://schemas.microsoft.com/office/drawing/2014/main" val="3571867225"/>
                    </a:ext>
                  </a:extLst>
                </a:gridCol>
                <a:gridCol w="936000">
                  <a:extLst>
                    <a:ext uri="{9D8B030D-6E8A-4147-A177-3AD203B41FA5}">
                      <a16:colId xmlns:a16="http://schemas.microsoft.com/office/drawing/2014/main" val="2993904043"/>
                    </a:ext>
                  </a:extLst>
                </a:gridCol>
                <a:gridCol w="940395">
                  <a:extLst>
                    <a:ext uri="{9D8B030D-6E8A-4147-A177-3AD203B41FA5}">
                      <a16:colId xmlns:a16="http://schemas.microsoft.com/office/drawing/2014/main" val="20004"/>
                    </a:ext>
                  </a:extLst>
                </a:gridCol>
                <a:gridCol w="831888">
                  <a:extLst>
                    <a:ext uri="{9D8B030D-6E8A-4147-A177-3AD203B41FA5}">
                      <a16:colId xmlns:a16="http://schemas.microsoft.com/office/drawing/2014/main" val="20005"/>
                    </a:ext>
                  </a:extLst>
                </a:gridCol>
                <a:gridCol w="868058">
                  <a:extLst>
                    <a:ext uri="{9D8B030D-6E8A-4147-A177-3AD203B41FA5}">
                      <a16:colId xmlns:a16="http://schemas.microsoft.com/office/drawing/2014/main" val="2201757232"/>
                    </a:ext>
                  </a:extLst>
                </a:gridCol>
                <a:gridCol w="900000">
                  <a:extLst>
                    <a:ext uri="{9D8B030D-6E8A-4147-A177-3AD203B41FA5}">
                      <a16:colId xmlns:a16="http://schemas.microsoft.com/office/drawing/2014/main" val="1459341177"/>
                    </a:ext>
                  </a:extLst>
                </a:gridCol>
                <a:gridCol w="828000">
                  <a:extLst>
                    <a:ext uri="{9D8B030D-6E8A-4147-A177-3AD203B41FA5}">
                      <a16:colId xmlns:a16="http://schemas.microsoft.com/office/drawing/2014/main" val="1251090528"/>
                    </a:ext>
                  </a:extLst>
                </a:gridCol>
              </a:tblGrid>
              <a:tr h="720000">
                <a:tc gridSpan="8">
                  <a:txBody>
                    <a:bodyPr/>
                    <a:lstStyle/>
                    <a:p>
                      <a:pPr marL="0" marR="0" lvl="0" indent="0" algn="l" rtl="0">
                        <a:spcBef>
                          <a:spcPts val="0"/>
                        </a:spcBef>
                        <a:spcAft>
                          <a:spcPts val="0"/>
                        </a:spcAft>
                        <a:buFont typeface="Arial" panose="020B0604020202020204" pitchFamily="34" charset="0"/>
                        <a:buNone/>
                      </a:pPr>
                      <a:r>
                        <a:rPr lang="en-MY" sz="1000" b="0" i="0" dirty="0">
                          <a:solidFill>
                            <a:schemeClr val="tx1"/>
                          </a:solidFill>
                          <a:latin typeface="Work Sans" pitchFamily="2" charset="77"/>
                        </a:rPr>
                        <a:t>The table below compares the estimated cost and savings across different solar system sizes, based on the same TNB bill and an assumed Daytime Electricity Use. Differences in savings are primarily driven by:</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The amount of Solar Electricity generated by each system size</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How much of that Solar electricity is offset against your TNB bill</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171450" marR="0" lvl="0" indent="-171450" algn="l" rtl="0">
                        <a:spcBef>
                          <a:spcPts val="0"/>
                        </a:spcBef>
                        <a:spcAft>
                          <a:spcPts val="0"/>
                        </a:spcAft>
                        <a:buFont typeface="Arial" panose="020B0604020202020204" pitchFamily="34" charset="0"/>
                        <a:buChar char="•"/>
                      </a:pPr>
                      <a:endParaRPr lang="en-MY" sz="1000" b="0"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pPr marL="171450" marR="0" lvl="0" indent="-171450" algn="l" rtl="0">
                        <a:spcBef>
                          <a:spcPts val="0"/>
                        </a:spcBef>
                        <a:spcAft>
                          <a:spcPts val="0"/>
                        </a:spcAft>
                        <a:buFont typeface="Arial" panose="020B0604020202020204" pitchFamily="34" charset="0"/>
                        <a:buChar char="•"/>
                      </a:pPr>
                      <a:endParaRPr lang="en-MY" sz="1000" b="0"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939661595"/>
                  </a:ext>
                </a:extLst>
              </a:tr>
              <a:tr h="720000">
                <a:tc gridSpan="8">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600" b="1" i="0" dirty="0">
                          <a:solidFill>
                            <a:srgbClr val="F454CD"/>
                          </a:solidFill>
                          <a:latin typeface="Work Sans" pitchFamily="2" charset="77"/>
                        </a:rPr>
                        <a:t>Different System Sizes</a:t>
                      </a:r>
                      <a:endParaRPr sz="11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rtl="0">
                        <a:spcBef>
                          <a:spcPts val="0"/>
                        </a:spcBef>
                        <a:spcAft>
                          <a:spcPts val="0"/>
                        </a:spcAft>
                        <a:buNone/>
                      </a:pPr>
                      <a:endParaRPr lang="en-US" sz="1200" b="1"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sz="2400" b="1" i="0" dirty="0">
                        <a:solidFill>
                          <a:schemeClr val="tx1"/>
                        </a:solidFill>
                        <a:latin typeface="Work Sans" pitchFamily="2" charset="77"/>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rtl="0">
                        <a:spcBef>
                          <a:spcPts val="0"/>
                        </a:spcBef>
                        <a:spcAft>
                          <a:spcPts val="0"/>
                        </a:spcAft>
                        <a:buNone/>
                      </a:pPr>
                      <a:endParaRPr sz="105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pPr marL="0" marR="0" lvl="0" indent="0" algn="l" rtl="0">
                        <a:spcBef>
                          <a:spcPts val="0"/>
                        </a:spcBef>
                        <a:spcAft>
                          <a:spcPts val="0"/>
                        </a:spcAft>
                        <a:buNone/>
                      </a:pPr>
                      <a:endParaRPr sz="105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System Size</a:t>
                      </a:r>
                    </a:p>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a:t>
                      </a:r>
                      <a:r>
                        <a:rPr lang="en-US" sz="1100" b="1" i="0" dirty="0" err="1">
                          <a:solidFill>
                            <a:srgbClr val="000000"/>
                          </a:solidFill>
                          <a:latin typeface="Work Sans" pitchFamily="2" charset="77"/>
                          <a:ea typeface="Work Sans Light"/>
                          <a:cs typeface="Work Sans Light"/>
                          <a:sym typeface="Work Sans Light"/>
                        </a:rPr>
                        <a:t>kWp</a:t>
                      </a:r>
                      <a:r>
                        <a:rPr lang="en-US" sz="1100" b="1" i="0" dirty="0">
                          <a:solidFill>
                            <a:srgbClr val="000000"/>
                          </a:solidFill>
                          <a:latin typeface="Work Sans" pitchFamily="2" charset="77"/>
                          <a:ea typeface="Work Sans Light"/>
                          <a:cs typeface="Work Sans Light"/>
                          <a:sym typeface="Work Sans Light"/>
                        </a:rPr>
                        <a:t>)</a:t>
                      </a:r>
                      <a:endParaRPr sz="11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TNB Bill </a:t>
                      </a:r>
                    </a:p>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Before Solar</a:t>
                      </a: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Daytime Electricity Use</a:t>
                      </a:r>
                      <a:endParaRPr sz="11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Work Sans" pitchFamily="2" charset="77"/>
                          <a:ea typeface="Work Sans Light"/>
                          <a:cs typeface="Work Sans Light"/>
                          <a:sym typeface="Work Sans Light"/>
                        </a:rPr>
                        <a:t>TNB Bill After Solar (+/-)</a:t>
                      </a:r>
                    </a:p>
                  </a:txBody>
                  <a:tcPr marL="91450" marR="91450" marT="45725" marB="45725" anchor="b">
                    <a:lnL w="635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Solar Savings (+/-)</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Emit EzSolar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(5 Years)</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Outright Purchase</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Payback</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9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397669446"/>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58619888"/>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625853490"/>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3360665071"/>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2940168291"/>
                  </a:ext>
                </a:extLst>
              </a:tr>
              <a:tr h="900000">
                <a:tc gridSpan="8">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MY" sz="1100" b="0" i="0" u="none" strike="noStrike" kern="0" cap="none" spc="0" normalizeH="0" baseline="0" noProof="0" dirty="0">
                          <a:ln>
                            <a:noFill/>
                          </a:ln>
                          <a:solidFill>
                            <a:srgbClr val="000000"/>
                          </a:solidFill>
                          <a:effectLst/>
                          <a:uLnTx/>
                          <a:uFillTx/>
                          <a:latin typeface="Work Sans" pitchFamily="2" charset="77"/>
                          <a:cs typeface="Arial"/>
                          <a:sym typeface="Arial"/>
                        </a:rPr>
                        <a:t>For more options, explore our </a:t>
                      </a:r>
                      <a:r>
                        <a:rPr kumimoji="0" lang="en-MY" sz="1100" b="0" i="0" u="none" strike="noStrike" kern="0" cap="none" spc="0" normalizeH="0" baseline="0" noProof="0" dirty="0">
                          <a:ln>
                            <a:noFill/>
                          </a:ln>
                          <a:solidFill>
                            <a:srgbClr val="000000"/>
                          </a:solidFill>
                          <a:effectLst/>
                          <a:uLnTx/>
                          <a:uFillTx/>
                          <a:latin typeface="Work Sans" pitchFamily="2" charset="77"/>
                          <a:cs typeface="Arial"/>
                          <a:sym typeface="Arial"/>
                          <a:hlinkClick r:id="rId3"/>
                        </a:rPr>
                        <a:t>Solar Savings Calculator</a:t>
                      </a:r>
                      <a:r>
                        <a:rPr kumimoji="0" lang="en-MY" sz="1100" b="0" i="0" u="none" strike="noStrike" kern="0" cap="none" spc="0" normalizeH="0" baseline="0" noProof="0" dirty="0">
                          <a:ln>
                            <a:noFill/>
                          </a:ln>
                          <a:solidFill>
                            <a:srgbClr val="000000"/>
                          </a:solidFill>
                          <a:effectLst/>
                          <a:uLnTx/>
                          <a:uFillTx/>
                          <a:latin typeface="Work Sans" pitchFamily="2" charset="77"/>
                          <a:cs typeface="Arial"/>
                          <a:sym typeface="Arial"/>
                        </a:rPr>
                        <a:t>. </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hMerge="1">
                  <a:txBody>
                    <a:bodyPr/>
                    <a:lstStyle/>
                    <a:p>
                      <a:pPr marL="0" lvl="0" indent="0" algn="ctr">
                        <a:spcBef>
                          <a:spcPts val="0"/>
                        </a:spcBef>
                        <a:spcAft>
                          <a:spcPts val="0"/>
                        </a:spcAft>
                        <a:buNone/>
                      </a:pPr>
                      <a:endParaRPr sz="1100" b="1" i="0" dirty="0">
                        <a:solidFill>
                          <a:srgbClr val="F454CD"/>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hMerge="1">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sz="1100" b="1" i="0" dirty="0">
                        <a:solidFill>
                          <a:srgbClr val="F454CD"/>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hMerge="1">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hMerge="1">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054505128"/>
                  </a:ext>
                </a:extLst>
              </a:tr>
            </a:tbl>
          </a:graphicData>
        </a:graphic>
      </p:graphicFrame>
      <p:sp>
        <p:nvSpPr>
          <p:cNvPr id="8" name="TextBox 7">
            <a:extLst>
              <a:ext uri="{FF2B5EF4-FFF2-40B4-BE49-F238E27FC236}">
                <a16:creationId xmlns:a16="http://schemas.microsoft.com/office/drawing/2014/main" id="{2243614C-4DA0-4834-D401-4519F41584E9}"/>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9" name="TextBox 8">
            <a:extLst>
              <a:ext uri="{FF2B5EF4-FFF2-40B4-BE49-F238E27FC236}">
                <a16:creationId xmlns:a16="http://schemas.microsoft.com/office/drawing/2014/main" id="{57FACE86-6BEA-98A3-E513-A5F6CE3B8CE0}"/>
              </a:ext>
            </a:extLst>
          </p:cNvPr>
          <p:cNvSpPr txBox="1"/>
          <p:nvPr/>
        </p:nvSpPr>
        <p:spPr>
          <a:xfrm>
            <a:off x="323837" y="405855"/>
            <a:ext cx="6912000" cy="1261884"/>
          </a:xfrm>
          <a:prstGeom prst="rect">
            <a:avLst/>
          </a:prstGeom>
          <a:noFill/>
        </p:spPr>
        <p:txBody>
          <a:bodyPr wrap="square" rtlCol="0">
            <a:spAutoFit/>
          </a:bodyPr>
          <a:lstStyle/>
          <a:p>
            <a:pPr lvl="0">
              <a:defRPr/>
            </a:pPr>
            <a:r>
              <a:rPr lang="en-US" sz="3200" b="1" dirty="0">
                <a:solidFill>
                  <a:srgbClr val="F454CD"/>
                </a:solidFill>
                <a:latin typeface="Work Sans" pitchFamily="2" charset="77"/>
              </a:rPr>
              <a:t>Cost &amp; Savings Across Different System Sizes</a:t>
            </a:r>
            <a:endParaRPr lang="en-US" sz="700" dirty="0">
              <a:solidFill>
                <a:prstClr val="black"/>
              </a:solidFill>
              <a:latin typeface="Work Sans" pitchFamily="2" charset="77"/>
            </a:endParaRPr>
          </a:p>
          <a:p>
            <a:pPr lvl="0">
              <a:defRPr/>
            </a:pPr>
            <a:r>
              <a:rPr lang="en-MY" sz="1200" dirty="0">
                <a:latin typeface="Work Sans" pitchFamily="2" charset="77"/>
              </a:rPr>
              <a:t>Understand how system size affects generation, cost and potential savings.</a:t>
            </a:r>
            <a:endParaRPr lang="en-US" sz="1200" dirty="0">
              <a:solidFill>
                <a:prstClr val="black"/>
              </a:solidFill>
              <a:latin typeface="Work Sans" pitchFamily="2" charset="77"/>
            </a:endParaRPr>
          </a:p>
        </p:txBody>
      </p:sp>
      <p:sp>
        <p:nvSpPr>
          <p:cNvPr id="69" name="size_1">
            <a:extLst>
              <a:ext uri="{FF2B5EF4-FFF2-40B4-BE49-F238E27FC236}">
                <a16:creationId xmlns:a16="http://schemas.microsoft.com/office/drawing/2014/main" id="{D055A7A7-73E0-93D2-B978-EFC0E6D1DA08}"/>
              </a:ext>
            </a:extLst>
          </p:cNvPr>
          <p:cNvSpPr txBox="1"/>
          <p:nvPr/>
        </p:nvSpPr>
        <p:spPr>
          <a:xfrm>
            <a:off x="277135" y="441223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14.28kWp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0" name="solar_kwh_1">
            <a:extLst>
              <a:ext uri="{FF2B5EF4-FFF2-40B4-BE49-F238E27FC236}">
                <a16:creationId xmlns:a16="http://schemas.microsoft.com/office/drawing/2014/main" id="{E5E1BEE8-DD09-7405-50C4-DDE25627FD68}"/>
              </a:ext>
            </a:extLst>
          </p:cNvPr>
          <p:cNvSpPr txBox="1"/>
          <p:nvPr/>
        </p:nvSpPr>
        <p:spPr>
          <a:xfrm>
            <a:off x="202037" y="4584459"/>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1,464kWh</a:t>
            </a:r>
            <a:endParaRPr lang="en-MY" sz="850" dirty="0"/>
          </a:p>
        </p:txBody>
      </p:sp>
      <p:sp>
        <p:nvSpPr>
          <p:cNvPr id="71" name="old_tnb_1">
            <a:extLst>
              <a:ext uri="{FF2B5EF4-FFF2-40B4-BE49-F238E27FC236}">
                <a16:creationId xmlns:a16="http://schemas.microsoft.com/office/drawing/2014/main" id="{A3E4A345-1E68-87DE-384F-7981D97A0093}"/>
              </a:ext>
            </a:extLst>
          </p:cNvPr>
          <p:cNvSpPr txBox="1"/>
          <p:nvPr/>
        </p:nvSpPr>
        <p:spPr>
          <a:xfrm>
            <a:off x="1112108" y="441853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2" name="old_kwh_1">
            <a:extLst>
              <a:ext uri="{FF2B5EF4-FFF2-40B4-BE49-F238E27FC236}">
                <a16:creationId xmlns:a16="http://schemas.microsoft.com/office/drawing/2014/main" id="{131B775A-0E56-BE54-636E-0F17A7970E37}"/>
              </a:ext>
            </a:extLst>
          </p:cNvPr>
          <p:cNvSpPr txBox="1"/>
          <p:nvPr/>
        </p:nvSpPr>
        <p:spPr>
          <a:xfrm>
            <a:off x="1064938" y="4581234"/>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73" name="daytime_percent_1">
            <a:extLst>
              <a:ext uri="{FF2B5EF4-FFF2-40B4-BE49-F238E27FC236}">
                <a16:creationId xmlns:a16="http://schemas.microsoft.com/office/drawing/2014/main" id="{D0AE0E79-BCFE-FAD7-70C1-8D67A6AC8DE6}"/>
              </a:ext>
            </a:extLst>
          </p:cNvPr>
          <p:cNvSpPr txBox="1"/>
          <p:nvPr/>
        </p:nvSpPr>
        <p:spPr>
          <a:xfrm>
            <a:off x="1999867" y="440458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4" name="daytime_kwh_1">
            <a:extLst>
              <a:ext uri="{FF2B5EF4-FFF2-40B4-BE49-F238E27FC236}">
                <a16:creationId xmlns:a16="http://schemas.microsoft.com/office/drawing/2014/main" id="{41D901C2-62FB-0B94-79DB-1FCD700EA0E2}"/>
              </a:ext>
            </a:extLst>
          </p:cNvPr>
          <p:cNvSpPr txBox="1"/>
          <p:nvPr/>
        </p:nvSpPr>
        <p:spPr>
          <a:xfrm>
            <a:off x="1907530" y="4582553"/>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75" name="new_tnb_1">
            <a:extLst>
              <a:ext uri="{FF2B5EF4-FFF2-40B4-BE49-F238E27FC236}">
                <a16:creationId xmlns:a16="http://schemas.microsoft.com/office/drawing/2014/main" id="{FE053584-151E-9FCE-B8C4-7D5BDE7BC336}"/>
              </a:ext>
            </a:extLst>
          </p:cNvPr>
          <p:cNvSpPr txBox="1"/>
          <p:nvPr/>
        </p:nvSpPr>
        <p:spPr>
          <a:xfrm>
            <a:off x="2865725" y="446938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RM1,464</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6" name="solar_savings_1">
            <a:extLst>
              <a:ext uri="{FF2B5EF4-FFF2-40B4-BE49-F238E27FC236}">
                <a16:creationId xmlns:a16="http://schemas.microsoft.com/office/drawing/2014/main" id="{F1875C94-2FE9-F478-7803-FF7C16385085}"/>
              </a:ext>
            </a:extLst>
          </p:cNvPr>
          <p:cNvSpPr txBox="1"/>
          <p:nvPr/>
        </p:nvSpPr>
        <p:spPr>
          <a:xfrm>
            <a:off x="3803478" y="442109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RM772</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7" name="solar_savings_percent_1">
            <a:extLst>
              <a:ext uri="{FF2B5EF4-FFF2-40B4-BE49-F238E27FC236}">
                <a16:creationId xmlns:a16="http://schemas.microsoft.com/office/drawing/2014/main" id="{4BCBFCAA-460F-C2A4-4722-64BF7B26BFD7}"/>
              </a:ext>
            </a:extLst>
          </p:cNvPr>
          <p:cNvSpPr txBox="1"/>
          <p:nvPr/>
        </p:nvSpPr>
        <p:spPr>
          <a:xfrm>
            <a:off x="3926098" y="4578695"/>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51%</a:t>
            </a:r>
            <a:endParaRPr lang="en-MY" sz="900" dirty="0"/>
          </a:p>
        </p:txBody>
      </p:sp>
      <p:sp>
        <p:nvSpPr>
          <p:cNvPr id="78" name="5y_1">
            <a:extLst>
              <a:ext uri="{FF2B5EF4-FFF2-40B4-BE49-F238E27FC236}">
                <a16:creationId xmlns:a16="http://schemas.microsoft.com/office/drawing/2014/main" id="{C455007E-EA47-5FFE-B2F1-99F0153E458D}"/>
              </a:ext>
            </a:extLst>
          </p:cNvPr>
          <p:cNvSpPr txBox="1"/>
          <p:nvPr/>
        </p:nvSpPr>
        <p:spPr>
          <a:xfrm>
            <a:off x="4682742" y="447665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RM547</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9" name="op_1">
            <a:extLst>
              <a:ext uri="{FF2B5EF4-FFF2-40B4-BE49-F238E27FC236}">
                <a16:creationId xmlns:a16="http://schemas.microsoft.com/office/drawing/2014/main" id="{3A969219-F364-C797-514E-24F5ADE89B69}"/>
              </a:ext>
            </a:extLst>
          </p:cNvPr>
          <p:cNvSpPr txBox="1"/>
          <p:nvPr/>
        </p:nvSpPr>
        <p:spPr>
          <a:xfrm>
            <a:off x="5486727" y="448357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RM32,800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0" name="payback_1">
            <a:extLst>
              <a:ext uri="{FF2B5EF4-FFF2-40B4-BE49-F238E27FC236}">
                <a16:creationId xmlns:a16="http://schemas.microsoft.com/office/drawing/2014/main" id="{C245AF4C-5372-A95E-ABE6-5CF57AD85D47}"/>
              </a:ext>
            </a:extLst>
          </p:cNvPr>
          <p:cNvSpPr txBox="1"/>
          <p:nvPr/>
        </p:nvSpPr>
        <p:spPr>
          <a:xfrm>
            <a:off x="6349090" y="448618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1" name="size_2">
            <a:extLst>
              <a:ext uri="{FF2B5EF4-FFF2-40B4-BE49-F238E27FC236}">
                <a16:creationId xmlns:a16="http://schemas.microsoft.com/office/drawing/2014/main" id="{602E5A9B-0B46-5DB0-DE98-80BDD52DFAFB}"/>
              </a:ext>
            </a:extLst>
          </p:cNvPr>
          <p:cNvSpPr txBox="1"/>
          <p:nvPr/>
        </p:nvSpPr>
        <p:spPr>
          <a:xfrm>
            <a:off x="291649" y="529634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14.79kWp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2" name="solar_kwh_2">
            <a:extLst>
              <a:ext uri="{FF2B5EF4-FFF2-40B4-BE49-F238E27FC236}">
                <a16:creationId xmlns:a16="http://schemas.microsoft.com/office/drawing/2014/main" id="{8668892B-9DCD-6A0D-AC0F-56A083D997BF}"/>
              </a:ext>
            </a:extLst>
          </p:cNvPr>
          <p:cNvSpPr txBox="1"/>
          <p:nvPr/>
        </p:nvSpPr>
        <p:spPr>
          <a:xfrm>
            <a:off x="202037" y="5472900"/>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1,516kWh</a:t>
            </a:r>
            <a:endParaRPr lang="en-MY" sz="850" dirty="0"/>
          </a:p>
        </p:txBody>
      </p:sp>
      <p:sp>
        <p:nvSpPr>
          <p:cNvPr id="83" name="old_tnb_2">
            <a:extLst>
              <a:ext uri="{FF2B5EF4-FFF2-40B4-BE49-F238E27FC236}">
                <a16:creationId xmlns:a16="http://schemas.microsoft.com/office/drawing/2014/main" id="{3098A225-D255-7747-F75E-BC7B4940C05A}"/>
              </a:ext>
            </a:extLst>
          </p:cNvPr>
          <p:cNvSpPr txBox="1"/>
          <p:nvPr/>
        </p:nvSpPr>
        <p:spPr>
          <a:xfrm>
            <a:off x="1136147" y="530264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4" name="old_kwh_2">
            <a:extLst>
              <a:ext uri="{FF2B5EF4-FFF2-40B4-BE49-F238E27FC236}">
                <a16:creationId xmlns:a16="http://schemas.microsoft.com/office/drawing/2014/main" id="{9FA36943-9085-3160-A1F8-DF367F3966F2}"/>
              </a:ext>
            </a:extLst>
          </p:cNvPr>
          <p:cNvSpPr txBox="1"/>
          <p:nvPr/>
        </p:nvSpPr>
        <p:spPr>
          <a:xfrm>
            <a:off x="1069927" y="5467550"/>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85" name="daytime_percent_2">
            <a:extLst>
              <a:ext uri="{FF2B5EF4-FFF2-40B4-BE49-F238E27FC236}">
                <a16:creationId xmlns:a16="http://schemas.microsoft.com/office/drawing/2014/main" id="{4F08E5DE-ACE6-1BFC-B394-B0EB82E44B4A}"/>
              </a:ext>
            </a:extLst>
          </p:cNvPr>
          <p:cNvSpPr txBox="1"/>
          <p:nvPr/>
        </p:nvSpPr>
        <p:spPr>
          <a:xfrm>
            <a:off x="2014381" y="529822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40%</a:t>
            </a:r>
          </a:p>
        </p:txBody>
      </p:sp>
      <p:sp>
        <p:nvSpPr>
          <p:cNvPr id="86" name="daytime_kwh_2">
            <a:extLst>
              <a:ext uri="{FF2B5EF4-FFF2-40B4-BE49-F238E27FC236}">
                <a16:creationId xmlns:a16="http://schemas.microsoft.com/office/drawing/2014/main" id="{183C6740-6FD5-FECC-114D-CFD5787BE27A}"/>
              </a:ext>
            </a:extLst>
          </p:cNvPr>
          <p:cNvSpPr txBox="1"/>
          <p:nvPr/>
        </p:nvSpPr>
        <p:spPr>
          <a:xfrm>
            <a:off x="1907530" y="5463283"/>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87" name="new_tnb_2">
            <a:extLst>
              <a:ext uri="{FF2B5EF4-FFF2-40B4-BE49-F238E27FC236}">
                <a16:creationId xmlns:a16="http://schemas.microsoft.com/office/drawing/2014/main" id="{A5474A21-3AD9-305A-B6DB-1064D7122D89}"/>
              </a:ext>
            </a:extLst>
          </p:cNvPr>
          <p:cNvSpPr txBox="1"/>
          <p:nvPr/>
        </p:nvSpPr>
        <p:spPr>
          <a:xfrm>
            <a:off x="2870714" y="537254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RM709</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8" name="solar_savings_2">
            <a:extLst>
              <a:ext uri="{FF2B5EF4-FFF2-40B4-BE49-F238E27FC236}">
                <a16:creationId xmlns:a16="http://schemas.microsoft.com/office/drawing/2014/main" id="{FC524190-207F-794E-D6DF-5FD0A7CF7F76}"/>
              </a:ext>
            </a:extLst>
          </p:cNvPr>
          <p:cNvSpPr txBox="1"/>
          <p:nvPr/>
        </p:nvSpPr>
        <p:spPr>
          <a:xfrm>
            <a:off x="3817992" y="531473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RM791</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9" name="solar_savings_percent_2">
            <a:extLst>
              <a:ext uri="{FF2B5EF4-FFF2-40B4-BE49-F238E27FC236}">
                <a16:creationId xmlns:a16="http://schemas.microsoft.com/office/drawing/2014/main" id="{1E179D11-BD09-C170-C95E-1168F5758487}"/>
              </a:ext>
            </a:extLst>
          </p:cNvPr>
          <p:cNvSpPr txBox="1"/>
          <p:nvPr/>
        </p:nvSpPr>
        <p:spPr>
          <a:xfrm>
            <a:off x="3919137" y="5471761"/>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53%</a:t>
            </a:r>
            <a:endParaRPr lang="en-MY" sz="900" dirty="0"/>
          </a:p>
        </p:txBody>
      </p:sp>
      <p:sp>
        <p:nvSpPr>
          <p:cNvPr id="90" name="5y_2">
            <a:extLst>
              <a:ext uri="{FF2B5EF4-FFF2-40B4-BE49-F238E27FC236}">
                <a16:creationId xmlns:a16="http://schemas.microsoft.com/office/drawing/2014/main" id="{2EB91AE5-EBAF-AD8F-2651-14B6D884A79E}"/>
              </a:ext>
            </a:extLst>
          </p:cNvPr>
          <p:cNvSpPr txBox="1"/>
          <p:nvPr/>
        </p:nvSpPr>
        <p:spPr>
          <a:xfrm>
            <a:off x="4697256" y="5360774"/>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RM558</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1" name="op_2">
            <a:extLst>
              <a:ext uri="{FF2B5EF4-FFF2-40B4-BE49-F238E27FC236}">
                <a16:creationId xmlns:a16="http://schemas.microsoft.com/office/drawing/2014/main" id="{403438FA-D244-0CF0-DCEF-1BA3409CBC25}"/>
              </a:ext>
            </a:extLst>
          </p:cNvPr>
          <p:cNvSpPr txBox="1"/>
          <p:nvPr/>
        </p:nvSpPr>
        <p:spPr>
          <a:xfrm>
            <a:off x="5501241" y="5367694"/>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RM33,500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2" name="payback_2">
            <a:extLst>
              <a:ext uri="{FF2B5EF4-FFF2-40B4-BE49-F238E27FC236}">
                <a16:creationId xmlns:a16="http://schemas.microsoft.com/office/drawing/2014/main" id="{EE2E714C-58C8-02F9-7B99-F8D7EB49754D}"/>
              </a:ext>
            </a:extLst>
          </p:cNvPr>
          <p:cNvSpPr txBox="1"/>
          <p:nvPr/>
        </p:nvSpPr>
        <p:spPr>
          <a:xfrm>
            <a:off x="6363604" y="5360774"/>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3" name="size_3">
            <a:extLst>
              <a:ext uri="{FF2B5EF4-FFF2-40B4-BE49-F238E27FC236}">
                <a16:creationId xmlns:a16="http://schemas.microsoft.com/office/drawing/2014/main" id="{44421C41-6D6D-30ED-D862-22A1A6CA943F}"/>
              </a:ext>
            </a:extLst>
          </p:cNvPr>
          <p:cNvSpPr txBox="1"/>
          <p:nvPr/>
        </p:nvSpPr>
        <p:spPr>
          <a:xfrm>
            <a:off x="291649" y="620266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15.30kWp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4" name="solar_kwh_3">
            <a:extLst>
              <a:ext uri="{FF2B5EF4-FFF2-40B4-BE49-F238E27FC236}">
                <a16:creationId xmlns:a16="http://schemas.microsoft.com/office/drawing/2014/main" id="{E9E7F90A-3FA1-409E-A86B-BCF57C02CBA9}"/>
              </a:ext>
            </a:extLst>
          </p:cNvPr>
          <p:cNvSpPr txBox="1"/>
          <p:nvPr/>
        </p:nvSpPr>
        <p:spPr>
          <a:xfrm>
            <a:off x="207026" y="6383755"/>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1,568kWh</a:t>
            </a:r>
            <a:endParaRPr lang="en-MY" sz="850" dirty="0"/>
          </a:p>
        </p:txBody>
      </p:sp>
      <p:sp>
        <p:nvSpPr>
          <p:cNvPr id="95" name="old_tnb_3">
            <a:extLst>
              <a:ext uri="{FF2B5EF4-FFF2-40B4-BE49-F238E27FC236}">
                <a16:creationId xmlns:a16="http://schemas.microsoft.com/office/drawing/2014/main" id="{154E43DF-A254-1131-EF18-9509640FFA29}"/>
              </a:ext>
            </a:extLst>
          </p:cNvPr>
          <p:cNvSpPr txBox="1"/>
          <p:nvPr/>
        </p:nvSpPr>
        <p:spPr>
          <a:xfrm>
            <a:off x="1136147" y="620397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RM1,500</a:t>
            </a:r>
          </a:p>
        </p:txBody>
      </p:sp>
      <p:sp>
        <p:nvSpPr>
          <p:cNvPr id="96" name="old_kwh_3">
            <a:extLst>
              <a:ext uri="{FF2B5EF4-FFF2-40B4-BE49-F238E27FC236}">
                <a16:creationId xmlns:a16="http://schemas.microsoft.com/office/drawing/2014/main" id="{5D8B8804-207C-634F-ED49-D37F82E907D8}"/>
              </a:ext>
            </a:extLst>
          </p:cNvPr>
          <p:cNvSpPr txBox="1"/>
          <p:nvPr/>
        </p:nvSpPr>
        <p:spPr>
          <a:xfrm>
            <a:off x="1074463" y="6376653"/>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97" name="daytime_percent_3">
            <a:extLst>
              <a:ext uri="{FF2B5EF4-FFF2-40B4-BE49-F238E27FC236}">
                <a16:creationId xmlns:a16="http://schemas.microsoft.com/office/drawing/2014/main" id="{D2EACA47-BE7B-48AE-A72C-8B6E2848EF2E}"/>
              </a:ext>
            </a:extLst>
          </p:cNvPr>
          <p:cNvSpPr txBox="1"/>
          <p:nvPr/>
        </p:nvSpPr>
        <p:spPr>
          <a:xfrm>
            <a:off x="2014381" y="619501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8" name="daytime_kwh_3">
            <a:extLst>
              <a:ext uri="{FF2B5EF4-FFF2-40B4-BE49-F238E27FC236}">
                <a16:creationId xmlns:a16="http://schemas.microsoft.com/office/drawing/2014/main" id="{60C94779-E287-157F-2BB2-8F5462E57FB4}"/>
              </a:ext>
            </a:extLst>
          </p:cNvPr>
          <p:cNvSpPr txBox="1"/>
          <p:nvPr/>
        </p:nvSpPr>
        <p:spPr>
          <a:xfrm>
            <a:off x="1917055" y="6370963"/>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99" name="new_tnb_3">
            <a:extLst>
              <a:ext uri="{FF2B5EF4-FFF2-40B4-BE49-F238E27FC236}">
                <a16:creationId xmlns:a16="http://schemas.microsoft.com/office/drawing/2014/main" id="{9B56F5D1-98A4-F010-2E77-B293140DA864}"/>
              </a:ext>
            </a:extLst>
          </p:cNvPr>
          <p:cNvSpPr txBox="1"/>
          <p:nvPr/>
        </p:nvSpPr>
        <p:spPr>
          <a:xfrm>
            <a:off x="2908814" y="627886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RM689</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0" name="solar_savings_3">
            <a:extLst>
              <a:ext uri="{FF2B5EF4-FFF2-40B4-BE49-F238E27FC236}">
                <a16:creationId xmlns:a16="http://schemas.microsoft.com/office/drawing/2014/main" id="{5CCC4728-1144-3E08-6D09-1CF85BB491E1}"/>
              </a:ext>
            </a:extLst>
          </p:cNvPr>
          <p:cNvSpPr txBox="1"/>
          <p:nvPr/>
        </p:nvSpPr>
        <p:spPr>
          <a:xfrm>
            <a:off x="3817992" y="6227397"/>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RM811</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1" name="solar_savings_percent_3">
            <a:extLst>
              <a:ext uri="{FF2B5EF4-FFF2-40B4-BE49-F238E27FC236}">
                <a16:creationId xmlns:a16="http://schemas.microsoft.com/office/drawing/2014/main" id="{B76DE6BC-EC3B-E3B4-205C-1309425B38EC}"/>
              </a:ext>
            </a:extLst>
          </p:cNvPr>
          <p:cNvSpPr txBox="1"/>
          <p:nvPr/>
        </p:nvSpPr>
        <p:spPr>
          <a:xfrm>
            <a:off x="3926757" y="638549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54%</a:t>
            </a:r>
            <a:endParaRPr lang="en-MY" sz="900" dirty="0"/>
          </a:p>
        </p:txBody>
      </p:sp>
      <p:sp>
        <p:nvSpPr>
          <p:cNvPr id="102" name="5y_3">
            <a:extLst>
              <a:ext uri="{FF2B5EF4-FFF2-40B4-BE49-F238E27FC236}">
                <a16:creationId xmlns:a16="http://schemas.microsoft.com/office/drawing/2014/main" id="{CB7B7B47-2BA0-59E3-E806-3E2E47FE34E4}"/>
              </a:ext>
            </a:extLst>
          </p:cNvPr>
          <p:cNvSpPr txBox="1"/>
          <p:nvPr/>
        </p:nvSpPr>
        <p:spPr>
          <a:xfrm>
            <a:off x="4697256" y="626708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RM570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3" name="op_3">
            <a:extLst>
              <a:ext uri="{FF2B5EF4-FFF2-40B4-BE49-F238E27FC236}">
                <a16:creationId xmlns:a16="http://schemas.microsoft.com/office/drawing/2014/main" id="{BD88BDF3-B6E4-F0A1-569F-38DF0C23303A}"/>
              </a:ext>
            </a:extLst>
          </p:cNvPr>
          <p:cNvSpPr txBox="1"/>
          <p:nvPr/>
        </p:nvSpPr>
        <p:spPr>
          <a:xfrm>
            <a:off x="5501241" y="626448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RM34,200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4" name="payback_3">
            <a:extLst>
              <a:ext uri="{FF2B5EF4-FFF2-40B4-BE49-F238E27FC236}">
                <a16:creationId xmlns:a16="http://schemas.microsoft.com/office/drawing/2014/main" id="{0ABD68D0-D19E-927B-8C33-B1AE67D0338D}"/>
              </a:ext>
            </a:extLst>
          </p:cNvPr>
          <p:cNvSpPr txBox="1"/>
          <p:nvPr/>
        </p:nvSpPr>
        <p:spPr>
          <a:xfrm>
            <a:off x="6363604" y="624803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5" name="size_4">
            <a:extLst>
              <a:ext uri="{FF2B5EF4-FFF2-40B4-BE49-F238E27FC236}">
                <a16:creationId xmlns:a16="http://schemas.microsoft.com/office/drawing/2014/main" id="{929B85B9-47A8-89E1-56A4-A87929CBA627}"/>
              </a:ext>
            </a:extLst>
          </p:cNvPr>
          <p:cNvSpPr txBox="1"/>
          <p:nvPr/>
        </p:nvSpPr>
        <p:spPr>
          <a:xfrm>
            <a:off x="277135" y="70810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15.81kWp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6" name="solar_kwh_4">
            <a:extLst>
              <a:ext uri="{FF2B5EF4-FFF2-40B4-BE49-F238E27FC236}">
                <a16:creationId xmlns:a16="http://schemas.microsoft.com/office/drawing/2014/main" id="{D46C0F3C-FC51-68DD-AA71-72A366F56EDC}"/>
              </a:ext>
            </a:extLst>
          </p:cNvPr>
          <p:cNvSpPr txBox="1"/>
          <p:nvPr/>
        </p:nvSpPr>
        <p:spPr>
          <a:xfrm>
            <a:off x="192512" y="7270264"/>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1,621kWh</a:t>
            </a:r>
            <a:endParaRPr lang="en-MY" sz="850" dirty="0"/>
          </a:p>
        </p:txBody>
      </p:sp>
      <p:sp>
        <p:nvSpPr>
          <p:cNvPr id="107" name="old_tnb_4">
            <a:extLst>
              <a:ext uri="{FF2B5EF4-FFF2-40B4-BE49-F238E27FC236}">
                <a16:creationId xmlns:a16="http://schemas.microsoft.com/office/drawing/2014/main" id="{297C9396-373D-DA1E-B4D4-139C1C01AF29}"/>
              </a:ext>
            </a:extLst>
          </p:cNvPr>
          <p:cNvSpPr txBox="1"/>
          <p:nvPr/>
        </p:nvSpPr>
        <p:spPr>
          <a:xfrm>
            <a:off x="1121633" y="70873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8" name="old_kwh_4">
            <a:extLst>
              <a:ext uri="{FF2B5EF4-FFF2-40B4-BE49-F238E27FC236}">
                <a16:creationId xmlns:a16="http://schemas.microsoft.com/office/drawing/2014/main" id="{3321BD46-1436-9528-3C9A-4B0AA4C2D2B6}"/>
              </a:ext>
            </a:extLst>
          </p:cNvPr>
          <p:cNvSpPr txBox="1"/>
          <p:nvPr/>
        </p:nvSpPr>
        <p:spPr>
          <a:xfrm>
            <a:off x="1064938" y="7267698"/>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109" name="daytime_percent_4">
            <a:extLst>
              <a:ext uri="{FF2B5EF4-FFF2-40B4-BE49-F238E27FC236}">
                <a16:creationId xmlns:a16="http://schemas.microsoft.com/office/drawing/2014/main" id="{75F03F12-CBFF-FF73-8A07-C69F1EC85FAB}"/>
              </a:ext>
            </a:extLst>
          </p:cNvPr>
          <p:cNvSpPr txBox="1"/>
          <p:nvPr/>
        </p:nvSpPr>
        <p:spPr>
          <a:xfrm>
            <a:off x="1999867" y="7091113"/>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0" name="daytime_kwh_4">
            <a:extLst>
              <a:ext uri="{FF2B5EF4-FFF2-40B4-BE49-F238E27FC236}">
                <a16:creationId xmlns:a16="http://schemas.microsoft.com/office/drawing/2014/main" id="{28E33DC0-9781-F7A7-A233-8ABD3B71572F}"/>
              </a:ext>
            </a:extLst>
          </p:cNvPr>
          <p:cNvSpPr txBox="1"/>
          <p:nvPr/>
        </p:nvSpPr>
        <p:spPr>
          <a:xfrm>
            <a:off x="1917055" y="7267919"/>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111" name="new_tnb_4">
            <a:extLst>
              <a:ext uri="{FF2B5EF4-FFF2-40B4-BE49-F238E27FC236}">
                <a16:creationId xmlns:a16="http://schemas.microsoft.com/office/drawing/2014/main" id="{C979BD9C-628E-50D0-905B-7B6465D81E88}"/>
              </a:ext>
            </a:extLst>
          </p:cNvPr>
          <p:cNvSpPr txBox="1"/>
          <p:nvPr/>
        </p:nvSpPr>
        <p:spPr>
          <a:xfrm>
            <a:off x="2913350" y="71572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RM670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2" name="solar_savings_4">
            <a:extLst>
              <a:ext uri="{FF2B5EF4-FFF2-40B4-BE49-F238E27FC236}">
                <a16:creationId xmlns:a16="http://schemas.microsoft.com/office/drawing/2014/main" id="{DF21BFFD-9147-847A-72A5-046B81F08F51}"/>
              </a:ext>
            </a:extLst>
          </p:cNvPr>
          <p:cNvSpPr txBox="1"/>
          <p:nvPr/>
        </p:nvSpPr>
        <p:spPr>
          <a:xfrm>
            <a:off x="3803478" y="710574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RM830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3" name="solar_savings_percent_4">
            <a:extLst>
              <a:ext uri="{FF2B5EF4-FFF2-40B4-BE49-F238E27FC236}">
                <a16:creationId xmlns:a16="http://schemas.microsoft.com/office/drawing/2014/main" id="{7A30298B-A864-8A0C-2644-2218BCA1C673}"/>
              </a:ext>
            </a:extLst>
          </p:cNvPr>
          <p:cNvSpPr txBox="1"/>
          <p:nvPr/>
        </p:nvSpPr>
        <p:spPr>
          <a:xfrm>
            <a:off x="3926757" y="7265655"/>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55%</a:t>
            </a:r>
            <a:endParaRPr lang="en-MY" sz="900" dirty="0"/>
          </a:p>
        </p:txBody>
      </p:sp>
      <p:sp>
        <p:nvSpPr>
          <p:cNvPr id="114" name="5y_4">
            <a:extLst>
              <a:ext uri="{FF2B5EF4-FFF2-40B4-BE49-F238E27FC236}">
                <a16:creationId xmlns:a16="http://schemas.microsoft.com/office/drawing/2014/main" id="{86368FAD-506E-7480-055F-9D7E109CE9E9}"/>
              </a:ext>
            </a:extLst>
          </p:cNvPr>
          <p:cNvSpPr txBox="1"/>
          <p:nvPr/>
        </p:nvSpPr>
        <p:spPr>
          <a:xfrm>
            <a:off x="4682742" y="715495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RM582</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5" name="op_4">
            <a:extLst>
              <a:ext uri="{FF2B5EF4-FFF2-40B4-BE49-F238E27FC236}">
                <a16:creationId xmlns:a16="http://schemas.microsoft.com/office/drawing/2014/main" id="{E2C6A6B5-3B50-0351-D888-095B0DEDF843}"/>
              </a:ext>
            </a:extLst>
          </p:cNvPr>
          <p:cNvSpPr txBox="1"/>
          <p:nvPr/>
        </p:nvSpPr>
        <p:spPr>
          <a:xfrm>
            <a:off x="5486727" y="714282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RM34,900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6" name="payback_4">
            <a:extLst>
              <a:ext uri="{FF2B5EF4-FFF2-40B4-BE49-F238E27FC236}">
                <a16:creationId xmlns:a16="http://schemas.microsoft.com/office/drawing/2014/main" id="{725DA67F-8502-9F6D-972A-183F5E8D8863}"/>
              </a:ext>
            </a:extLst>
          </p:cNvPr>
          <p:cNvSpPr txBox="1"/>
          <p:nvPr/>
        </p:nvSpPr>
        <p:spPr>
          <a:xfrm>
            <a:off x="6349090" y="71359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100">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7" name="size_5">
            <a:extLst>
              <a:ext uri="{FF2B5EF4-FFF2-40B4-BE49-F238E27FC236}">
                <a16:creationId xmlns:a16="http://schemas.microsoft.com/office/drawing/2014/main" id="{489F6869-BCB6-E566-171F-5A1911038E21}"/>
              </a:ext>
            </a:extLst>
          </p:cNvPr>
          <p:cNvSpPr txBox="1"/>
          <p:nvPr/>
        </p:nvSpPr>
        <p:spPr>
          <a:xfrm>
            <a:off x="287768" y="797871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16.32kWp</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8" name="solar_kwh_5">
            <a:extLst>
              <a:ext uri="{FF2B5EF4-FFF2-40B4-BE49-F238E27FC236}">
                <a16:creationId xmlns:a16="http://schemas.microsoft.com/office/drawing/2014/main" id="{E3671EDE-2991-3D2A-F388-C8A11EE7A910}"/>
              </a:ext>
            </a:extLst>
          </p:cNvPr>
          <p:cNvSpPr txBox="1"/>
          <p:nvPr/>
        </p:nvSpPr>
        <p:spPr>
          <a:xfrm>
            <a:off x="198156" y="8179312"/>
            <a:ext cx="1053604" cy="230832"/>
          </a:xfrm>
          <a:prstGeom prst="rect">
            <a:avLst/>
          </a:prstGeom>
          <a:noFill/>
        </p:spPr>
        <p:txBody>
          <a:bodyPr wrap="square">
            <a:spAutoFit/>
          </a:bodyPr>
          <a:lstStyle/>
          <a:p>
            <a:pPr algn="ctr"/>
            <a:r>
              <a:rPr kumimoji="0" lang="en-US" sz="85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1,673kWh</a:t>
            </a:r>
            <a:endParaRPr lang="en-MY" sz="850" b="1" dirty="0">
              <a:solidFill>
                <a:srgbClr val="F454CD"/>
              </a:solidFill>
            </a:endParaRPr>
          </a:p>
        </p:txBody>
      </p:sp>
      <p:sp>
        <p:nvSpPr>
          <p:cNvPr id="119" name="old_tnb_5">
            <a:extLst>
              <a:ext uri="{FF2B5EF4-FFF2-40B4-BE49-F238E27FC236}">
                <a16:creationId xmlns:a16="http://schemas.microsoft.com/office/drawing/2014/main" id="{2493F04D-1518-97D2-E615-C500302DB8F1}"/>
              </a:ext>
            </a:extLst>
          </p:cNvPr>
          <p:cNvSpPr txBox="1"/>
          <p:nvPr/>
        </p:nvSpPr>
        <p:spPr>
          <a:xfrm>
            <a:off x="1132266" y="7989558"/>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RM1,500</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0" name="old_kwh_5">
            <a:extLst>
              <a:ext uri="{FF2B5EF4-FFF2-40B4-BE49-F238E27FC236}">
                <a16:creationId xmlns:a16="http://schemas.microsoft.com/office/drawing/2014/main" id="{3BCD07A6-816B-833F-7B11-94609F2205AD}"/>
              </a:ext>
            </a:extLst>
          </p:cNvPr>
          <p:cNvSpPr txBox="1"/>
          <p:nvPr/>
        </p:nvSpPr>
        <p:spPr>
          <a:xfrm>
            <a:off x="1075571" y="8189000"/>
            <a:ext cx="1053604" cy="230832"/>
          </a:xfrm>
          <a:prstGeom prst="rect">
            <a:avLst/>
          </a:prstGeom>
          <a:noFill/>
        </p:spPr>
        <p:txBody>
          <a:bodyPr wrap="square">
            <a:spAutoFit/>
          </a:bodyPr>
          <a:lstStyle/>
          <a:p>
            <a:pPr algn="ctr"/>
            <a:r>
              <a:rPr kumimoji="0" lang="en-US" sz="85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2,540 kWh</a:t>
            </a:r>
            <a:endParaRPr lang="en-MY" sz="850" b="1" dirty="0">
              <a:solidFill>
                <a:srgbClr val="F454CD"/>
              </a:solidFill>
            </a:endParaRPr>
          </a:p>
        </p:txBody>
      </p:sp>
      <p:sp>
        <p:nvSpPr>
          <p:cNvPr id="121" name="daytime_percent_5">
            <a:extLst>
              <a:ext uri="{FF2B5EF4-FFF2-40B4-BE49-F238E27FC236}">
                <a16:creationId xmlns:a16="http://schemas.microsoft.com/office/drawing/2014/main" id="{1CE48A58-46E9-D2B0-8FF4-3AFFDE951993}"/>
              </a:ext>
            </a:extLst>
          </p:cNvPr>
          <p:cNvSpPr txBox="1"/>
          <p:nvPr/>
        </p:nvSpPr>
        <p:spPr>
          <a:xfrm>
            <a:off x="2010500" y="798059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40%</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2" name="daytime_kwh_5">
            <a:extLst>
              <a:ext uri="{FF2B5EF4-FFF2-40B4-BE49-F238E27FC236}">
                <a16:creationId xmlns:a16="http://schemas.microsoft.com/office/drawing/2014/main" id="{B7A9AA94-5A3E-D15E-DB8A-7B9F185EBD52}"/>
              </a:ext>
            </a:extLst>
          </p:cNvPr>
          <p:cNvSpPr txBox="1"/>
          <p:nvPr/>
        </p:nvSpPr>
        <p:spPr>
          <a:xfrm>
            <a:off x="1913174" y="8193348"/>
            <a:ext cx="1126123" cy="230832"/>
          </a:xfrm>
          <a:prstGeom prst="rect">
            <a:avLst/>
          </a:prstGeom>
          <a:noFill/>
        </p:spPr>
        <p:txBody>
          <a:bodyPr wrap="square">
            <a:spAutoFit/>
          </a:bodyPr>
          <a:lstStyle/>
          <a:p>
            <a:pPr algn="ctr"/>
            <a:r>
              <a:rPr lang="en-US" sz="850" b="1">
                <a:solidFill>
                  <a:srgbClr val="F454CD"/>
                </a:solidFill>
                <a:latin typeface="Work Sans" pitchFamily="2" charset="77"/>
                <a:ea typeface="Work Sans Light"/>
                <a:cs typeface="Work Sans Light"/>
                <a:sym typeface="Work Sans Light"/>
              </a:rPr>
              <a:t>1,016 kWh</a:t>
            </a:r>
            <a:endParaRPr lang="en-MY" sz="850" b="1" dirty="0">
              <a:solidFill>
                <a:srgbClr val="F454CD"/>
              </a:solidFill>
            </a:endParaRPr>
          </a:p>
        </p:txBody>
      </p:sp>
      <p:sp>
        <p:nvSpPr>
          <p:cNvPr id="123" name="new_tnb_5">
            <a:extLst>
              <a:ext uri="{FF2B5EF4-FFF2-40B4-BE49-F238E27FC236}">
                <a16:creationId xmlns:a16="http://schemas.microsoft.com/office/drawing/2014/main" id="{D8BB6747-EE2E-C4DB-4D25-57929F049430}"/>
              </a:ext>
            </a:extLst>
          </p:cNvPr>
          <p:cNvSpPr txBox="1"/>
          <p:nvPr/>
        </p:nvSpPr>
        <p:spPr>
          <a:xfrm>
            <a:off x="2923983" y="805491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RM651</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4" name="solar_savings_5">
            <a:extLst>
              <a:ext uri="{FF2B5EF4-FFF2-40B4-BE49-F238E27FC236}">
                <a16:creationId xmlns:a16="http://schemas.microsoft.com/office/drawing/2014/main" id="{391E6460-A17D-EA56-4463-30B65AF650F1}"/>
              </a:ext>
            </a:extLst>
          </p:cNvPr>
          <p:cNvSpPr txBox="1"/>
          <p:nvPr/>
        </p:nvSpPr>
        <p:spPr>
          <a:xfrm>
            <a:off x="3814111" y="801297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RM849</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6" name="solar_savings_percent_5">
            <a:extLst>
              <a:ext uri="{FF2B5EF4-FFF2-40B4-BE49-F238E27FC236}">
                <a16:creationId xmlns:a16="http://schemas.microsoft.com/office/drawing/2014/main" id="{5B98F5F9-99D7-A222-F47E-DDD3E1A5E9EC}"/>
              </a:ext>
            </a:extLst>
          </p:cNvPr>
          <p:cNvSpPr txBox="1"/>
          <p:nvPr/>
        </p:nvSpPr>
        <p:spPr>
          <a:xfrm>
            <a:off x="3927865" y="8179239"/>
            <a:ext cx="736305" cy="230832"/>
          </a:xfrm>
          <a:prstGeom prst="rect">
            <a:avLst/>
          </a:prstGeom>
          <a:noFill/>
        </p:spPr>
        <p:txBody>
          <a:bodyPr wrap="square">
            <a:spAutoFit/>
          </a:bodyPr>
          <a:lstStyle/>
          <a:p>
            <a:pPr algn="ctr"/>
            <a:r>
              <a:rPr lang="en-US" sz="900" b="1">
                <a:solidFill>
                  <a:srgbClr val="F454CD"/>
                </a:solidFill>
                <a:latin typeface="Work Sans" pitchFamily="2" charset="77"/>
                <a:ea typeface="Work Sans Light"/>
                <a:cs typeface="Work Sans Light"/>
                <a:sym typeface="Work Sans Light"/>
              </a:rPr>
              <a:t>57%</a:t>
            </a:r>
            <a:endParaRPr lang="en-MY" sz="900" b="1" dirty="0">
              <a:solidFill>
                <a:srgbClr val="F454CD"/>
              </a:solidFill>
            </a:endParaRPr>
          </a:p>
        </p:txBody>
      </p:sp>
      <p:sp>
        <p:nvSpPr>
          <p:cNvPr id="127" name="5y_5">
            <a:extLst>
              <a:ext uri="{FF2B5EF4-FFF2-40B4-BE49-F238E27FC236}">
                <a16:creationId xmlns:a16="http://schemas.microsoft.com/office/drawing/2014/main" id="{CDE05730-954A-92A4-DA7B-08F1C4E4CAAE}"/>
              </a:ext>
            </a:extLst>
          </p:cNvPr>
          <p:cNvSpPr txBox="1"/>
          <p:nvPr/>
        </p:nvSpPr>
        <p:spPr>
          <a:xfrm>
            <a:off x="4693375" y="805266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RM593</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8" name="op_5">
            <a:extLst>
              <a:ext uri="{FF2B5EF4-FFF2-40B4-BE49-F238E27FC236}">
                <a16:creationId xmlns:a16="http://schemas.microsoft.com/office/drawing/2014/main" id="{F8363511-538D-04DC-4643-F8F5218A9130}"/>
              </a:ext>
            </a:extLst>
          </p:cNvPr>
          <p:cNvSpPr txBox="1"/>
          <p:nvPr/>
        </p:nvSpPr>
        <p:spPr>
          <a:xfrm>
            <a:off x="5497360" y="8050060"/>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RM35,600</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9" name="payback_5">
            <a:extLst>
              <a:ext uri="{FF2B5EF4-FFF2-40B4-BE49-F238E27FC236}">
                <a16:creationId xmlns:a16="http://schemas.microsoft.com/office/drawing/2014/main" id="{FDC2C539-45B3-3543-F58D-BEEEDEADCF18}"/>
              </a:ext>
            </a:extLst>
          </p:cNvPr>
          <p:cNvSpPr txBox="1"/>
          <p:nvPr/>
        </p:nvSpPr>
        <p:spPr>
          <a:xfrm>
            <a:off x="6359723" y="804270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100" b="1">
                <a:solidFill>
                  <a:srgbClr val="F454CD"/>
                </a:solidFill>
                <a:latin typeface="Work Sans" pitchFamily="2" charset="77"/>
                <a:ea typeface="Work Sans Light"/>
                <a:cs typeface="Work Sans Light"/>
                <a:sym typeface="Work Sans Light"/>
              </a:rPr>
              <a:t>3.5  Years</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4" name="b_1_1">
            <a:extLst>
              <a:ext uri="{FF2B5EF4-FFF2-40B4-BE49-F238E27FC236}">
                <a16:creationId xmlns:a16="http://schemas.microsoft.com/office/drawing/2014/main" id="{0A6E5187-1B4D-B310-9403-8AB6575EB71D}"/>
              </a:ext>
            </a:extLst>
          </p:cNvPr>
          <p:cNvSpPr txBox="1"/>
          <p:nvPr/>
        </p:nvSpPr>
        <p:spPr>
          <a:xfrm>
            <a:off x="99843" y="4568504"/>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7" name="b_1_2">
            <a:extLst>
              <a:ext uri="{FF2B5EF4-FFF2-40B4-BE49-F238E27FC236}">
                <a16:creationId xmlns:a16="http://schemas.microsoft.com/office/drawing/2014/main" id="{FDA7013D-0D7D-18C8-FCFA-9301A020AF8B}"/>
              </a:ext>
            </a:extLst>
          </p:cNvPr>
          <p:cNvSpPr txBox="1"/>
          <p:nvPr/>
        </p:nvSpPr>
        <p:spPr>
          <a:xfrm>
            <a:off x="971597" y="458147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10" name="b_1_3">
            <a:extLst>
              <a:ext uri="{FF2B5EF4-FFF2-40B4-BE49-F238E27FC236}">
                <a16:creationId xmlns:a16="http://schemas.microsoft.com/office/drawing/2014/main" id="{5A44589F-F87D-8D84-F068-63973B3602DB}"/>
              </a:ext>
            </a:extLst>
          </p:cNvPr>
          <p:cNvSpPr txBox="1"/>
          <p:nvPr/>
        </p:nvSpPr>
        <p:spPr>
          <a:xfrm>
            <a:off x="1852869" y="4575875"/>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12" name="b_1_4">
            <a:extLst>
              <a:ext uri="{FF2B5EF4-FFF2-40B4-BE49-F238E27FC236}">
                <a16:creationId xmlns:a16="http://schemas.microsoft.com/office/drawing/2014/main" id="{16252892-CF50-7B1A-CDF3-6256CFC1616F}"/>
              </a:ext>
            </a:extLst>
          </p:cNvPr>
          <p:cNvSpPr txBox="1"/>
          <p:nvPr/>
        </p:nvSpPr>
        <p:spPr>
          <a:xfrm>
            <a:off x="3801664" y="4575949"/>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44" name="b_2_1">
            <a:extLst>
              <a:ext uri="{FF2B5EF4-FFF2-40B4-BE49-F238E27FC236}">
                <a16:creationId xmlns:a16="http://schemas.microsoft.com/office/drawing/2014/main" id="{794547D7-9CF0-0748-F47B-1E2A7ABA09DA}"/>
              </a:ext>
            </a:extLst>
          </p:cNvPr>
          <p:cNvSpPr txBox="1"/>
          <p:nvPr/>
        </p:nvSpPr>
        <p:spPr>
          <a:xfrm>
            <a:off x="93256" y="544960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45" name="b_2_2">
            <a:extLst>
              <a:ext uri="{FF2B5EF4-FFF2-40B4-BE49-F238E27FC236}">
                <a16:creationId xmlns:a16="http://schemas.microsoft.com/office/drawing/2014/main" id="{C64E7F92-F999-4CF1-FF7C-FE6C56383092}"/>
              </a:ext>
            </a:extLst>
          </p:cNvPr>
          <p:cNvSpPr txBox="1"/>
          <p:nvPr/>
        </p:nvSpPr>
        <p:spPr>
          <a:xfrm>
            <a:off x="975182" y="5453702"/>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46" name="b_2_3">
            <a:extLst>
              <a:ext uri="{FF2B5EF4-FFF2-40B4-BE49-F238E27FC236}">
                <a16:creationId xmlns:a16="http://schemas.microsoft.com/office/drawing/2014/main" id="{96DE62FB-F00C-E6F7-214B-66AE301DB66A}"/>
              </a:ext>
            </a:extLst>
          </p:cNvPr>
          <p:cNvSpPr txBox="1"/>
          <p:nvPr/>
        </p:nvSpPr>
        <p:spPr>
          <a:xfrm>
            <a:off x="1837404" y="5455684"/>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 </a:t>
            </a:r>
          </a:p>
        </p:txBody>
      </p:sp>
      <p:sp>
        <p:nvSpPr>
          <p:cNvPr id="47" name="b_2_4">
            <a:extLst>
              <a:ext uri="{FF2B5EF4-FFF2-40B4-BE49-F238E27FC236}">
                <a16:creationId xmlns:a16="http://schemas.microsoft.com/office/drawing/2014/main" id="{0172A390-B7AE-1E52-382A-A92146B321BD}"/>
              </a:ext>
            </a:extLst>
          </p:cNvPr>
          <p:cNvSpPr txBox="1"/>
          <p:nvPr/>
        </p:nvSpPr>
        <p:spPr>
          <a:xfrm>
            <a:off x="3795077" y="5466577"/>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51" name="b_3_1">
            <a:extLst>
              <a:ext uri="{FF2B5EF4-FFF2-40B4-BE49-F238E27FC236}">
                <a16:creationId xmlns:a16="http://schemas.microsoft.com/office/drawing/2014/main" id="{E77F56B3-F123-324E-82E4-5AD163A10491}"/>
              </a:ext>
            </a:extLst>
          </p:cNvPr>
          <p:cNvSpPr txBox="1"/>
          <p:nvPr/>
        </p:nvSpPr>
        <p:spPr>
          <a:xfrm>
            <a:off x="112290" y="6364893"/>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2" name="b_3_2">
            <a:extLst>
              <a:ext uri="{FF2B5EF4-FFF2-40B4-BE49-F238E27FC236}">
                <a16:creationId xmlns:a16="http://schemas.microsoft.com/office/drawing/2014/main" id="{6E81AF9F-DCDF-23A7-DD35-973A54BA95C9}"/>
              </a:ext>
            </a:extLst>
          </p:cNvPr>
          <p:cNvSpPr txBox="1"/>
          <p:nvPr/>
        </p:nvSpPr>
        <p:spPr>
          <a:xfrm>
            <a:off x="966288" y="6368988"/>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3" name="b_3_3">
            <a:extLst>
              <a:ext uri="{FF2B5EF4-FFF2-40B4-BE49-F238E27FC236}">
                <a16:creationId xmlns:a16="http://schemas.microsoft.com/office/drawing/2014/main" id="{4CEA9BA7-E80E-EEBE-E31A-5623E43F381D}"/>
              </a:ext>
            </a:extLst>
          </p:cNvPr>
          <p:cNvSpPr txBox="1"/>
          <p:nvPr/>
        </p:nvSpPr>
        <p:spPr>
          <a:xfrm>
            <a:off x="1856438" y="637161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4" name="b_3_4">
            <a:extLst>
              <a:ext uri="{FF2B5EF4-FFF2-40B4-BE49-F238E27FC236}">
                <a16:creationId xmlns:a16="http://schemas.microsoft.com/office/drawing/2014/main" id="{B1949ED2-F809-4A84-61A5-151F9C5E2546}"/>
              </a:ext>
            </a:extLst>
          </p:cNvPr>
          <p:cNvSpPr txBox="1"/>
          <p:nvPr/>
        </p:nvSpPr>
        <p:spPr>
          <a:xfrm>
            <a:off x="3814111" y="6382510"/>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55" name="b_4_1">
            <a:extLst>
              <a:ext uri="{FF2B5EF4-FFF2-40B4-BE49-F238E27FC236}">
                <a16:creationId xmlns:a16="http://schemas.microsoft.com/office/drawing/2014/main" id="{D37D862A-22CD-A1FD-2AE6-F1BE0B66FE66}"/>
              </a:ext>
            </a:extLst>
          </p:cNvPr>
          <p:cNvSpPr txBox="1"/>
          <p:nvPr/>
        </p:nvSpPr>
        <p:spPr>
          <a:xfrm>
            <a:off x="112290" y="7248792"/>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6" name="b_4_2">
            <a:extLst>
              <a:ext uri="{FF2B5EF4-FFF2-40B4-BE49-F238E27FC236}">
                <a16:creationId xmlns:a16="http://schemas.microsoft.com/office/drawing/2014/main" id="{D9ED1EA4-F9E2-4976-61C3-63CB1D2C4025}"/>
              </a:ext>
            </a:extLst>
          </p:cNvPr>
          <p:cNvSpPr txBox="1"/>
          <p:nvPr/>
        </p:nvSpPr>
        <p:spPr>
          <a:xfrm>
            <a:off x="966288" y="725288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7" name="b_4_3">
            <a:extLst>
              <a:ext uri="{FF2B5EF4-FFF2-40B4-BE49-F238E27FC236}">
                <a16:creationId xmlns:a16="http://schemas.microsoft.com/office/drawing/2014/main" id="{E1F56D67-31BE-240C-570F-9633DA025827}"/>
              </a:ext>
            </a:extLst>
          </p:cNvPr>
          <p:cNvSpPr txBox="1"/>
          <p:nvPr/>
        </p:nvSpPr>
        <p:spPr>
          <a:xfrm>
            <a:off x="1865316" y="7265041"/>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8" name="b_4_4">
            <a:extLst>
              <a:ext uri="{FF2B5EF4-FFF2-40B4-BE49-F238E27FC236}">
                <a16:creationId xmlns:a16="http://schemas.microsoft.com/office/drawing/2014/main" id="{BE3FD0F7-B837-2EE9-ABA8-E0FC70A1EAAA}"/>
              </a:ext>
            </a:extLst>
          </p:cNvPr>
          <p:cNvSpPr txBox="1"/>
          <p:nvPr/>
        </p:nvSpPr>
        <p:spPr>
          <a:xfrm>
            <a:off x="3814111" y="7265762"/>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60" name="b_5_1">
            <a:extLst>
              <a:ext uri="{FF2B5EF4-FFF2-40B4-BE49-F238E27FC236}">
                <a16:creationId xmlns:a16="http://schemas.microsoft.com/office/drawing/2014/main" id="{B357AE48-AE0A-C22A-BD24-11B6603EABDD}"/>
              </a:ext>
            </a:extLst>
          </p:cNvPr>
          <p:cNvSpPr txBox="1"/>
          <p:nvPr/>
        </p:nvSpPr>
        <p:spPr>
          <a:xfrm>
            <a:off x="102134" y="8163729"/>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
        <p:nvSpPr>
          <p:cNvPr id="61" name="b_5_2">
            <a:extLst>
              <a:ext uri="{FF2B5EF4-FFF2-40B4-BE49-F238E27FC236}">
                <a16:creationId xmlns:a16="http://schemas.microsoft.com/office/drawing/2014/main" id="{671F9241-768C-4CD7-8708-A1CAEF8EE7BB}"/>
              </a:ext>
            </a:extLst>
          </p:cNvPr>
          <p:cNvSpPr txBox="1"/>
          <p:nvPr/>
        </p:nvSpPr>
        <p:spPr>
          <a:xfrm>
            <a:off x="984060" y="8176701"/>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
        <p:nvSpPr>
          <p:cNvPr id="62" name="b_5_3">
            <a:extLst>
              <a:ext uri="{FF2B5EF4-FFF2-40B4-BE49-F238E27FC236}">
                <a16:creationId xmlns:a16="http://schemas.microsoft.com/office/drawing/2014/main" id="{6CBC9D6D-A5E8-4E5A-9353-B53D26699D48}"/>
              </a:ext>
            </a:extLst>
          </p:cNvPr>
          <p:cNvSpPr txBox="1"/>
          <p:nvPr/>
        </p:nvSpPr>
        <p:spPr>
          <a:xfrm>
            <a:off x="1846282" y="8188211"/>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
        <p:nvSpPr>
          <p:cNvPr id="63" name="b_5_4">
            <a:extLst>
              <a:ext uri="{FF2B5EF4-FFF2-40B4-BE49-F238E27FC236}">
                <a16:creationId xmlns:a16="http://schemas.microsoft.com/office/drawing/2014/main" id="{DA555090-6B14-36F7-9130-D03957F26A49}"/>
              </a:ext>
            </a:extLst>
          </p:cNvPr>
          <p:cNvSpPr txBox="1"/>
          <p:nvPr/>
        </p:nvSpPr>
        <p:spPr>
          <a:xfrm>
            <a:off x="3814127" y="8180699"/>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Tree>
    <p:extLst>
      <p:ext uri="{BB962C8B-B14F-4D97-AF65-F5344CB8AC3E}">
        <p14:creationId xmlns:p14="http://schemas.microsoft.com/office/powerpoint/2010/main" val="419054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D3331-0378-C2C9-9874-357C57D6E912}"/>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3107B20B-5CF9-FCF7-44F9-6811DB31276D}"/>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9962E097-6451-52E0-956C-423FF42262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E3FAC2C0-1D1F-E011-ED94-6D164CFF3EF9}"/>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graphicFrame>
        <p:nvGraphicFramePr>
          <p:cNvPr id="2" name="Google Shape;179;p3">
            <a:extLst>
              <a:ext uri="{FF2B5EF4-FFF2-40B4-BE49-F238E27FC236}">
                <a16:creationId xmlns:a16="http://schemas.microsoft.com/office/drawing/2014/main" id="{95D7E335-54B6-0FE4-3302-7C16CF16781C}"/>
              </a:ext>
            </a:extLst>
          </p:cNvPr>
          <p:cNvGraphicFramePr/>
          <p:nvPr>
            <p:extLst>
              <p:ext uri="{D42A27DB-BD31-4B8C-83A1-F6EECF244321}">
                <p14:modId xmlns:p14="http://schemas.microsoft.com/office/powerpoint/2010/main" val="2658654377"/>
              </p:ext>
            </p:extLst>
          </p:nvPr>
        </p:nvGraphicFramePr>
        <p:xfrm>
          <a:off x="284533" y="1887927"/>
          <a:ext cx="6972852" cy="7776000"/>
        </p:xfrm>
        <a:graphic>
          <a:graphicData uri="http://schemas.openxmlformats.org/drawingml/2006/table">
            <a:tbl>
              <a:tblPr firstRow="1" bandRow="1">
                <a:noFill/>
              </a:tblPr>
              <a:tblGrid>
                <a:gridCol w="1383213">
                  <a:extLst>
                    <a:ext uri="{9D8B030D-6E8A-4147-A177-3AD203B41FA5}">
                      <a16:colId xmlns:a16="http://schemas.microsoft.com/office/drawing/2014/main" val="20000"/>
                    </a:ext>
                  </a:extLst>
                </a:gridCol>
                <a:gridCol w="1383213">
                  <a:extLst>
                    <a:ext uri="{9D8B030D-6E8A-4147-A177-3AD203B41FA5}">
                      <a16:colId xmlns:a16="http://schemas.microsoft.com/office/drawing/2014/main" val="3571867225"/>
                    </a:ext>
                  </a:extLst>
                </a:gridCol>
                <a:gridCol w="1440000">
                  <a:extLst>
                    <a:ext uri="{9D8B030D-6E8A-4147-A177-3AD203B41FA5}">
                      <a16:colId xmlns:a16="http://schemas.microsoft.com/office/drawing/2014/main" val="2993904043"/>
                    </a:ext>
                  </a:extLst>
                </a:gridCol>
                <a:gridCol w="1383213">
                  <a:extLst>
                    <a:ext uri="{9D8B030D-6E8A-4147-A177-3AD203B41FA5}">
                      <a16:colId xmlns:a16="http://schemas.microsoft.com/office/drawing/2014/main" val="20004"/>
                    </a:ext>
                  </a:extLst>
                </a:gridCol>
                <a:gridCol w="1383213">
                  <a:extLst>
                    <a:ext uri="{9D8B030D-6E8A-4147-A177-3AD203B41FA5}">
                      <a16:colId xmlns:a16="http://schemas.microsoft.com/office/drawing/2014/main" val="20005"/>
                    </a:ext>
                  </a:extLst>
                </a:gridCol>
              </a:tblGrid>
              <a:tr h="720000">
                <a:tc gridSpan="5">
                  <a:txBody>
                    <a:bodyPr/>
                    <a:lstStyle/>
                    <a:p>
                      <a:pPr marL="0" marR="0" lvl="0" indent="0" algn="l" rtl="0">
                        <a:spcBef>
                          <a:spcPts val="0"/>
                        </a:spcBef>
                        <a:spcAft>
                          <a:spcPts val="0"/>
                        </a:spcAft>
                        <a:buNone/>
                      </a:pPr>
                      <a:r>
                        <a:rPr lang="en-MY" sz="1000" b="0" i="0" dirty="0">
                          <a:solidFill>
                            <a:schemeClr val="tx1"/>
                          </a:solidFill>
                          <a:latin typeface="Work Sans" pitchFamily="2" charset="77"/>
                        </a:rPr>
                        <a:t>The tables below illustrates estimated solar savings from a                 system under different TNB bill and Daytime Electricity Use scenarios. Variations in savings are primarily driven by two factors:</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How TNB calculates your electricity bill</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The Solar ATAP mechanism, which affects how excess Solar Electricity exports are valued</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9661595"/>
                  </a:ext>
                </a:extLst>
              </a:tr>
              <a:tr h="720000">
                <a:tc gridSpan="5">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600" b="1" i="0" dirty="0">
                          <a:solidFill>
                            <a:srgbClr val="F454CD"/>
                          </a:solidFill>
                          <a:latin typeface="Work Sans" pitchFamily="2" charset="77"/>
                        </a:rPr>
                        <a:t>Different TNB Bill Before Solar</a:t>
                      </a:r>
                      <a:endParaRPr sz="11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rtl="0">
                        <a:spcBef>
                          <a:spcPts val="0"/>
                        </a:spcBef>
                        <a:spcAft>
                          <a:spcPts val="0"/>
                        </a:spcAft>
                        <a:buNone/>
                      </a:pPr>
                      <a:endParaRPr lang="en-US" sz="1200" b="1"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sz="2400" b="1" i="0" dirty="0">
                        <a:solidFill>
                          <a:schemeClr val="tx1"/>
                        </a:solidFill>
                        <a:latin typeface="Work Sans" pitchFamily="2" charset="77"/>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TNB Bill </a:t>
                      </a:r>
                    </a:p>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Before Solar</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Daytime Electricity Use</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TNB Bill After Solar (+/-)</a:t>
                      </a: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Solar Savings (+/-)</a:t>
                      </a:r>
                    </a:p>
                  </a:txBody>
                  <a:tcPr marL="91450" marR="91450" marT="45725" marB="45725" anchor="b">
                    <a:lnL w="635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Payback</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397669446"/>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58619888"/>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rgbClr val="F454CD"/>
                          </a:solidFill>
                          <a:latin typeface="Work Sans" pitchFamily="2" charset="77"/>
                          <a:ea typeface="Work Sans Light"/>
                          <a:cs typeface="Work Sans Light"/>
                          <a:sym typeface="Work Sans Light"/>
                        </a:rPr>
                        <a:t>[                  ]</a:t>
                      </a:r>
                      <a:endParaRPr sz="800" b="0" i="0" dirty="0">
                        <a:solidFill>
                          <a:srgbClr val="F454CD"/>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endParaRPr lang="en-US" sz="1100" b="0" i="0" dirty="0">
                        <a:solidFill>
                          <a:srgbClr val="F454CD"/>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625853490"/>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3360665071"/>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2940168291"/>
                  </a:ext>
                </a:extLst>
              </a:tr>
              <a:tr h="720000">
                <a:tc gridSpan="5">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600" b="1" i="0" u="none" strike="noStrike" kern="1200" cap="none" spc="0" normalizeH="0" baseline="0" noProof="0" dirty="0">
                          <a:ln>
                            <a:noFill/>
                          </a:ln>
                          <a:solidFill>
                            <a:srgbClr val="F454CD"/>
                          </a:solidFill>
                          <a:effectLst/>
                          <a:uLnTx/>
                          <a:uFillTx/>
                          <a:latin typeface="Work Sans" pitchFamily="2" charset="77"/>
                          <a:ea typeface="+mn-ea"/>
                          <a:cs typeface="+mn-cs"/>
                        </a:rPr>
                        <a:t>Different Daytime Electricity Use %</a:t>
                      </a:r>
                      <a:endParaRPr kumimoji="0" lang="en-MY" sz="1100" b="1" i="0" u="none" strike="noStrike" kern="1200" cap="none" spc="0" normalizeH="0" baseline="0" noProof="0" dirty="0">
                        <a:ln>
                          <a:noFill/>
                        </a:ln>
                        <a:solidFill>
                          <a:srgbClr val="F454CD"/>
                        </a:solidFill>
                        <a:effectLst/>
                        <a:uLnTx/>
                        <a:uFillTx/>
                        <a:latin typeface="Work Sans" pitchFamily="2" charset="77"/>
                        <a:ea typeface="+mn-ea"/>
                        <a:cs typeface="+mn-cs"/>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rgbClr val="EBE9E8"/>
                      </a:solid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ECCFF"/>
                    </a:solidFill>
                  </a:tcPr>
                </a:tc>
                <a:extLst>
                  <a:ext uri="{0D108BD9-81ED-4DB2-BD59-A6C34878D82A}">
                    <a16:rowId xmlns:a16="http://schemas.microsoft.com/office/drawing/2014/main" val="339164424"/>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TNB Bill </a:t>
                      </a:r>
                    </a:p>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Before Solar</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noFill/>
                  </a:tcPr>
                </a:tc>
                <a:tc>
                  <a:txBody>
                    <a:body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Daytime Electricity Use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no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TNB Bill </a:t>
                      </a:r>
                    </a:p>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After Solar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BE9E8"/>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Solar Savings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Payback</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6984188"/>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8667413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223861442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rgbClr val="F454CD"/>
                          </a:solidFill>
                          <a:latin typeface="Work Sans" pitchFamily="2" charset="77"/>
                          <a:ea typeface="Work Sans Light"/>
                          <a:cs typeface="Work Sans Light"/>
                          <a:sym typeface="Work Sans Light"/>
                        </a:rPr>
                        <a:t>[                 ]</a:t>
                      </a:r>
                      <a:endParaRPr sz="800" b="0" i="0" dirty="0">
                        <a:solidFill>
                          <a:srgbClr val="F454CD"/>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endParaRPr lang="en-US" sz="1100" b="0" i="0" dirty="0">
                        <a:solidFill>
                          <a:srgbClr val="F454CD"/>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61848322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863716916"/>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756466798"/>
                  </a:ext>
                </a:extLst>
              </a:tr>
            </a:tbl>
          </a:graphicData>
        </a:graphic>
      </p:graphicFrame>
      <p:sp>
        <p:nvSpPr>
          <p:cNvPr id="9" name="TextBox 8">
            <a:extLst>
              <a:ext uri="{FF2B5EF4-FFF2-40B4-BE49-F238E27FC236}">
                <a16:creationId xmlns:a16="http://schemas.microsoft.com/office/drawing/2014/main" id="{BB93CDF6-C6B5-A86A-9D77-930B8EAFB896}"/>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10" name="TextBox 9">
            <a:extLst>
              <a:ext uri="{FF2B5EF4-FFF2-40B4-BE49-F238E27FC236}">
                <a16:creationId xmlns:a16="http://schemas.microsoft.com/office/drawing/2014/main" id="{D3C775C2-A445-6237-906E-42CD8A724069}"/>
              </a:ext>
            </a:extLst>
          </p:cNvPr>
          <p:cNvSpPr txBox="1"/>
          <p:nvPr/>
        </p:nvSpPr>
        <p:spPr>
          <a:xfrm>
            <a:off x="323837" y="405855"/>
            <a:ext cx="6912000" cy="1261884"/>
          </a:xfrm>
          <a:prstGeom prst="rect">
            <a:avLst/>
          </a:prstGeom>
          <a:noFill/>
        </p:spPr>
        <p:txBody>
          <a:bodyPr wrap="square" rtlCol="0">
            <a:spAutoFit/>
          </a:bodyPr>
          <a:lstStyle/>
          <a:p>
            <a:pPr lvl="0">
              <a:defRPr/>
            </a:pPr>
            <a:r>
              <a:rPr lang="en-US" sz="3200" b="1" dirty="0">
                <a:solidFill>
                  <a:srgbClr val="F454CD"/>
                </a:solidFill>
                <a:latin typeface="Work Sans" pitchFamily="2" charset="77"/>
              </a:rPr>
              <a:t>Savings Across Different Usage Scenarios</a:t>
            </a:r>
            <a:endParaRPr lang="en-US" sz="700" dirty="0">
              <a:solidFill>
                <a:prstClr val="black"/>
              </a:solidFill>
              <a:latin typeface="Work Sans" pitchFamily="2" charset="77"/>
            </a:endParaRPr>
          </a:p>
          <a:p>
            <a:pPr lvl="0">
              <a:defRPr/>
            </a:pPr>
            <a:r>
              <a:rPr lang="en-MY" sz="1200" dirty="0">
                <a:latin typeface="Work Sans" pitchFamily="2" charset="77"/>
              </a:rPr>
              <a:t>Understand how usage patterns can impact estimated solar savings.</a:t>
            </a:r>
            <a:endParaRPr lang="en-US" sz="1200" dirty="0">
              <a:solidFill>
                <a:prstClr val="black"/>
              </a:solidFill>
              <a:latin typeface="Work Sans" pitchFamily="2" charset="77"/>
            </a:endParaRPr>
          </a:p>
        </p:txBody>
      </p:sp>
      <p:sp>
        <p:nvSpPr>
          <p:cNvPr id="89" name="old_bill_1">
            <a:extLst>
              <a:ext uri="{FF2B5EF4-FFF2-40B4-BE49-F238E27FC236}">
                <a16:creationId xmlns:a16="http://schemas.microsoft.com/office/drawing/2014/main" id="{8725F3FB-1770-5323-1246-0550B527BB44}"/>
              </a:ext>
            </a:extLst>
          </p:cNvPr>
          <p:cNvSpPr txBox="1"/>
          <p:nvPr/>
        </p:nvSpPr>
        <p:spPr>
          <a:xfrm>
            <a:off x="495235" y="384761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RM1,400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0" name="old_kwh_1">
            <a:extLst>
              <a:ext uri="{FF2B5EF4-FFF2-40B4-BE49-F238E27FC236}">
                <a16:creationId xmlns:a16="http://schemas.microsoft.com/office/drawing/2014/main" id="{EAB64BD7-2DDB-A7AE-1EC2-63CB3D750BC0}"/>
              </a:ext>
            </a:extLst>
          </p:cNvPr>
          <p:cNvSpPr txBox="1"/>
          <p:nvPr/>
        </p:nvSpPr>
        <p:spPr>
          <a:xfrm>
            <a:off x="282395" y="4010770"/>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2,372 kWh</a:t>
            </a:r>
            <a:endParaRPr lang="en-MY" sz="900" dirty="0"/>
          </a:p>
        </p:txBody>
      </p:sp>
      <p:sp>
        <p:nvSpPr>
          <p:cNvPr id="91" name="daytime_percent_1">
            <a:extLst>
              <a:ext uri="{FF2B5EF4-FFF2-40B4-BE49-F238E27FC236}">
                <a16:creationId xmlns:a16="http://schemas.microsoft.com/office/drawing/2014/main" id="{2E163C9F-172B-76A2-3F51-2F5901247860}"/>
              </a:ext>
            </a:extLst>
          </p:cNvPr>
          <p:cNvSpPr txBox="1"/>
          <p:nvPr/>
        </p:nvSpPr>
        <p:spPr>
          <a:xfrm>
            <a:off x="1878657" y="383090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2" name="daytime_kwh_1">
            <a:extLst>
              <a:ext uri="{FF2B5EF4-FFF2-40B4-BE49-F238E27FC236}">
                <a16:creationId xmlns:a16="http://schemas.microsoft.com/office/drawing/2014/main" id="{0EEC62AD-F25D-E811-4069-C8B6CAFC0B02}"/>
              </a:ext>
            </a:extLst>
          </p:cNvPr>
          <p:cNvSpPr txBox="1"/>
          <p:nvPr/>
        </p:nvSpPr>
        <p:spPr>
          <a:xfrm>
            <a:off x="1580154" y="4014876"/>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948 kWh</a:t>
            </a:r>
            <a:endParaRPr lang="en-MY" sz="900" dirty="0"/>
          </a:p>
        </p:txBody>
      </p:sp>
      <p:sp>
        <p:nvSpPr>
          <p:cNvPr id="93" name="new_bill_1">
            <a:extLst>
              <a:ext uri="{FF2B5EF4-FFF2-40B4-BE49-F238E27FC236}">
                <a16:creationId xmlns:a16="http://schemas.microsoft.com/office/drawing/2014/main" id="{AC7FB353-1366-35CB-0158-6D8A248590EB}"/>
              </a:ext>
            </a:extLst>
          </p:cNvPr>
          <p:cNvSpPr txBox="1"/>
          <p:nvPr/>
        </p:nvSpPr>
        <p:spPr>
          <a:xfrm>
            <a:off x="3313802" y="390700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RM487</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4" name="savings_1">
            <a:extLst>
              <a:ext uri="{FF2B5EF4-FFF2-40B4-BE49-F238E27FC236}">
                <a16:creationId xmlns:a16="http://schemas.microsoft.com/office/drawing/2014/main" id="{D05D12A9-8332-B0FD-A6AA-B9B572DE0B6B}"/>
              </a:ext>
            </a:extLst>
          </p:cNvPr>
          <p:cNvSpPr txBox="1"/>
          <p:nvPr/>
        </p:nvSpPr>
        <p:spPr>
          <a:xfrm>
            <a:off x="4705114" y="384993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RM913</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5" name="savings_percent_1">
            <a:extLst>
              <a:ext uri="{FF2B5EF4-FFF2-40B4-BE49-F238E27FC236}">
                <a16:creationId xmlns:a16="http://schemas.microsoft.com/office/drawing/2014/main" id="{789A1252-379E-44F9-9DFB-A54C4239E2A0}"/>
              </a:ext>
            </a:extLst>
          </p:cNvPr>
          <p:cNvSpPr txBox="1"/>
          <p:nvPr/>
        </p:nvSpPr>
        <p:spPr>
          <a:xfrm>
            <a:off x="4827734" y="4004907"/>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65%</a:t>
            </a:r>
            <a:endParaRPr lang="en-MY" sz="900" dirty="0"/>
          </a:p>
        </p:txBody>
      </p:sp>
      <p:sp>
        <p:nvSpPr>
          <p:cNvPr id="96" name="payback_1">
            <a:extLst>
              <a:ext uri="{FF2B5EF4-FFF2-40B4-BE49-F238E27FC236}">
                <a16:creationId xmlns:a16="http://schemas.microsoft.com/office/drawing/2014/main" id="{602FE730-5B8D-B9AC-BB5B-2D8C96365996}"/>
              </a:ext>
            </a:extLst>
          </p:cNvPr>
          <p:cNvSpPr txBox="1"/>
          <p:nvPr/>
        </p:nvSpPr>
        <p:spPr>
          <a:xfrm>
            <a:off x="6099074" y="388280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3.3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7" name="old_bill_2">
            <a:extLst>
              <a:ext uri="{FF2B5EF4-FFF2-40B4-BE49-F238E27FC236}">
                <a16:creationId xmlns:a16="http://schemas.microsoft.com/office/drawing/2014/main" id="{5D6F770C-B286-652C-0638-C981B760AC42}"/>
              </a:ext>
            </a:extLst>
          </p:cNvPr>
          <p:cNvSpPr txBox="1"/>
          <p:nvPr/>
        </p:nvSpPr>
        <p:spPr>
          <a:xfrm>
            <a:off x="495235" y="431678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RM1,450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8" name="old_kwh_2">
            <a:extLst>
              <a:ext uri="{FF2B5EF4-FFF2-40B4-BE49-F238E27FC236}">
                <a16:creationId xmlns:a16="http://schemas.microsoft.com/office/drawing/2014/main" id="{50AFDDCD-C515-D2CF-A868-064591C1D142}"/>
              </a:ext>
            </a:extLst>
          </p:cNvPr>
          <p:cNvSpPr txBox="1"/>
          <p:nvPr/>
        </p:nvSpPr>
        <p:spPr>
          <a:xfrm>
            <a:off x="282395" y="4484475"/>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2,456 kWh</a:t>
            </a:r>
            <a:endParaRPr lang="en-MY" sz="900" dirty="0"/>
          </a:p>
        </p:txBody>
      </p:sp>
      <p:sp>
        <p:nvSpPr>
          <p:cNvPr id="99" name="daytime_percent_2">
            <a:extLst>
              <a:ext uri="{FF2B5EF4-FFF2-40B4-BE49-F238E27FC236}">
                <a16:creationId xmlns:a16="http://schemas.microsoft.com/office/drawing/2014/main" id="{A9163C03-1AA4-12E7-D11C-291012779B57}"/>
              </a:ext>
            </a:extLst>
          </p:cNvPr>
          <p:cNvSpPr txBox="1"/>
          <p:nvPr/>
        </p:nvSpPr>
        <p:spPr>
          <a:xfrm>
            <a:off x="1878657" y="429054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0" name="daytime_kwh_2">
            <a:extLst>
              <a:ext uri="{FF2B5EF4-FFF2-40B4-BE49-F238E27FC236}">
                <a16:creationId xmlns:a16="http://schemas.microsoft.com/office/drawing/2014/main" id="{6CB3A54E-47CB-79F8-1E41-714A545D4BF2}"/>
              </a:ext>
            </a:extLst>
          </p:cNvPr>
          <p:cNvSpPr txBox="1"/>
          <p:nvPr/>
        </p:nvSpPr>
        <p:spPr>
          <a:xfrm>
            <a:off x="1565640" y="4474520"/>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982 kWh</a:t>
            </a:r>
            <a:endParaRPr lang="en-MY" sz="900" dirty="0"/>
          </a:p>
        </p:txBody>
      </p:sp>
      <p:sp>
        <p:nvSpPr>
          <p:cNvPr id="101" name="new_bill_2">
            <a:extLst>
              <a:ext uri="{FF2B5EF4-FFF2-40B4-BE49-F238E27FC236}">
                <a16:creationId xmlns:a16="http://schemas.microsoft.com/office/drawing/2014/main" id="{20257088-F9DD-3801-E0CA-D333A730635F}"/>
              </a:ext>
            </a:extLst>
          </p:cNvPr>
          <p:cNvSpPr txBox="1"/>
          <p:nvPr/>
        </p:nvSpPr>
        <p:spPr>
          <a:xfrm>
            <a:off x="3313802" y="437617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RM520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2" name="savings_2">
            <a:extLst>
              <a:ext uri="{FF2B5EF4-FFF2-40B4-BE49-F238E27FC236}">
                <a16:creationId xmlns:a16="http://schemas.microsoft.com/office/drawing/2014/main" id="{FFA59D94-A5AC-1D0C-AFCF-C22A34AEED0C}"/>
              </a:ext>
            </a:extLst>
          </p:cNvPr>
          <p:cNvSpPr txBox="1"/>
          <p:nvPr/>
        </p:nvSpPr>
        <p:spPr>
          <a:xfrm>
            <a:off x="4705114" y="431910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RM929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3" name="savings_percent_2">
            <a:extLst>
              <a:ext uri="{FF2B5EF4-FFF2-40B4-BE49-F238E27FC236}">
                <a16:creationId xmlns:a16="http://schemas.microsoft.com/office/drawing/2014/main" id="{6ABD94C1-9AE7-2D5D-E990-3E27D1619B29}"/>
              </a:ext>
            </a:extLst>
          </p:cNvPr>
          <p:cNvSpPr txBox="1"/>
          <p:nvPr/>
        </p:nvSpPr>
        <p:spPr>
          <a:xfrm>
            <a:off x="4828180" y="447407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64%</a:t>
            </a:r>
            <a:endParaRPr lang="en-MY" sz="900" dirty="0"/>
          </a:p>
        </p:txBody>
      </p:sp>
      <p:sp>
        <p:nvSpPr>
          <p:cNvPr id="104" name="payback_2">
            <a:extLst>
              <a:ext uri="{FF2B5EF4-FFF2-40B4-BE49-F238E27FC236}">
                <a16:creationId xmlns:a16="http://schemas.microsoft.com/office/drawing/2014/main" id="{3F80D1B2-37F2-AE7D-2F1E-93140F385DBA}"/>
              </a:ext>
            </a:extLst>
          </p:cNvPr>
          <p:cNvSpPr txBox="1"/>
          <p:nvPr/>
        </p:nvSpPr>
        <p:spPr>
          <a:xfrm>
            <a:off x="6099074" y="439069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3.2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5" name="old_bill_3">
            <a:extLst>
              <a:ext uri="{FF2B5EF4-FFF2-40B4-BE49-F238E27FC236}">
                <a16:creationId xmlns:a16="http://schemas.microsoft.com/office/drawing/2014/main" id="{6404886A-B5D4-5136-9122-C087A26AE4A0}"/>
              </a:ext>
            </a:extLst>
          </p:cNvPr>
          <p:cNvSpPr txBox="1"/>
          <p:nvPr/>
        </p:nvSpPr>
        <p:spPr>
          <a:xfrm>
            <a:off x="495235" y="4763386"/>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RM1,500</a:t>
            </a:r>
          </a:p>
        </p:txBody>
      </p:sp>
      <p:sp>
        <p:nvSpPr>
          <p:cNvPr id="106" name="old_kwh_3">
            <a:extLst>
              <a:ext uri="{FF2B5EF4-FFF2-40B4-BE49-F238E27FC236}">
                <a16:creationId xmlns:a16="http://schemas.microsoft.com/office/drawing/2014/main" id="{69A23F96-43B6-224C-CA05-786FDF655819}"/>
              </a:ext>
            </a:extLst>
          </p:cNvPr>
          <p:cNvSpPr txBox="1"/>
          <p:nvPr/>
        </p:nvSpPr>
        <p:spPr>
          <a:xfrm>
            <a:off x="296020" y="4931079"/>
            <a:ext cx="1381406" cy="230832"/>
          </a:xfrm>
          <a:prstGeom prst="rect">
            <a:avLst/>
          </a:prstGeom>
          <a:noFill/>
        </p:spPr>
        <p:txBody>
          <a:bodyPr wrap="square">
            <a:spAutoFit/>
          </a:bodyPr>
          <a:lstStyle/>
          <a:p>
            <a:pPr algn="ct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2,540 kWh</a:t>
            </a:r>
            <a:endParaRPr lang="en-MY" sz="900" b="1" dirty="0">
              <a:solidFill>
                <a:srgbClr val="F454CD"/>
              </a:solidFill>
            </a:endParaRPr>
          </a:p>
        </p:txBody>
      </p:sp>
      <p:sp>
        <p:nvSpPr>
          <p:cNvPr id="107" name="daytime_percent_3">
            <a:extLst>
              <a:ext uri="{FF2B5EF4-FFF2-40B4-BE49-F238E27FC236}">
                <a16:creationId xmlns:a16="http://schemas.microsoft.com/office/drawing/2014/main" id="{AEB7EDC0-F2D0-A724-52A9-1AD8CE4CA81C}"/>
              </a:ext>
            </a:extLst>
          </p:cNvPr>
          <p:cNvSpPr txBox="1"/>
          <p:nvPr/>
        </p:nvSpPr>
        <p:spPr>
          <a:xfrm>
            <a:off x="1878657" y="477480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40%</a:t>
            </a:r>
          </a:p>
        </p:txBody>
      </p:sp>
      <p:sp>
        <p:nvSpPr>
          <p:cNvPr id="108" name="daytime_kwh_3">
            <a:extLst>
              <a:ext uri="{FF2B5EF4-FFF2-40B4-BE49-F238E27FC236}">
                <a16:creationId xmlns:a16="http://schemas.microsoft.com/office/drawing/2014/main" id="{8E120EF0-18AA-A251-5261-6B6E78636271}"/>
              </a:ext>
            </a:extLst>
          </p:cNvPr>
          <p:cNvSpPr txBox="1"/>
          <p:nvPr/>
        </p:nvSpPr>
        <p:spPr>
          <a:xfrm>
            <a:off x="1566086" y="4930647"/>
            <a:ext cx="1609905" cy="230832"/>
          </a:xfrm>
          <a:prstGeom prst="rect">
            <a:avLst/>
          </a:prstGeom>
          <a:noFill/>
        </p:spPr>
        <p:txBody>
          <a:bodyPr wrap="square">
            <a:spAutoFit/>
          </a:bodyPr>
          <a:lstStyle/>
          <a:p>
            <a:pPr algn="ct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1,016 kWh</a:t>
            </a:r>
            <a:endParaRPr lang="en-MY" sz="900" b="1" dirty="0">
              <a:solidFill>
                <a:srgbClr val="F454CD"/>
              </a:solidFill>
            </a:endParaRPr>
          </a:p>
        </p:txBody>
      </p:sp>
      <p:sp>
        <p:nvSpPr>
          <p:cNvPr id="109" name="new_bill_3">
            <a:extLst>
              <a:ext uri="{FF2B5EF4-FFF2-40B4-BE49-F238E27FC236}">
                <a16:creationId xmlns:a16="http://schemas.microsoft.com/office/drawing/2014/main" id="{FF1DDA52-8213-9030-F57E-2B97183C10C5}"/>
              </a:ext>
            </a:extLst>
          </p:cNvPr>
          <p:cNvSpPr txBox="1"/>
          <p:nvPr/>
        </p:nvSpPr>
        <p:spPr>
          <a:xfrm>
            <a:off x="3313802" y="484637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RM651</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0" name="savings_3">
            <a:extLst>
              <a:ext uri="{FF2B5EF4-FFF2-40B4-BE49-F238E27FC236}">
                <a16:creationId xmlns:a16="http://schemas.microsoft.com/office/drawing/2014/main" id="{FCF15D6A-B433-CB89-85DA-531F4BF04642}"/>
              </a:ext>
            </a:extLst>
          </p:cNvPr>
          <p:cNvSpPr txBox="1"/>
          <p:nvPr/>
        </p:nvSpPr>
        <p:spPr>
          <a:xfrm>
            <a:off x="4705114" y="4789301"/>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RM849</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1" name="savings_percent_3">
            <a:extLst>
              <a:ext uri="{FF2B5EF4-FFF2-40B4-BE49-F238E27FC236}">
                <a16:creationId xmlns:a16="http://schemas.microsoft.com/office/drawing/2014/main" id="{71E14B76-3425-AC56-6D6D-6F5E535D333F}"/>
              </a:ext>
            </a:extLst>
          </p:cNvPr>
          <p:cNvSpPr txBox="1"/>
          <p:nvPr/>
        </p:nvSpPr>
        <p:spPr>
          <a:xfrm>
            <a:off x="4828180" y="4930931"/>
            <a:ext cx="736305" cy="230832"/>
          </a:xfrm>
          <a:prstGeom prst="rect">
            <a:avLst/>
          </a:prstGeom>
          <a:noFill/>
        </p:spPr>
        <p:txBody>
          <a:bodyPr wrap="square">
            <a:spAutoFit/>
          </a:bodyPr>
          <a:lstStyle/>
          <a:p>
            <a:pPr algn="ctr"/>
            <a:r>
              <a:rPr lang="en-US" sz="900" b="1">
                <a:solidFill>
                  <a:srgbClr val="F454CD"/>
                </a:solidFill>
                <a:latin typeface="Work Sans" pitchFamily="2" charset="77"/>
                <a:ea typeface="Work Sans Light"/>
                <a:cs typeface="Work Sans Light"/>
                <a:sym typeface="Work Sans Light"/>
              </a:rPr>
              <a:t>57%</a:t>
            </a:r>
            <a:endParaRPr lang="en-MY" sz="900" b="1" dirty="0">
              <a:solidFill>
                <a:srgbClr val="F454CD"/>
              </a:solidFill>
            </a:endParaRPr>
          </a:p>
        </p:txBody>
      </p:sp>
      <p:sp>
        <p:nvSpPr>
          <p:cNvPr id="112" name="payback_3">
            <a:extLst>
              <a:ext uri="{FF2B5EF4-FFF2-40B4-BE49-F238E27FC236}">
                <a16:creationId xmlns:a16="http://schemas.microsoft.com/office/drawing/2014/main" id="{6EDF1115-C17E-0711-A32D-E1C3CACCA805}"/>
              </a:ext>
            </a:extLst>
          </p:cNvPr>
          <p:cNvSpPr txBox="1"/>
          <p:nvPr/>
        </p:nvSpPr>
        <p:spPr>
          <a:xfrm>
            <a:off x="6099074" y="482217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3.5  Years</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3" name="old_bill_4">
            <a:extLst>
              <a:ext uri="{FF2B5EF4-FFF2-40B4-BE49-F238E27FC236}">
                <a16:creationId xmlns:a16="http://schemas.microsoft.com/office/drawing/2014/main" id="{86BE3DC8-1E87-03A9-05C0-63B4DDD5AAAE}"/>
              </a:ext>
            </a:extLst>
          </p:cNvPr>
          <p:cNvSpPr txBox="1"/>
          <p:nvPr/>
        </p:nvSpPr>
        <p:spPr>
          <a:xfrm>
            <a:off x="495235" y="524662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4" name="old_kwh_4">
            <a:extLst>
              <a:ext uri="{FF2B5EF4-FFF2-40B4-BE49-F238E27FC236}">
                <a16:creationId xmlns:a16="http://schemas.microsoft.com/office/drawing/2014/main" id="{230CEEE9-0576-DA0A-2254-5FFFBDFDF972}"/>
              </a:ext>
            </a:extLst>
          </p:cNvPr>
          <p:cNvSpPr txBox="1"/>
          <p:nvPr/>
        </p:nvSpPr>
        <p:spPr>
          <a:xfrm>
            <a:off x="282395" y="5409780"/>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2,623 kWh</a:t>
            </a:r>
            <a:endParaRPr lang="en-MY" sz="900" dirty="0"/>
          </a:p>
        </p:txBody>
      </p:sp>
      <p:sp>
        <p:nvSpPr>
          <p:cNvPr id="115" name="daytime_percent_4">
            <a:extLst>
              <a:ext uri="{FF2B5EF4-FFF2-40B4-BE49-F238E27FC236}">
                <a16:creationId xmlns:a16="http://schemas.microsoft.com/office/drawing/2014/main" id="{AE811DFE-CFA7-7C6A-1A3E-37FFBF84A993}"/>
              </a:ext>
            </a:extLst>
          </p:cNvPr>
          <p:cNvSpPr txBox="1"/>
          <p:nvPr/>
        </p:nvSpPr>
        <p:spPr>
          <a:xfrm>
            <a:off x="1878657" y="522991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6" name="daytime_kwh_4">
            <a:extLst>
              <a:ext uri="{FF2B5EF4-FFF2-40B4-BE49-F238E27FC236}">
                <a16:creationId xmlns:a16="http://schemas.microsoft.com/office/drawing/2014/main" id="{2C02D669-A779-F665-B9EE-58E2CBEB7818}"/>
              </a:ext>
            </a:extLst>
          </p:cNvPr>
          <p:cNvSpPr txBox="1"/>
          <p:nvPr/>
        </p:nvSpPr>
        <p:spPr>
          <a:xfrm>
            <a:off x="1565640" y="5404806"/>
            <a:ext cx="1609905" cy="230832"/>
          </a:xfrm>
          <a:prstGeom prst="rect">
            <a:avLst/>
          </a:prstGeom>
          <a:noFill/>
        </p:spPr>
        <p:txBody>
          <a:bodyPr wrap="square">
            <a:spAutoFit/>
          </a:bodyPr>
          <a:lstStyle/>
          <a:p>
            <a:pPr algn="ct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1,016 kWh</a:t>
            </a:r>
            <a:endParaRPr lang="en-MY" sz="900" dirty="0"/>
          </a:p>
        </p:txBody>
      </p:sp>
      <p:sp>
        <p:nvSpPr>
          <p:cNvPr id="117" name="new_bill_4">
            <a:extLst>
              <a:ext uri="{FF2B5EF4-FFF2-40B4-BE49-F238E27FC236}">
                <a16:creationId xmlns:a16="http://schemas.microsoft.com/office/drawing/2014/main" id="{951CEAF3-E17C-99D6-66B0-6BF564E56F58}"/>
              </a:ext>
            </a:extLst>
          </p:cNvPr>
          <p:cNvSpPr txBox="1"/>
          <p:nvPr/>
        </p:nvSpPr>
        <p:spPr>
          <a:xfrm>
            <a:off x="3313802" y="531554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8" name="savings_4">
            <a:extLst>
              <a:ext uri="{FF2B5EF4-FFF2-40B4-BE49-F238E27FC236}">
                <a16:creationId xmlns:a16="http://schemas.microsoft.com/office/drawing/2014/main" id="{498A5EA4-FD91-2927-9BF0-E507318D09F2}"/>
              </a:ext>
            </a:extLst>
          </p:cNvPr>
          <p:cNvSpPr txBox="1"/>
          <p:nvPr/>
        </p:nvSpPr>
        <p:spPr>
          <a:xfrm>
            <a:off x="4705114" y="525847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RM849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9" name="savings_percent_4">
            <a:extLst>
              <a:ext uri="{FF2B5EF4-FFF2-40B4-BE49-F238E27FC236}">
                <a16:creationId xmlns:a16="http://schemas.microsoft.com/office/drawing/2014/main" id="{7BD4072C-2528-BB7B-0EBA-119F07F2E008}"/>
              </a:ext>
            </a:extLst>
          </p:cNvPr>
          <p:cNvSpPr txBox="1"/>
          <p:nvPr/>
        </p:nvSpPr>
        <p:spPr>
          <a:xfrm>
            <a:off x="4827734" y="5413442"/>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55%</a:t>
            </a:r>
            <a:endParaRPr lang="en-MY" sz="900" dirty="0"/>
          </a:p>
        </p:txBody>
      </p:sp>
      <p:sp>
        <p:nvSpPr>
          <p:cNvPr id="120" name="payback_4">
            <a:extLst>
              <a:ext uri="{FF2B5EF4-FFF2-40B4-BE49-F238E27FC236}">
                <a16:creationId xmlns:a16="http://schemas.microsoft.com/office/drawing/2014/main" id="{574FC8CB-AA54-6660-4316-5251AD1083CF}"/>
              </a:ext>
            </a:extLst>
          </p:cNvPr>
          <p:cNvSpPr txBox="1"/>
          <p:nvPr/>
        </p:nvSpPr>
        <p:spPr>
          <a:xfrm>
            <a:off x="6099074" y="533005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3.5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1" name="old_bill_5">
            <a:extLst>
              <a:ext uri="{FF2B5EF4-FFF2-40B4-BE49-F238E27FC236}">
                <a16:creationId xmlns:a16="http://schemas.microsoft.com/office/drawing/2014/main" id="{236080B1-9290-A382-7B8B-F74FAAFFAB32}"/>
              </a:ext>
            </a:extLst>
          </p:cNvPr>
          <p:cNvSpPr txBox="1"/>
          <p:nvPr/>
        </p:nvSpPr>
        <p:spPr>
          <a:xfrm>
            <a:off x="495235" y="5712667"/>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RM1,600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2" name="old_kwh_5">
            <a:extLst>
              <a:ext uri="{FF2B5EF4-FFF2-40B4-BE49-F238E27FC236}">
                <a16:creationId xmlns:a16="http://schemas.microsoft.com/office/drawing/2014/main" id="{3B7EBDA4-81C0-1771-D8A5-0243E8A96616}"/>
              </a:ext>
            </a:extLst>
          </p:cNvPr>
          <p:cNvSpPr txBox="1"/>
          <p:nvPr/>
        </p:nvSpPr>
        <p:spPr>
          <a:xfrm>
            <a:off x="291273" y="5875824"/>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2,707 kWh</a:t>
            </a:r>
            <a:endParaRPr lang="en-MY" sz="900" dirty="0"/>
          </a:p>
        </p:txBody>
      </p:sp>
      <p:sp>
        <p:nvSpPr>
          <p:cNvPr id="123" name="daytime_percent_5">
            <a:extLst>
              <a:ext uri="{FF2B5EF4-FFF2-40B4-BE49-F238E27FC236}">
                <a16:creationId xmlns:a16="http://schemas.microsoft.com/office/drawing/2014/main" id="{52E574C8-DCFC-10AE-FBAD-B41332FCB766}"/>
              </a:ext>
            </a:extLst>
          </p:cNvPr>
          <p:cNvSpPr txBox="1"/>
          <p:nvPr/>
        </p:nvSpPr>
        <p:spPr>
          <a:xfrm>
            <a:off x="1878657" y="568642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4" name="daytime_kwh_5">
            <a:extLst>
              <a:ext uri="{FF2B5EF4-FFF2-40B4-BE49-F238E27FC236}">
                <a16:creationId xmlns:a16="http://schemas.microsoft.com/office/drawing/2014/main" id="{E3B49521-39BF-CDA5-6F7E-0FB3979784CA}"/>
              </a:ext>
            </a:extLst>
          </p:cNvPr>
          <p:cNvSpPr txBox="1"/>
          <p:nvPr/>
        </p:nvSpPr>
        <p:spPr>
          <a:xfrm>
            <a:off x="1565640" y="5870851"/>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1,016 kWh</a:t>
            </a:r>
            <a:endParaRPr lang="en-MY" sz="900" dirty="0"/>
          </a:p>
        </p:txBody>
      </p:sp>
      <p:sp>
        <p:nvSpPr>
          <p:cNvPr id="126" name="new_bill_5">
            <a:extLst>
              <a:ext uri="{FF2B5EF4-FFF2-40B4-BE49-F238E27FC236}">
                <a16:creationId xmlns:a16="http://schemas.microsoft.com/office/drawing/2014/main" id="{4CD39766-E6B4-DA41-1DAC-9B0EB62DDC4C}"/>
              </a:ext>
            </a:extLst>
          </p:cNvPr>
          <p:cNvSpPr txBox="1"/>
          <p:nvPr/>
        </p:nvSpPr>
        <p:spPr>
          <a:xfrm>
            <a:off x="3313802" y="577206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7" name="savings_5">
            <a:extLst>
              <a:ext uri="{FF2B5EF4-FFF2-40B4-BE49-F238E27FC236}">
                <a16:creationId xmlns:a16="http://schemas.microsoft.com/office/drawing/2014/main" id="{E2A24BE6-9AC6-6519-BCFD-A738BCEB0DFE}"/>
              </a:ext>
            </a:extLst>
          </p:cNvPr>
          <p:cNvSpPr txBox="1"/>
          <p:nvPr/>
        </p:nvSpPr>
        <p:spPr>
          <a:xfrm>
            <a:off x="4705114" y="571498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RM849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8" name="savings_percent_5">
            <a:extLst>
              <a:ext uri="{FF2B5EF4-FFF2-40B4-BE49-F238E27FC236}">
                <a16:creationId xmlns:a16="http://schemas.microsoft.com/office/drawing/2014/main" id="{57D13A05-8583-3C04-46AA-E451837BB7BD}"/>
              </a:ext>
            </a:extLst>
          </p:cNvPr>
          <p:cNvSpPr txBox="1"/>
          <p:nvPr/>
        </p:nvSpPr>
        <p:spPr>
          <a:xfrm>
            <a:off x="4827734" y="5884475"/>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53%</a:t>
            </a:r>
            <a:endParaRPr lang="en-MY" sz="900" dirty="0"/>
          </a:p>
        </p:txBody>
      </p:sp>
      <p:sp>
        <p:nvSpPr>
          <p:cNvPr id="129" name="payback_5">
            <a:extLst>
              <a:ext uri="{FF2B5EF4-FFF2-40B4-BE49-F238E27FC236}">
                <a16:creationId xmlns:a16="http://schemas.microsoft.com/office/drawing/2014/main" id="{65238902-F90A-3755-CE06-3DC153B04871}"/>
              </a:ext>
            </a:extLst>
          </p:cNvPr>
          <p:cNvSpPr txBox="1"/>
          <p:nvPr/>
        </p:nvSpPr>
        <p:spPr>
          <a:xfrm>
            <a:off x="6099074" y="5786577"/>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3.5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1" name="old_bill_6">
            <a:extLst>
              <a:ext uri="{FF2B5EF4-FFF2-40B4-BE49-F238E27FC236}">
                <a16:creationId xmlns:a16="http://schemas.microsoft.com/office/drawing/2014/main" id="{A0BEBCA6-2048-1EA3-6B70-221FA2D65236}"/>
              </a:ext>
            </a:extLst>
          </p:cNvPr>
          <p:cNvSpPr txBox="1"/>
          <p:nvPr/>
        </p:nvSpPr>
        <p:spPr>
          <a:xfrm>
            <a:off x="495235" y="7352016"/>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2" name="old_kwh_6">
            <a:extLst>
              <a:ext uri="{FF2B5EF4-FFF2-40B4-BE49-F238E27FC236}">
                <a16:creationId xmlns:a16="http://schemas.microsoft.com/office/drawing/2014/main" id="{6DBB7824-5D43-38F3-50B7-BF2A3CC1C670}"/>
              </a:ext>
            </a:extLst>
          </p:cNvPr>
          <p:cNvSpPr txBox="1"/>
          <p:nvPr/>
        </p:nvSpPr>
        <p:spPr>
          <a:xfrm>
            <a:off x="282395" y="7520155"/>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33" name="daytime_percent_6">
            <a:extLst>
              <a:ext uri="{FF2B5EF4-FFF2-40B4-BE49-F238E27FC236}">
                <a16:creationId xmlns:a16="http://schemas.microsoft.com/office/drawing/2014/main" id="{BE26FBF7-FB31-F88B-D96D-5E4D619BBAB8}"/>
              </a:ext>
            </a:extLst>
          </p:cNvPr>
          <p:cNvSpPr txBox="1"/>
          <p:nvPr/>
        </p:nvSpPr>
        <p:spPr>
          <a:xfrm>
            <a:off x="1874759" y="733683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4" name="daytime_kwh_6">
            <a:extLst>
              <a:ext uri="{FF2B5EF4-FFF2-40B4-BE49-F238E27FC236}">
                <a16:creationId xmlns:a16="http://schemas.microsoft.com/office/drawing/2014/main" id="{AAB734FF-7EC9-20BF-18AC-8064BF128810}"/>
              </a:ext>
            </a:extLst>
          </p:cNvPr>
          <p:cNvSpPr txBox="1"/>
          <p:nvPr/>
        </p:nvSpPr>
        <p:spPr>
          <a:xfrm>
            <a:off x="1576256" y="7525792"/>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762 kWh</a:t>
            </a:r>
            <a:endParaRPr lang="en-MY" sz="900" dirty="0"/>
          </a:p>
        </p:txBody>
      </p:sp>
      <p:sp>
        <p:nvSpPr>
          <p:cNvPr id="135" name="new_bill_6">
            <a:extLst>
              <a:ext uri="{FF2B5EF4-FFF2-40B4-BE49-F238E27FC236}">
                <a16:creationId xmlns:a16="http://schemas.microsoft.com/office/drawing/2014/main" id="{329DC87F-9D73-7071-6675-DCFC51C8408B}"/>
              </a:ext>
            </a:extLst>
          </p:cNvPr>
          <p:cNvSpPr txBox="1"/>
          <p:nvPr/>
        </p:nvSpPr>
        <p:spPr>
          <a:xfrm>
            <a:off x="3309904" y="742246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RM708</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6" name="savings_6">
            <a:extLst>
              <a:ext uri="{FF2B5EF4-FFF2-40B4-BE49-F238E27FC236}">
                <a16:creationId xmlns:a16="http://schemas.microsoft.com/office/drawing/2014/main" id="{DEB20B50-756F-4CA4-1DB5-08C8BDE0DC64}"/>
              </a:ext>
            </a:extLst>
          </p:cNvPr>
          <p:cNvSpPr txBox="1"/>
          <p:nvPr/>
        </p:nvSpPr>
        <p:spPr>
          <a:xfrm>
            <a:off x="4701216" y="735586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RM792</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7" name="savings_percent_6">
            <a:extLst>
              <a:ext uri="{FF2B5EF4-FFF2-40B4-BE49-F238E27FC236}">
                <a16:creationId xmlns:a16="http://schemas.microsoft.com/office/drawing/2014/main" id="{C5C53A9F-FD8A-88A3-6F13-7B3117D0070F}"/>
              </a:ext>
            </a:extLst>
          </p:cNvPr>
          <p:cNvSpPr txBox="1"/>
          <p:nvPr/>
        </p:nvSpPr>
        <p:spPr>
          <a:xfrm>
            <a:off x="4823836" y="752798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53%</a:t>
            </a:r>
            <a:endParaRPr lang="en-MY" sz="900" dirty="0"/>
          </a:p>
        </p:txBody>
      </p:sp>
      <p:sp>
        <p:nvSpPr>
          <p:cNvPr id="138" name="payback_6">
            <a:extLst>
              <a:ext uri="{FF2B5EF4-FFF2-40B4-BE49-F238E27FC236}">
                <a16:creationId xmlns:a16="http://schemas.microsoft.com/office/drawing/2014/main" id="{D496C789-503E-E25E-E84A-CA09970A6317}"/>
              </a:ext>
            </a:extLst>
          </p:cNvPr>
          <p:cNvSpPr txBox="1"/>
          <p:nvPr/>
        </p:nvSpPr>
        <p:spPr>
          <a:xfrm>
            <a:off x="6095176" y="739826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3.7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9" name="old_bill_7">
            <a:extLst>
              <a:ext uri="{FF2B5EF4-FFF2-40B4-BE49-F238E27FC236}">
                <a16:creationId xmlns:a16="http://schemas.microsoft.com/office/drawing/2014/main" id="{1C0D2F63-633E-6DAA-C425-09C673DB1F86}"/>
              </a:ext>
            </a:extLst>
          </p:cNvPr>
          <p:cNvSpPr txBox="1"/>
          <p:nvPr/>
        </p:nvSpPr>
        <p:spPr>
          <a:xfrm>
            <a:off x="495235" y="782118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0" name="old_kwh_7">
            <a:extLst>
              <a:ext uri="{FF2B5EF4-FFF2-40B4-BE49-F238E27FC236}">
                <a16:creationId xmlns:a16="http://schemas.microsoft.com/office/drawing/2014/main" id="{DCD571F7-DE55-660D-7B78-4D315737A986}"/>
              </a:ext>
            </a:extLst>
          </p:cNvPr>
          <p:cNvSpPr txBox="1"/>
          <p:nvPr/>
        </p:nvSpPr>
        <p:spPr>
          <a:xfrm>
            <a:off x="282395" y="8004118"/>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41" name="daytime_percent_7">
            <a:extLst>
              <a:ext uri="{FF2B5EF4-FFF2-40B4-BE49-F238E27FC236}">
                <a16:creationId xmlns:a16="http://schemas.microsoft.com/office/drawing/2014/main" id="{ED032BCB-66BC-B850-A272-8715069A8FAA}"/>
              </a:ext>
            </a:extLst>
          </p:cNvPr>
          <p:cNvSpPr txBox="1"/>
          <p:nvPr/>
        </p:nvSpPr>
        <p:spPr>
          <a:xfrm>
            <a:off x="1874759" y="780600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2" name="daytime_kwh_7">
            <a:extLst>
              <a:ext uri="{FF2B5EF4-FFF2-40B4-BE49-F238E27FC236}">
                <a16:creationId xmlns:a16="http://schemas.microsoft.com/office/drawing/2014/main" id="{CFEB9852-C7E4-2F6A-3E75-6CE4DC610207}"/>
              </a:ext>
            </a:extLst>
          </p:cNvPr>
          <p:cNvSpPr txBox="1"/>
          <p:nvPr/>
        </p:nvSpPr>
        <p:spPr>
          <a:xfrm>
            <a:off x="1561742" y="8009029"/>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889 kWh</a:t>
            </a:r>
            <a:endParaRPr lang="en-MY" sz="900" dirty="0"/>
          </a:p>
        </p:txBody>
      </p:sp>
      <p:sp>
        <p:nvSpPr>
          <p:cNvPr id="143" name="new_bill_7">
            <a:extLst>
              <a:ext uri="{FF2B5EF4-FFF2-40B4-BE49-F238E27FC236}">
                <a16:creationId xmlns:a16="http://schemas.microsoft.com/office/drawing/2014/main" id="{B8BC1962-B87B-9ED5-0FE7-650CF71560D9}"/>
              </a:ext>
            </a:extLst>
          </p:cNvPr>
          <p:cNvSpPr txBox="1"/>
          <p:nvPr/>
        </p:nvSpPr>
        <p:spPr>
          <a:xfrm>
            <a:off x="3309904" y="7891637"/>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RM679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4" name="savings_7">
            <a:extLst>
              <a:ext uri="{FF2B5EF4-FFF2-40B4-BE49-F238E27FC236}">
                <a16:creationId xmlns:a16="http://schemas.microsoft.com/office/drawing/2014/main" id="{1ABF2BA3-0F2A-72DD-AF4B-1EB664E9D14F}"/>
              </a:ext>
            </a:extLst>
          </p:cNvPr>
          <p:cNvSpPr txBox="1"/>
          <p:nvPr/>
        </p:nvSpPr>
        <p:spPr>
          <a:xfrm>
            <a:off x="4701216" y="782503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RM821</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5" name="savings_percent_7">
            <a:extLst>
              <a:ext uri="{FF2B5EF4-FFF2-40B4-BE49-F238E27FC236}">
                <a16:creationId xmlns:a16="http://schemas.microsoft.com/office/drawing/2014/main" id="{44B0A005-50CB-0616-167D-10DBE53DBE83}"/>
              </a:ext>
            </a:extLst>
          </p:cNvPr>
          <p:cNvSpPr txBox="1"/>
          <p:nvPr/>
        </p:nvSpPr>
        <p:spPr>
          <a:xfrm>
            <a:off x="4838350" y="8000232"/>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55%</a:t>
            </a:r>
            <a:endParaRPr lang="en-MY" sz="900" dirty="0"/>
          </a:p>
        </p:txBody>
      </p:sp>
      <p:sp>
        <p:nvSpPr>
          <p:cNvPr id="146" name="payback_7">
            <a:extLst>
              <a:ext uri="{FF2B5EF4-FFF2-40B4-BE49-F238E27FC236}">
                <a16:creationId xmlns:a16="http://schemas.microsoft.com/office/drawing/2014/main" id="{591BB8E3-5FB3-44E7-6C32-AB8C2E78D6F2}"/>
              </a:ext>
            </a:extLst>
          </p:cNvPr>
          <p:cNvSpPr txBox="1"/>
          <p:nvPr/>
        </p:nvSpPr>
        <p:spPr>
          <a:xfrm>
            <a:off x="6095176" y="7906151"/>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3.6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7" name="old_bill_8">
            <a:extLst>
              <a:ext uri="{FF2B5EF4-FFF2-40B4-BE49-F238E27FC236}">
                <a16:creationId xmlns:a16="http://schemas.microsoft.com/office/drawing/2014/main" id="{0B68CFEC-D557-2733-0378-DE0889AF3E3F}"/>
              </a:ext>
            </a:extLst>
          </p:cNvPr>
          <p:cNvSpPr txBox="1"/>
          <p:nvPr/>
        </p:nvSpPr>
        <p:spPr>
          <a:xfrm>
            <a:off x="509305" y="829138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RM1,500</a:t>
            </a:r>
          </a:p>
        </p:txBody>
      </p:sp>
      <p:sp>
        <p:nvSpPr>
          <p:cNvPr id="148" name="old_kwh_8">
            <a:extLst>
              <a:ext uri="{FF2B5EF4-FFF2-40B4-BE49-F238E27FC236}">
                <a16:creationId xmlns:a16="http://schemas.microsoft.com/office/drawing/2014/main" id="{C9C9F8F6-4D6E-B864-B6C9-A84DFF8D41E9}"/>
              </a:ext>
            </a:extLst>
          </p:cNvPr>
          <p:cNvSpPr txBox="1"/>
          <p:nvPr/>
        </p:nvSpPr>
        <p:spPr>
          <a:xfrm>
            <a:off x="281951" y="8469772"/>
            <a:ext cx="1381406" cy="230832"/>
          </a:xfrm>
          <a:prstGeom prst="rect">
            <a:avLst/>
          </a:prstGeom>
          <a:noFill/>
        </p:spPr>
        <p:txBody>
          <a:bodyPr wrap="square">
            <a:spAutoFit/>
          </a:bodyPr>
          <a:lstStyle/>
          <a:p>
            <a:pPr algn="ct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2,540kWh</a:t>
            </a:r>
            <a:endParaRPr lang="en-MY" sz="900" b="1" dirty="0">
              <a:solidFill>
                <a:srgbClr val="F454CD"/>
              </a:solidFill>
            </a:endParaRPr>
          </a:p>
        </p:txBody>
      </p:sp>
      <p:sp>
        <p:nvSpPr>
          <p:cNvPr id="149" name="daytime_percent_8">
            <a:extLst>
              <a:ext uri="{FF2B5EF4-FFF2-40B4-BE49-F238E27FC236}">
                <a16:creationId xmlns:a16="http://schemas.microsoft.com/office/drawing/2014/main" id="{27C969C2-D3B3-1FD9-F7AD-BC56A23A46A2}"/>
              </a:ext>
            </a:extLst>
          </p:cNvPr>
          <p:cNvSpPr txBox="1"/>
          <p:nvPr/>
        </p:nvSpPr>
        <p:spPr>
          <a:xfrm>
            <a:off x="1888827" y="827620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40%</a:t>
            </a:r>
          </a:p>
        </p:txBody>
      </p:sp>
      <p:sp>
        <p:nvSpPr>
          <p:cNvPr id="150" name="daytime_kwh_8">
            <a:extLst>
              <a:ext uri="{FF2B5EF4-FFF2-40B4-BE49-F238E27FC236}">
                <a16:creationId xmlns:a16="http://schemas.microsoft.com/office/drawing/2014/main" id="{ED1201C1-B77E-8E7E-5B0E-9548BB23FB44}"/>
              </a:ext>
            </a:extLst>
          </p:cNvPr>
          <p:cNvSpPr txBox="1"/>
          <p:nvPr/>
        </p:nvSpPr>
        <p:spPr>
          <a:xfrm>
            <a:off x="1576256" y="8469701"/>
            <a:ext cx="1609905" cy="230832"/>
          </a:xfrm>
          <a:prstGeom prst="rect">
            <a:avLst/>
          </a:prstGeom>
          <a:noFill/>
        </p:spPr>
        <p:txBody>
          <a:bodyPr wrap="square">
            <a:spAutoFit/>
          </a:bodyPr>
          <a:lstStyle/>
          <a:p>
            <a:pPr algn="ctr"/>
            <a:r>
              <a:rPr kumimoji="0" lang="en-US" sz="9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1,016 kWh</a:t>
            </a:r>
            <a:endParaRPr lang="en-MY" sz="900" b="1" dirty="0">
              <a:solidFill>
                <a:srgbClr val="F454CD"/>
              </a:solidFill>
            </a:endParaRPr>
          </a:p>
        </p:txBody>
      </p:sp>
      <p:sp>
        <p:nvSpPr>
          <p:cNvPr id="151" name="new_bill_8">
            <a:extLst>
              <a:ext uri="{FF2B5EF4-FFF2-40B4-BE49-F238E27FC236}">
                <a16:creationId xmlns:a16="http://schemas.microsoft.com/office/drawing/2014/main" id="{B59413DC-8F35-120E-EC5C-35B6E3FD285A}"/>
              </a:ext>
            </a:extLst>
          </p:cNvPr>
          <p:cNvSpPr txBox="1"/>
          <p:nvPr/>
        </p:nvSpPr>
        <p:spPr>
          <a:xfrm>
            <a:off x="3309904" y="836183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RM651</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52" name="savings_8">
            <a:extLst>
              <a:ext uri="{FF2B5EF4-FFF2-40B4-BE49-F238E27FC236}">
                <a16:creationId xmlns:a16="http://schemas.microsoft.com/office/drawing/2014/main" id="{7F1C5F86-7CE5-5082-6142-A9BD8D0AF806}"/>
              </a:ext>
            </a:extLst>
          </p:cNvPr>
          <p:cNvSpPr txBox="1"/>
          <p:nvPr/>
        </p:nvSpPr>
        <p:spPr>
          <a:xfrm>
            <a:off x="4701216" y="829523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RM849</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53" name="savings_percent_8">
            <a:extLst>
              <a:ext uri="{FF2B5EF4-FFF2-40B4-BE49-F238E27FC236}">
                <a16:creationId xmlns:a16="http://schemas.microsoft.com/office/drawing/2014/main" id="{ABD2F9E6-5536-DF20-A406-E3FB834A707F}"/>
              </a:ext>
            </a:extLst>
          </p:cNvPr>
          <p:cNvSpPr txBox="1"/>
          <p:nvPr/>
        </p:nvSpPr>
        <p:spPr>
          <a:xfrm>
            <a:off x="4838350" y="8461630"/>
            <a:ext cx="736305" cy="230832"/>
          </a:xfrm>
          <a:prstGeom prst="rect">
            <a:avLst/>
          </a:prstGeom>
          <a:noFill/>
        </p:spPr>
        <p:txBody>
          <a:bodyPr wrap="square">
            <a:spAutoFit/>
          </a:bodyPr>
          <a:lstStyle/>
          <a:p>
            <a:pPr algn="ctr"/>
            <a:r>
              <a:rPr lang="en-US" sz="900" b="1">
                <a:solidFill>
                  <a:srgbClr val="F454CD"/>
                </a:solidFill>
                <a:latin typeface="Work Sans" pitchFamily="2" charset="77"/>
                <a:ea typeface="Work Sans Light"/>
                <a:cs typeface="Work Sans Light"/>
                <a:sym typeface="Work Sans Light"/>
              </a:rPr>
              <a:t>57%</a:t>
            </a:r>
            <a:endParaRPr lang="en-MY" sz="900" b="1" dirty="0">
              <a:solidFill>
                <a:srgbClr val="F454CD"/>
              </a:solidFill>
            </a:endParaRPr>
          </a:p>
        </p:txBody>
      </p:sp>
      <p:sp>
        <p:nvSpPr>
          <p:cNvPr id="154" name="payback_8">
            <a:extLst>
              <a:ext uri="{FF2B5EF4-FFF2-40B4-BE49-F238E27FC236}">
                <a16:creationId xmlns:a16="http://schemas.microsoft.com/office/drawing/2014/main" id="{B9AA26DB-6F6B-6567-5C4B-FB0082DF156D}"/>
              </a:ext>
            </a:extLst>
          </p:cNvPr>
          <p:cNvSpPr txBox="1"/>
          <p:nvPr/>
        </p:nvSpPr>
        <p:spPr>
          <a:xfrm>
            <a:off x="6095176" y="833762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3.5  Years</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55" name="old_bill_9">
            <a:extLst>
              <a:ext uri="{FF2B5EF4-FFF2-40B4-BE49-F238E27FC236}">
                <a16:creationId xmlns:a16="http://schemas.microsoft.com/office/drawing/2014/main" id="{D1A11BC6-C5D5-7C80-C6B5-7C68B4C2F08C}"/>
              </a:ext>
            </a:extLst>
          </p:cNvPr>
          <p:cNvSpPr txBox="1"/>
          <p:nvPr/>
        </p:nvSpPr>
        <p:spPr>
          <a:xfrm>
            <a:off x="495235" y="8760551"/>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56" name="old_kwh_9">
            <a:extLst>
              <a:ext uri="{FF2B5EF4-FFF2-40B4-BE49-F238E27FC236}">
                <a16:creationId xmlns:a16="http://schemas.microsoft.com/office/drawing/2014/main" id="{05827620-2956-1DD9-33C9-46B859006316}"/>
              </a:ext>
            </a:extLst>
          </p:cNvPr>
          <p:cNvSpPr txBox="1"/>
          <p:nvPr/>
        </p:nvSpPr>
        <p:spPr>
          <a:xfrm>
            <a:off x="282395" y="8938215"/>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57" name="daytime_percent_9">
            <a:extLst>
              <a:ext uri="{FF2B5EF4-FFF2-40B4-BE49-F238E27FC236}">
                <a16:creationId xmlns:a16="http://schemas.microsoft.com/office/drawing/2014/main" id="{D1CD391A-A41C-3176-C509-8B41647CB26D}"/>
              </a:ext>
            </a:extLst>
          </p:cNvPr>
          <p:cNvSpPr txBox="1"/>
          <p:nvPr/>
        </p:nvSpPr>
        <p:spPr>
          <a:xfrm>
            <a:off x="1874759" y="874536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45%</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58" name="daytime_kwh_9">
            <a:extLst>
              <a:ext uri="{FF2B5EF4-FFF2-40B4-BE49-F238E27FC236}">
                <a16:creationId xmlns:a16="http://schemas.microsoft.com/office/drawing/2014/main" id="{FFEC0C46-AFB8-4D9B-9A29-DDD0C86B11DC}"/>
              </a:ext>
            </a:extLst>
          </p:cNvPr>
          <p:cNvSpPr txBox="1"/>
          <p:nvPr/>
        </p:nvSpPr>
        <p:spPr>
          <a:xfrm>
            <a:off x="1561742" y="8953384"/>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1,143 kWh</a:t>
            </a:r>
            <a:endParaRPr lang="en-MY" sz="900" dirty="0"/>
          </a:p>
        </p:txBody>
      </p:sp>
      <p:sp>
        <p:nvSpPr>
          <p:cNvPr id="159" name="new_bill_9">
            <a:extLst>
              <a:ext uri="{FF2B5EF4-FFF2-40B4-BE49-F238E27FC236}">
                <a16:creationId xmlns:a16="http://schemas.microsoft.com/office/drawing/2014/main" id="{2243E497-4042-5A49-50FE-6E86B68FD1B3}"/>
              </a:ext>
            </a:extLst>
          </p:cNvPr>
          <p:cNvSpPr txBox="1"/>
          <p:nvPr/>
        </p:nvSpPr>
        <p:spPr>
          <a:xfrm>
            <a:off x="3309904" y="883100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RM526</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0" name="savings_9">
            <a:extLst>
              <a:ext uri="{FF2B5EF4-FFF2-40B4-BE49-F238E27FC236}">
                <a16:creationId xmlns:a16="http://schemas.microsoft.com/office/drawing/2014/main" id="{B0DA94C4-8404-81CA-220E-73551679570F}"/>
              </a:ext>
            </a:extLst>
          </p:cNvPr>
          <p:cNvSpPr txBox="1"/>
          <p:nvPr/>
        </p:nvSpPr>
        <p:spPr>
          <a:xfrm>
            <a:off x="4701216" y="876440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RM973</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1" name="savings_percent_9">
            <a:extLst>
              <a:ext uri="{FF2B5EF4-FFF2-40B4-BE49-F238E27FC236}">
                <a16:creationId xmlns:a16="http://schemas.microsoft.com/office/drawing/2014/main" id="{9C9B8624-8B4A-6A17-F609-2D04A3440E91}"/>
              </a:ext>
            </a:extLst>
          </p:cNvPr>
          <p:cNvSpPr txBox="1"/>
          <p:nvPr/>
        </p:nvSpPr>
        <p:spPr>
          <a:xfrm>
            <a:off x="4823836" y="8936521"/>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65%</a:t>
            </a:r>
            <a:endParaRPr lang="en-MY" sz="900" dirty="0"/>
          </a:p>
        </p:txBody>
      </p:sp>
      <p:sp>
        <p:nvSpPr>
          <p:cNvPr id="162" name="payback_9">
            <a:extLst>
              <a:ext uri="{FF2B5EF4-FFF2-40B4-BE49-F238E27FC236}">
                <a16:creationId xmlns:a16="http://schemas.microsoft.com/office/drawing/2014/main" id="{D6CCFF0A-0EF2-F794-5C0B-86A6406B30D9}"/>
              </a:ext>
            </a:extLst>
          </p:cNvPr>
          <p:cNvSpPr txBox="1"/>
          <p:nvPr/>
        </p:nvSpPr>
        <p:spPr>
          <a:xfrm>
            <a:off x="6095176" y="883144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3.0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3" name="old_bill_10">
            <a:extLst>
              <a:ext uri="{FF2B5EF4-FFF2-40B4-BE49-F238E27FC236}">
                <a16:creationId xmlns:a16="http://schemas.microsoft.com/office/drawing/2014/main" id="{7B02F7A8-7060-7216-2305-9F8877FE1E6D}"/>
              </a:ext>
            </a:extLst>
          </p:cNvPr>
          <p:cNvSpPr txBox="1"/>
          <p:nvPr/>
        </p:nvSpPr>
        <p:spPr>
          <a:xfrm>
            <a:off x="495235" y="921707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4" name="old_kwh_10">
            <a:extLst>
              <a:ext uri="{FF2B5EF4-FFF2-40B4-BE49-F238E27FC236}">
                <a16:creationId xmlns:a16="http://schemas.microsoft.com/office/drawing/2014/main" id="{84B3A361-BB7B-01E7-B0BB-1E763354C44B}"/>
              </a:ext>
            </a:extLst>
          </p:cNvPr>
          <p:cNvSpPr txBox="1"/>
          <p:nvPr/>
        </p:nvSpPr>
        <p:spPr>
          <a:xfrm>
            <a:off x="282395" y="9408802"/>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65" name="daytime_percent_10">
            <a:extLst>
              <a:ext uri="{FF2B5EF4-FFF2-40B4-BE49-F238E27FC236}">
                <a16:creationId xmlns:a16="http://schemas.microsoft.com/office/drawing/2014/main" id="{40C6BD19-DB88-5E67-0E20-D55D5F229AEC}"/>
              </a:ext>
            </a:extLst>
          </p:cNvPr>
          <p:cNvSpPr txBox="1"/>
          <p:nvPr/>
        </p:nvSpPr>
        <p:spPr>
          <a:xfrm>
            <a:off x="1874759" y="920188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6" name="daytime_kwh_10">
            <a:extLst>
              <a:ext uri="{FF2B5EF4-FFF2-40B4-BE49-F238E27FC236}">
                <a16:creationId xmlns:a16="http://schemas.microsoft.com/office/drawing/2014/main" id="{B72B2E4C-BE10-E221-AA1B-D7696E5789AD}"/>
              </a:ext>
            </a:extLst>
          </p:cNvPr>
          <p:cNvSpPr txBox="1"/>
          <p:nvPr/>
        </p:nvSpPr>
        <p:spPr>
          <a:xfrm>
            <a:off x="1561742" y="9395835"/>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1,270 kWh</a:t>
            </a:r>
            <a:endParaRPr lang="en-MY" sz="900" dirty="0"/>
          </a:p>
        </p:txBody>
      </p:sp>
      <p:sp>
        <p:nvSpPr>
          <p:cNvPr id="167" name="new_bill_10">
            <a:extLst>
              <a:ext uri="{FF2B5EF4-FFF2-40B4-BE49-F238E27FC236}">
                <a16:creationId xmlns:a16="http://schemas.microsoft.com/office/drawing/2014/main" id="{925CBD8D-CAA0-8129-1EC0-34F186A5DE99}"/>
              </a:ext>
            </a:extLst>
          </p:cNvPr>
          <p:cNvSpPr txBox="1"/>
          <p:nvPr/>
        </p:nvSpPr>
        <p:spPr>
          <a:xfrm>
            <a:off x="3309904" y="928752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RM499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8" name="savings_10">
            <a:extLst>
              <a:ext uri="{FF2B5EF4-FFF2-40B4-BE49-F238E27FC236}">
                <a16:creationId xmlns:a16="http://schemas.microsoft.com/office/drawing/2014/main" id="{2F95AB1B-924F-FDB0-25CF-02837495E5F3}"/>
              </a:ext>
            </a:extLst>
          </p:cNvPr>
          <p:cNvSpPr txBox="1"/>
          <p:nvPr/>
        </p:nvSpPr>
        <p:spPr>
          <a:xfrm>
            <a:off x="4701216" y="922092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RM1,001</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9" name="savings_percent_10">
            <a:extLst>
              <a:ext uri="{FF2B5EF4-FFF2-40B4-BE49-F238E27FC236}">
                <a16:creationId xmlns:a16="http://schemas.microsoft.com/office/drawing/2014/main" id="{3CB05930-A337-407F-3F75-7EA0EE34C25E}"/>
              </a:ext>
            </a:extLst>
          </p:cNvPr>
          <p:cNvSpPr txBox="1"/>
          <p:nvPr/>
        </p:nvSpPr>
        <p:spPr>
          <a:xfrm>
            <a:off x="4823836" y="939348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67%</a:t>
            </a:r>
            <a:endParaRPr lang="en-MY" sz="900" dirty="0"/>
          </a:p>
        </p:txBody>
      </p:sp>
      <p:sp>
        <p:nvSpPr>
          <p:cNvPr id="170" name="payback_10">
            <a:extLst>
              <a:ext uri="{FF2B5EF4-FFF2-40B4-BE49-F238E27FC236}">
                <a16:creationId xmlns:a16="http://schemas.microsoft.com/office/drawing/2014/main" id="{D293DB4B-DEEE-F313-2030-39E67DD26A57}"/>
              </a:ext>
            </a:extLst>
          </p:cNvPr>
          <p:cNvSpPr txBox="1"/>
          <p:nvPr/>
        </p:nvSpPr>
        <p:spPr>
          <a:xfrm>
            <a:off x="6095176" y="9302036"/>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3.0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4" name="kwp_top">
            <a:extLst>
              <a:ext uri="{FF2B5EF4-FFF2-40B4-BE49-F238E27FC236}">
                <a16:creationId xmlns:a16="http://schemas.microsoft.com/office/drawing/2014/main" id="{19A69E48-02B4-AFA1-05D8-8A2A673F067B}"/>
              </a:ext>
            </a:extLst>
          </p:cNvPr>
          <p:cNvSpPr txBox="1"/>
          <p:nvPr/>
        </p:nvSpPr>
        <p:spPr>
          <a:xfrm>
            <a:off x="3398308" y="1913273"/>
            <a:ext cx="2092569" cy="246221"/>
          </a:xfrm>
          <a:prstGeom prst="rect">
            <a:avLst/>
          </a:prstGeom>
          <a:noFill/>
        </p:spPr>
        <p:txBody>
          <a:bodyPr wrap="square">
            <a:spAutoFit/>
          </a:bodyPr>
          <a:lstStyle/>
          <a:p>
            <a:pPr algn="ctr"/>
            <a:r>
              <a:rPr lang="en-MY" sz="1000" b="0" i="0">
                <a:solidFill>
                  <a:schemeClr val="tx1"/>
                </a:solidFill>
                <a:latin typeface="Work Sans" pitchFamily="2" charset="77"/>
              </a:rPr>
              <a:t>16.32kWp</a:t>
            </a:r>
            <a:endParaRPr lang="en-MY" sz="1000" dirty="0"/>
          </a:p>
        </p:txBody>
      </p:sp>
    </p:spTree>
    <p:extLst>
      <p:ext uri="{BB962C8B-B14F-4D97-AF65-F5344CB8AC3E}">
        <p14:creationId xmlns:p14="http://schemas.microsoft.com/office/powerpoint/2010/main" val="3297307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54C3A336-2F44-C77F-E931-177CC1A659F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DDC8C4E-BC0D-9392-9DED-6E4DD1DE4319}"/>
              </a:ext>
            </a:extLst>
          </p:cNvPr>
          <p:cNvSpPr/>
          <p:nvPr/>
        </p:nvSpPr>
        <p:spPr>
          <a:xfrm>
            <a:off x="-325" y="8041707"/>
            <a:ext cx="7560000" cy="2168329"/>
          </a:xfrm>
          <a:prstGeom prst="rect">
            <a:avLst/>
          </a:prstGeom>
          <a:solidFill>
            <a:srgbClr val="0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0F8841A-A616-03BC-D7A4-36C036560195}"/>
              </a:ext>
            </a:extLst>
          </p:cNvPr>
          <p:cNvSpPr txBox="1"/>
          <p:nvPr/>
        </p:nvSpPr>
        <p:spPr>
          <a:xfrm>
            <a:off x="323837" y="8125598"/>
            <a:ext cx="6912000" cy="2000548"/>
          </a:xfrm>
          <a:prstGeom prst="rect">
            <a:avLst/>
          </a:prstGeom>
          <a:noFill/>
        </p:spPr>
        <p:txBody>
          <a:bodyPr wrap="square">
            <a:spAutoFit/>
          </a:bodyPr>
          <a:lstStyle/>
          <a:p>
            <a:pPr lvl="0">
              <a:defRPr/>
            </a:pP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Review </a:t>
            </a:r>
            <a:b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b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Your Installation Plan</a:t>
            </a:r>
            <a:br>
              <a:rPr kumimoji="0" lang="en-US" sz="3600" b="0" i="0" u="none" strike="noStrike" kern="1200" cap="none" spc="0" normalizeH="0" baseline="0" noProof="0" dirty="0">
                <a:ln>
                  <a:noFill/>
                </a:ln>
                <a:solidFill>
                  <a:prstClr val="white"/>
                </a:solidFill>
                <a:effectLst/>
                <a:uLnTx/>
                <a:uFillTx/>
                <a:latin typeface="Work Sans" pitchFamily="2" charset="77"/>
                <a:ea typeface="+mn-ea"/>
                <a:cs typeface="+mn-cs"/>
              </a:rPr>
            </a:br>
            <a:r>
              <a:rPr lang="en-MY" sz="1400" dirty="0">
                <a:solidFill>
                  <a:prstClr val="white"/>
                </a:solidFill>
                <a:latin typeface="Work Sans" pitchFamily="2" charset="77"/>
              </a:rPr>
              <a:t>From panel layout to equipment placement, planned specifically for your home.</a:t>
            </a:r>
            <a:endParaRPr kumimoji="0" lang="en-US" sz="1600" b="0" i="0" u="none" strike="noStrike" kern="1200" cap="none" spc="0" normalizeH="0" baseline="0" noProof="0" dirty="0">
              <a:ln>
                <a:noFill/>
              </a:ln>
              <a:solidFill>
                <a:schemeClr val="bg1"/>
              </a:solidFill>
              <a:effectLst/>
              <a:uLnTx/>
              <a:uFillTx/>
              <a:latin typeface="Work Sans" pitchFamily="2" charset="77"/>
            </a:endParaRPr>
          </a:p>
        </p:txBody>
      </p:sp>
    </p:spTree>
    <p:extLst>
      <p:ext uri="{BB962C8B-B14F-4D97-AF65-F5344CB8AC3E}">
        <p14:creationId xmlns:p14="http://schemas.microsoft.com/office/powerpoint/2010/main" val="3637730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DD75-2387-B52E-8ED6-36875567E6E9}"/>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637F605D-8B35-4F39-53CC-383380C519D4}"/>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3B69BF4F-D10A-FB99-2811-C821ECC7CC7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932AAAD3-917B-C3BC-7A70-7C369584DE9E}"/>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35" name="TextBox 34">
            <a:extLst>
              <a:ext uri="{FF2B5EF4-FFF2-40B4-BE49-F238E27FC236}">
                <a16:creationId xmlns:a16="http://schemas.microsoft.com/office/drawing/2014/main" id="{0811EDD7-B34A-18E0-9647-8798E1B38070}"/>
              </a:ext>
            </a:extLst>
          </p:cNvPr>
          <p:cNvSpPr txBox="1"/>
          <p:nvPr/>
        </p:nvSpPr>
        <p:spPr>
          <a:xfrm>
            <a:off x="5649739" y="3771900"/>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00C3E133-2D3F-F40A-4CB0-7B7EBF66673E}"/>
              </a:ext>
            </a:extLst>
          </p:cNvPr>
          <p:cNvSpPr txBox="1"/>
          <p:nvPr/>
        </p:nvSpPr>
        <p:spPr>
          <a:xfrm>
            <a:off x="321806" y="9748197"/>
            <a:ext cx="6916062" cy="338554"/>
          </a:xfrm>
          <a:prstGeom prst="rect">
            <a:avLst/>
          </a:prstGeom>
          <a:noFill/>
        </p:spPr>
        <p:txBody>
          <a:bodyPr wrap="square">
            <a:spAutoFit/>
          </a:bodyPr>
          <a:lstStyle/>
          <a:p>
            <a:pPr lvl="0" algn="ctr">
              <a:defRPr/>
            </a:pPr>
            <a:r>
              <a:rPr lang="en-GB" sz="800" dirty="0">
                <a:solidFill>
                  <a:prstClr val="black">
                    <a:lumMod val="65000"/>
                    <a:lumOff val="35000"/>
                  </a:prstClr>
                </a:solidFill>
                <a:latin typeface="Work Sans" pitchFamily="2" charset="77"/>
              </a:rPr>
              <a:t>All installations are carried out by certified installers and comply with applicable electrical and safety standards. </a:t>
            </a:r>
          </a:p>
          <a:p>
            <a:pPr algn="ctr">
              <a:defRPr/>
            </a:pPr>
            <a:r>
              <a:rPr lang="en-GB" sz="800" dirty="0">
                <a:solidFill>
                  <a:prstClr val="black">
                    <a:lumMod val="65000"/>
                    <a:lumOff val="35000"/>
                  </a:prstClr>
                </a:solidFill>
                <a:latin typeface="Work Sans" pitchFamily="2" charset="77"/>
              </a:rPr>
              <a:t>Actual methods and sequencing may vary depending on roof type, structure, and site conditions.</a:t>
            </a:r>
          </a:p>
        </p:txBody>
      </p:sp>
      <p:sp>
        <p:nvSpPr>
          <p:cNvPr id="23" name="TextBox 22">
            <a:extLst>
              <a:ext uri="{FF2B5EF4-FFF2-40B4-BE49-F238E27FC236}">
                <a16:creationId xmlns:a16="http://schemas.microsoft.com/office/drawing/2014/main" id="{B7F44C3E-946B-D9B7-AFB6-DAB54F5B7BC0}"/>
              </a:ext>
            </a:extLst>
          </p:cNvPr>
          <p:cNvSpPr txBox="1"/>
          <p:nvPr/>
        </p:nvSpPr>
        <p:spPr>
          <a:xfrm>
            <a:off x="3295951" y="1194612"/>
            <a:ext cx="3939886" cy="492443"/>
          </a:xfrm>
          <a:prstGeom prst="rect">
            <a:avLst/>
          </a:prstGeom>
          <a:noFill/>
        </p:spPr>
        <p:txBody>
          <a:bodyPr wrap="square" rtlCol="0">
            <a:spAutoFit/>
          </a:bodyPr>
          <a:lstStyle/>
          <a:p>
            <a:pPr lvl="0">
              <a:defRPr/>
            </a:pPr>
            <a:r>
              <a:rPr lang="en-US" sz="1200" b="1" dirty="0">
                <a:solidFill>
                  <a:prstClr val="black"/>
                </a:solidFill>
                <a:latin typeface="Work Sans" pitchFamily="2" charset="77"/>
              </a:rPr>
              <a:t>Solar Rail Hooks</a:t>
            </a:r>
          </a:p>
          <a:p>
            <a:pPr lvl="0">
              <a:defRPr/>
            </a:pPr>
            <a:endParaRPr lang="en-US" sz="400" b="1" dirty="0">
              <a:solidFill>
                <a:prstClr val="black"/>
              </a:solidFill>
              <a:latin typeface="Work Sans" pitchFamily="2" charset="77"/>
            </a:endParaRPr>
          </a:p>
          <a:p>
            <a:pPr marL="171450" lvl="0" indent="-171450">
              <a:buClr>
                <a:srgbClr val="F454CD"/>
              </a:buClr>
              <a:buFont typeface="Arial" panose="020B0604020202020204" pitchFamily="34" charset="0"/>
              <a:buChar char="•"/>
              <a:defRPr/>
            </a:pPr>
            <a:r>
              <a:rPr lang="en-MY" sz="1000" dirty="0">
                <a:solidFill>
                  <a:prstClr val="black"/>
                </a:solidFill>
                <a:latin typeface="Work Sans" pitchFamily="2" charset="77"/>
              </a:rPr>
              <a:t>Installed on key rafters to anchor the solar rails.</a:t>
            </a:r>
          </a:p>
        </p:txBody>
      </p:sp>
      <p:sp>
        <p:nvSpPr>
          <p:cNvPr id="24" name="Oval 23">
            <a:extLst>
              <a:ext uri="{FF2B5EF4-FFF2-40B4-BE49-F238E27FC236}">
                <a16:creationId xmlns:a16="http://schemas.microsoft.com/office/drawing/2014/main" id="{B464E2FD-469C-6748-AF9C-FD5BAEF1287D}"/>
              </a:ext>
            </a:extLst>
          </p:cNvPr>
          <p:cNvSpPr>
            <a:spLocks noChangeAspect="1"/>
          </p:cNvSpPr>
          <p:nvPr/>
        </p:nvSpPr>
        <p:spPr>
          <a:xfrm>
            <a:off x="2878215" y="1194612"/>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rPr>
              <a:t>1</a:t>
            </a:r>
          </a:p>
        </p:txBody>
      </p:sp>
      <p:sp>
        <p:nvSpPr>
          <p:cNvPr id="48" name="Freeform 2">
            <a:extLst>
              <a:ext uri="{FF2B5EF4-FFF2-40B4-BE49-F238E27FC236}">
                <a16:creationId xmlns:a16="http://schemas.microsoft.com/office/drawing/2014/main" id="{523415A9-23A3-7067-5DCB-CC8ACB35982B}"/>
              </a:ext>
            </a:extLst>
          </p:cNvPr>
          <p:cNvSpPr/>
          <p:nvPr/>
        </p:nvSpPr>
        <p:spPr>
          <a:xfrm>
            <a:off x="323837" y="1194612"/>
            <a:ext cx="2339999" cy="1260000"/>
          </a:xfrm>
          <a:custGeom>
            <a:avLst/>
            <a:gdLst/>
            <a:ahLst/>
            <a:cxnLst/>
            <a:rect l="l" t="t" r="r" b="b"/>
            <a:pathLst>
              <a:path w="1576658" h="2412247">
                <a:moveTo>
                  <a:pt x="0" y="0"/>
                </a:moveTo>
                <a:lnTo>
                  <a:pt x="1576658" y="0"/>
                </a:lnTo>
                <a:lnTo>
                  <a:pt x="1576658" y="2412247"/>
                </a:lnTo>
                <a:lnTo>
                  <a:pt x="0" y="2412247"/>
                </a:lnTo>
                <a:lnTo>
                  <a:pt x="0" y="0"/>
                </a:lnTo>
                <a:close/>
              </a:path>
            </a:pathLst>
          </a:custGeom>
          <a:blipFill>
            <a:blip r:embed="rId4" cstate="email">
              <a:extLst>
                <a:ext uri="{28A0092B-C50C-407E-A947-70E740481C1C}">
                  <a14:useLocalDpi xmlns:a14="http://schemas.microsoft.com/office/drawing/2010/main"/>
                </a:ext>
              </a:extLst>
            </a:blip>
            <a:stretch>
              <a:fillRect/>
            </a:stretch>
          </a:blipFill>
          <a:ln w="19050">
            <a:noFill/>
          </a:ln>
        </p:spPr>
        <p:txBody>
          <a:bodyPr/>
          <a:lstStyle/>
          <a:p>
            <a:endParaRPr lang="en-MY"/>
          </a:p>
        </p:txBody>
      </p:sp>
      <p:sp>
        <p:nvSpPr>
          <p:cNvPr id="36" name="TextBox 35">
            <a:extLst>
              <a:ext uri="{FF2B5EF4-FFF2-40B4-BE49-F238E27FC236}">
                <a16:creationId xmlns:a16="http://schemas.microsoft.com/office/drawing/2014/main" id="{28CDD376-1115-DA57-6E14-264D7A999ACF}"/>
              </a:ext>
            </a:extLst>
          </p:cNvPr>
          <p:cNvSpPr txBox="1"/>
          <p:nvPr/>
        </p:nvSpPr>
        <p:spPr>
          <a:xfrm>
            <a:off x="3295950" y="2620210"/>
            <a:ext cx="3939887" cy="4924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Solar Rails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Mounted onto the hooks to support the solar panels.</a:t>
            </a:r>
          </a:p>
        </p:txBody>
      </p:sp>
      <p:sp>
        <p:nvSpPr>
          <p:cNvPr id="37" name="Oval 36">
            <a:extLst>
              <a:ext uri="{FF2B5EF4-FFF2-40B4-BE49-F238E27FC236}">
                <a16:creationId xmlns:a16="http://schemas.microsoft.com/office/drawing/2014/main" id="{8222AB8D-FFC6-B56B-37F3-49585C04C2B7}"/>
              </a:ext>
            </a:extLst>
          </p:cNvPr>
          <p:cNvSpPr>
            <a:spLocks noChangeAspect="1"/>
          </p:cNvSpPr>
          <p:nvPr/>
        </p:nvSpPr>
        <p:spPr>
          <a:xfrm>
            <a:off x="2878215" y="2620210"/>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2</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50" name="Freeform 3">
            <a:extLst>
              <a:ext uri="{FF2B5EF4-FFF2-40B4-BE49-F238E27FC236}">
                <a16:creationId xmlns:a16="http://schemas.microsoft.com/office/drawing/2014/main" id="{F8B6A571-DBB3-42B1-8AA9-9E5C2C9AD864}"/>
              </a:ext>
            </a:extLst>
          </p:cNvPr>
          <p:cNvSpPr/>
          <p:nvPr/>
        </p:nvSpPr>
        <p:spPr>
          <a:xfrm>
            <a:off x="323837" y="2620210"/>
            <a:ext cx="2340000" cy="1260000"/>
          </a:xfrm>
          <a:custGeom>
            <a:avLst/>
            <a:gdLst/>
            <a:ahLst/>
            <a:cxnLst/>
            <a:rect l="l" t="t" r="r" b="b"/>
            <a:pathLst>
              <a:path w="3922039" h="2412247">
                <a:moveTo>
                  <a:pt x="0" y="0"/>
                </a:moveTo>
                <a:lnTo>
                  <a:pt x="3922039" y="0"/>
                </a:lnTo>
                <a:lnTo>
                  <a:pt x="3922039" y="2412247"/>
                </a:lnTo>
                <a:lnTo>
                  <a:pt x="0" y="2412247"/>
                </a:lnTo>
                <a:lnTo>
                  <a:pt x="0" y="0"/>
                </a:lnTo>
                <a:close/>
              </a:path>
            </a:pathLst>
          </a:custGeom>
          <a:blipFill>
            <a:blip r:embed="rId5" cstate="email">
              <a:extLst>
                <a:ext uri="{28A0092B-C50C-407E-A947-70E740481C1C}">
                  <a14:useLocalDpi xmlns:a14="http://schemas.microsoft.com/office/drawing/2010/main"/>
                </a:ext>
              </a:extLst>
            </a:blip>
            <a:stretch>
              <a:fillRect/>
            </a:stretch>
          </a:blipFill>
          <a:ln w="19050">
            <a:noFill/>
          </a:ln>
        </p:spPr>
        <p:txBody>
          <a:bodyPr/>
          <a:lstStyle/>
          <a:p>
            <a:endParaRPr lang="en-MY"/>
          </a:p>
        </p:txBody>
      </p:sp>
      <p:sp>
        <p:nvSpPr>
          <p:cNvPr id="38" name="TextBox 37">
            <a:extLst>
              <a:ext uri="{FF2B5EF4-FFF2-40B4-BE49-F238E27FC236}">
                <a16:creationId xmlns:a16="http://schemas.microsoft.com/office/drawing/2014/main" id="{C73F09A3-003D-7D0E-4D39-1AF3EA6510AF}"/>
              </a:ext>
            </a:extLst>
          </p:cNvPr>
          <p:cNvSpPr txBox="1"/>
          <p:nvPr/>
        </p:nvSpPr>
        <p:spPr>
          <a:xfrm>
            <a:off x="3295951" y="4045808"/>
            <a:ext cx="3939886" cy="4924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Solar Panels – Laying the Panels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Secured onto the rails according to the approved layout.</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9" name="Oval 38">
            <a:extLst>
              <a:ext uri="{FF2B5EF4-FFF2-40B4-BE49-F238E27FC236}">
                <a16:creationId xmlns:a16="http://schemas.microsoft.com/office/drawing/2014/main" id="{2329E33B-B0B6-A407-569C-5E034FE54356}"/>
              </a:ext>
            </a:extLst>
          </p:cNvPr>
          <p:cNvSpPr>
            <a:spLocks noChangeAspect="1"/>
          </p:cNvSpPr>
          <p:nvPr/>
        </p:nvSpPr>
        <p:spPr>
          <a:xfrm>
            <a:off x="2878215" y="4045808"/>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3</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52" name="Freeform 4">
            <a:extLst>
              <a:ext uri="{FF2B5EF4-FFF2-40B4-BE49-F238E27FC236}">
                <a16:creationId xmlns:a16="http://schemas.microsoft.com/office/drawing/2014/main" id="{937813CF-EDC0-5173-3FDD-34ABBC3A7D33}"/>
              </a:ext>
            </a:extLst>
          </p:cNvPr>
          <p:cNvSpPr/>
          <p:nvPr/>
        </p:nvSpPr>
        <p:spPr>
          <a:xfrm>
            <a:off x="323837" y="4045808"/>
            <a:ext cx="2340000" cy="1260000"/>
          </a:xfrm>
          <a:custGeom>
            <a:avLst/>
            <a:gdLst/>
            <a:ahLst/>
            <a:cxnLst/>
            <a:rect l="l" t="t" r="r" b="b"/>
            <a:pathLst>
              <a:path w="3949971" h="2412247">
                <a:moveTo>
                  <a:pt x="0" y="0"/>
                </a:moveTo>
                <a:lnTo>
                  <a:pt x="3949971" y="0"/>
                </a:lnTo>
                <a:lnTo>
                  <a:pt x="3949971" y="2412247"/>
                </a:lnTo>
                <a:lnTo>
                  <a:pt x="0" y="2412247"/>
                </a:lnTo>
                <a:lnTo>
                  <a:pt x="0" y="0"/>
                </a:lnTo>
                <a:close/>
              </a:path>
            </a:pathLst>
          </a:custGeom>
          <a:blipFill>
            <a:blip r:embed="rId6" cstate="email">
              <a:extLst>
                <a:ext uri="{28A0092B-C50C-407E-A947-70E740481C1C}">
                  <a14:useLocalDpi xmlns:a14="http://schemas.microsoft.com/office/drawing/2010/main"/>
                </a:ext>
              </a:extLst>
            </a:blip>
            <a:stretch>
              <a:fillRect/>
            </a:stretch>
          </a:blipFill>
          <a:ln w="19050">
            <a:noFill/>
          </a:ln>
        </p:spPr>
        <p:txBody>
          <a:bodyPr/>
          <a:lstStyle/>
          <a:p>
            <a:endParaRPr lang="en-MY"/>
          </a:p>
        </p:txBody>
      </p:sp>
      <p:sp>
        <p:nvSpPr>
          <p:cNvPr id="40" name="TextBox 39">
            <a:extLst>
              <a:ext uri="{FF2B5EF4-FFF2-40B4-BE49-F238E27FC236}">
                <a16:creationId xmlns:a16="http://schemas.microsoft.com/office/drawing/2014/main" id="{633D82AF-A927-F991-E4AA-413A099ACBD5}"/>
              </a:ext>
            </a:extLst>
          </p:cNvPr>
          <p:cNvSpPr txBox="1"/>
          <p:nvPr/>
        </p:nvSpPr>
        <p:spPr>
          <a:xfrm>
            <a:off x="3295951" y="5471406"/>
            <a:ext cx="3939886"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Solar Panels – Connecting the Panels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Electrically connected (stringed) to allow Solar Electricity to flow from the </a:t>
            </a:r>
            <a:r>
              <a:rPr lang="en-MY" sz="1000" dirty="0">
                <a:solidFill>
                  <a:prstClr val="black"/>
                </a:solidFill>
                <a:latin typeface="Work Sans" pitchFamily="2" charset="77"/>
              </a:rPr>
              <a:t>panels</a:t>
            </a: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 to the inverter.</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41" name="Oval 40">
            <a:extLst>
              <a:ext uri="{FF2B5EF4-FFF2-40B4-BE49-F238E27FC236}">
                <a16:creationId xmlns:a16="http://schemas.microsoft.com/office/drawing/2014/main" id="{CDBCE9D3-9471-4106-0080-A17F41FFB9FB}"/>
              </a:ext>
            </a:extLst>
          </p:cNvPr>
          <p:cNvSpPr>
            <a:spLocks noChangeAspect="1"/>
          </p:cNvSpPr>
          <p:nvPr/>
        </p:nvSpPr>
        <p:spPr>
          <a:xfrm>
            <a:off x="2878215" y="5471406"/>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4</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pic>
        <p:nvPicPr>
          <p:cNvPr id="53" name="Picture 52">
            <a:extLst>
              <a:ext uri="{FF2B5EF4-FFF2-40B4-BE49-F238E27FC236}">
                <a16:creationId xmlns:a16="http://schemas.microsoft.com/office/drawing/2014/main" id="{3B5806B4-83F9-309C-CFF1-2ACF658C35B7}"/>
              </a:ext>
            </a:extLst>
          </p:cNvPr>
          <p:cNvPicPr>
            <a:picLocks/>
          </p:cNvPicPr>
          <p:nvPr/>
        </p:nvPicPr>
        <p:blipFill>
          <a:blip r:embed="rId7" cstate="email">
            <a:extLst>
              <a:ext uri="{28A0092B-C50C-407E-A947-70E740481C1C}">
                <a14:useLocalDpi xmlns:a14="http://schemas.microsoft.com/office/drawing/2010/main"/>
              </a:ext>
            </a:extLst>
          </a:blip>
          <a:srcRect/>
          <a:stretch>
            <a:fillRect/>
          </a:stretch>
        </p:blipFill>
        <p:spPr>
          <a:xfrm>
            <a:off x="323837" y="5471406"/>
            <a:ext cx="2340000" cy="1260000"/>
          </a:xfrm>
          <a:prstGeom prst="rect">
            <a:avLst/>
          </a:prstGeom>
          <a:ln w="19050">
            <a:noFill/>
          </a:ln>
        </p:spPr>
      </p:pic>
      <p:sp>
        <p:nvSpPr>
          <p:cNvPr id="42" name="TextBox 41">
            <a:extLst>
              <a:ext uri="{FF2B5EF4-FFF2-40B4-BE49-F238E27FC236}">
                <a16:creationId xmlns:a16="http://schemas.microsoft.com/office/drawing/2014/main" id="{C688368F-5B26-8CFB-A6D2-927636DB7DBC}"/>
              </a:ext>
            </a:extLst>
          </p:cNvPr>
          <p:cNvSpPr txBox="1"/>
          <p:nvPr/>
        </p:nvSpPr>
        <p:spPr>
          <a:xfrm>
            <a:off x="3295951" y="6897004"/>
            <a:ext cx="3939886" cy="81560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Cable Routing – GI </a:t>
            </a:r>
            <a:r>
              <a:rPr kumimoji="0" lang="en-US" sz="1200" b="1" i="0" u="none" strike="noStrike" kern="1200" cap="none" spc="0" normalizeH="0" baseline="0" noProof="0" dirty="0" err="1">
                <a:ln>
                  <a:noFill/>
                </a:ln>
                <a:solidFill>
                  <a:prstClr val="black"/>
                </a:solidFill>
                <a:effectLst/>
                <a:uLnTx/>
                <a:uFillTx/>
                <a:latin typeface="Work Sans" pitchFamily="2" charset="77"/>
                <a:ea typeface="+mn-ea"/>
                <a:cs typeface="+mn-cs"/>
              </a:rPr>
              <a:t>Trunking</a:t>
            </a:r>
            <a:endPar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DC cables are routed from the roof to the inverter using galvanised iron (GI) trunking for protection, durability, and a neat finish.</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43" name="Oval 42">
            <a:extLst>
              <a:ext uri="{FF2B5EF4-FFF2-40B4-BE49-F238E27FC236}">
                <a16:creationId xmlns:a16="http://schemas.microsoft.com/office/drawing/2014/main" id="{FB22A147-9356-B1A5-38D6-97791DFD8B88}"/>
              </a:ext>
            </a:extLst>
          </p:cNvPr>
          <p:cNvSpPr>
            <a:spLocks noChangeAspect="1"/>
          </p:cNvSpPr>
          <p:nvPr/>
        </p:nvSpPr>
        <p:spPr>
          <a:xfrm>
            <a:off x="2878215" y="6897004"/>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rPr>
              <a:t>5</a:t>
            </a:r>
          </a:p>
        </p:txBody>
      </p:sp>
      <p:sp>
        <p:nvSpPr>
          <p:cNvPr id="54" name="Freeform 53">
            <a:extLst>
              <a:ext uri="{FF2B5EF4-FFF2-40B4-BE49-F238E27FC236}">
                <a16:creationId xmlns:a16="http://schemas.microsoft.com/office/drawing/2014/main" id="{1FD70FDC-65C4-EED2-A250-1B60901501C2}"/>
              </a:ext>
            </a:extLst>
          </p:cNvPr>
          <p:cNvSpPr/>
          <p:nvPr/>
        </p:nvSpPr>
        <p:spPr>
          <a:xfrm>
            <a:off x="323837" y="6897004"/>
            <a:ext cx="2340000" cy="1260000"/>
          </a:xfrm>
          <a:custGeom>
            <a:avLst/>
            <a:gdLst/>
            <a:ahLst/>
            <a:cxnLst/>
            <a:rect l="l" t="t" r="r" b="b"/>
            <a:pathLst>
              <a:path w="5814347" h="2376270">
                <a:moveTo>
                  <a:pt x="0" y="0"/>
                </a:moveTo>
                <a:lnTo>
                  <a:pt x="5814347" y="0"/>
                </a:lnTo>
                <a:lnTo>
                  <a:pt x="5814347" y="2376270"/>
                </a:lnTo>
                <a:lnTo>
                  <a:pt x="0" y="2376270"/>
                </a:lnTo>
                <a:lnTo>
                  <a:pt x="0" y="0"/>
                </a:lnTo>
                <a:close/>
              </a:path>
            </a:pathLst>
          </a:custGeom>
          <a:blipFill>
            <a:blip r:embed="rId8" cstate="email">
              <a:extLst>
                <a:ext uri="{28A0092B-C50C-407E-A947-70E740481C1C}">
                  <a14:useLocalDpi xmlns:a14="http://schemas.microsoft.com/office/drawing/2010/main"/>
                </a:ext>
              </a:extLst>
            </a:blip>
            <a:stretch>
              <a:fillRect l="1"/>
            </a:stretch>
          </a:blipFill>
          <a:ln w="19050">
            <a:noFill/>
          </a:ln>
        </p:spPr>
        <p:txBody>
          <a:bodyPr/>
          <a:lstStyle/>
          <a:p>
            <a:endParaRPr lang="en-MY"/>
          </a:p>
        </p:txBody>
      </p:sp>
      <p:sp>
        <p:nvSpPr>
          <p:cNvPr id="44" name="TextBox 43">
            <a:extLst>
              <a:ext uri="{FF2B5EF4-FFF2-40B4-BE49-F238E27FC236}">
                <a16:creationId xmlns:a16="http://schemas.microsoft.com/office/drawing/2014/main" id="{A0124CCC-EF33-B02F-248C-B56A918AE2A8}"/>
              </a:ext>
            </a:extLst>
          </p:cNvPr>
          <p:cNvSpPr txBox="1"/>
          <p:nvPr/>
        </p:nvSpPr>
        <p:spPr>
          <a:xfrm>
            <a:off x="3295951" y="8322602"/>
            <a:ext cx="3939886" cy="81560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Inverter &amp; PVDB</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The inverter and PV Distribution Board (PVDB) are installed and connected to your home’s Distribution Board (DB).</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45" name="Oval 44">
            <a:extLst>
              <a:ext uri="{FF2B5EF4-FFF2-40B4-BE49-F238E27FC236}">
                <a16:creationId xmlns:a16="http://schemas.microsoft.com/office/drawing/2014/main" id="{44C3F2B5-680B-C456-951F-DBB398C7CC47}"/>
              </a:ext>
            </a:extLst>
          </p:cNvPr>
          <p:cNvSpPr>
            <a:spLocks noChangeAspect="1"/>
          </p:cNvSpPr>
          <p:nvPr/>
        </p:nvSpPr>
        <p:spPr>
          <a:xfrm>
            <a:off x="2878215" y="8322602"/>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6</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pic>
        <p:nvPicPr>
          <p:cNvPr id="56" name="Picture 55">
            <a:extLst>
              <a:ext uri="{FF2B5EF4-FFF2-40B4-BE49-F238E27FC236}">
                <a16:creationId xmlns:a16="http://schemas.microsoft.com/office/drawing/2014/main" id="{D0A07AF3-BBE6-7AAD-B9BF-5C2527A74C29}"/>
              </a:ext>
            </a:extLst>
          </p:cNvPr>
          <p:cNvPicPr>
            <a:picLocks/>
          </p:cNvPicPr>
          <p:nvPr/>
        </p:nvPicPr>
        <p:blipFill>
          <a:blip r:embed="rId9" cstate="email">
            <a:extLst>
              <a:ext uri="{28A0092B-C50C-407E-A947-70E740481C1C}">
                <a14:useLocalDpi xmlns:a14="http://schemas.microsoft.com/office/drawing/2010/main"/>
              </a:ext>
            </a:extLst>
          </a:blip>
          <a:stretch>
            <a:fillRect/>
          </a:stretch>
        </p:blipFill>
        <p:spPr>
          <a:xfrm>
            <a:off x="323837" y="8322602"/>
            <a:ext cx="2340000" cy="1260000"/>
          </a:xfrm>
          <a:prstGeom prst="rect">
            <a:avLst/>
          </a:prstGeom>
        </p:spPr>
      </p:pic>
      <p:sp>
        <p:nvSpPr>
          <p:cNvPr id="2" name="TextBox 1">
            <a:extLst>
              <a:ext uri="{FF2B5EF4-FFF2-40B4-BE49-F238E27FC236}">
                <a16:creationId xmlns:a16="http://schemas.microsoft.com/office/drawing/2014/main" id="{AED89C99-38C0-7813-9997-2D91B76E364F}"/>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Standard Installation Process</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131794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EC0F1-2C82-74CE-F6B1-1868AC6BC043}"/>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DD5D42C2-EBD7-C548-5D77-9393CB4D0A95}"/>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5A2E7DF1-D6F8-0647-2A46-7D9F2C23903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3A2E7F14-9419-C9D2-2555-DDBA0C79BC0B}"/>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sp>
        <p:nvSpPr>
          <p:cNvPr id="2" name="Google Shape;215;p5">
            <a:extLst>
              <a:ext uri="{FF2B5EF4-FFF2-40B4-BE49-F238E27FC236}">
                <a16:creationId xmlns:a16="http://schemas.microsoft.com/office/drawing/2014/main" id="{F3B14EC6-008D-34E3-8E8E-FC6337DED3FE}"/>
              </a:ext>
            </a:extLst>
          </p:cNvPr>
          <p:cNvSpPr txBox="1"/>
          <p:nvPr/>
        </p:nvSpPr>
        <p:spPr>
          <a:xfrm>
            <a:off x="323837" y="1286221"/>
            <a:ext cx="6912000"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rPr>
              <a:t>The layout of solar panels on your rooftop is designed to maximise sun absorption, Solar Electricity generation, and your savings.</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4" name="Google Shape;216;p5">
            <a:extLst>
              <a:ext uri="{FF2B5EF4-FFF2-40B4-BE49-F238E27FC236}">
                <a16:creationId xmlns:a16="http://schemas.microsoft.com/office/drawing/2014/main" id="{4F0FC703-6D3C-9316-2C32-253A480B4149}"/>
              </a:ext>
            </a:extLst>
          </p:cNvPr>
          <p:cNvSpPr txBox="1"/>
          <p:nvPr/>
        </p:nvSpPr>
        <p:spPr>
          <a:xfrm>
            <a:off x="321806" y="9310078"/>
            <a:ext cx="6912000" cy="184666"/>
          </a:xfrm>
          <a:prstGeom prst="rect">
            <a:avLst/>
          </a:prstGeom>
          <a:noFill/>
          <a:ln>
            <a:noFill/>
          </a:ln>
        </p:spPr>
        <p:txBody>
          <a:bodyPr spcFirstLastPara="1" wrap="square" lIns="0" tIns="0" rIns="0" bIns="0" anchor="t" anchorCtr="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rPr>
              <a:t>Ideal panel positioning for maximum sunlight exposure.</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7" name="Google Shape;226;p5">
            <a:extLst>
              <a:ext uri="{FF2B5EF4-FFF2-40B4-BE49-F238E27FC236}">
                <a16:creationId xmlns:a16="http://schemas.microsoft.com/office/drawing/2014/main" id="{CDB0DBCD-C28C-1A8D-1DE4-E376608E60EE}"/>
              </a:ext>
            </a:extLst>
          </p:cNvPr>
          <p:cNvSpPr/>
          <p:nvPr/>
        </p:nvSpPr>
        <p:spPr>
          <a:xfrm>
            <a:off x="321806" y="1798233"/>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27;p5">
            <a:extLst>
              <a:ext uri="{FF2B5EF4-FFF2-40B4-BE49-F238E27FC236}">
                <a16:creationId xmlns:a16="http://schemas.microsoft.com/office/drawing/2014/main" id="{9CFC7B0B-58E9-5EE2-D6A7-A835944CD189}"/>
              </a:ext>
            </a:extLst>
          </p:cNvPr>
          <p:cNvSpPr/>
          <p:nvPr/>
        </p:nvSpPr>
        <p:spPr>
          <a:xfrm>
            <a:off x="321806" y="5810161"/>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13" name="Picture 12">
            <a:extLst>
              <a:ext uri="{FF2B5EF4-FFF2-40B4-BE49-F238E27FC236}">
                <a16:creationId xmlns:a16="http://schemas.microsoft.com/office/drawing/2014/main" id="{86E534FE-8531-6A48-8FFA-71F6956177ED}"/>
              </a:ext>
            </a:extLst>
          </p:cNvPr>
          <p:cNvPicPr>
            <a:picLocks noChangeAspect="1"/>
          </p:cNvPicPr>
          <p:nvPr/>
        </p:nvPicPr>
        <p:blipFill>
          <a:blip r:embed="rId3"/>
          <a:stretch/>
        </p:blipFill>
        <p:spPr bwMode="auto">
          <a:xfrm>
            <a:off x="423962" y="1899802"/>
            <a:ext cx="6707688" cy="3154098"/>
          </a:xfrm>
          <a:prstGeom prst="rect">
            <a:avLst/>
          </a:prstGeom>
        </p:spPr>
      </p:pic>
      <p:pic>
        <p:nvPicPr>
          <p:cNvPr id="14" name="Picture 13">
            <a:extLst>
              <a:ext uri="{FF2B5EF4-FFF2-40B4-BE49-F238E27FC236}">
                <a16:creationId xmlns:a16="http://schemas.microsoft.com/office/drawing/2014/main" id="{EAD58C8F-2818-B18F-BDCF-E21241DE5A8C}"/>
              </a:ext>
            </a:extLst>
          </p:cNvPr>
          <p:cNvPicPr>
            <a:picLocks noChangeAspect="1"/>
          </p:cNvPicPr>
          <p:nvPr/>
        </p:nvPicPr>
        <p:blipFill>
          <a:blip r:embed="rId4"/>
          <a:stretch/>
        </p:blipFill>
        <p:spPr bwMode="auto">
          <a:xfrm>
            <a:off x="423962" y="5902645"/>
            <a:ext cx="6707688" cy="3172268"/>
          </a:xfrm>
          <a:prstGeom prst="rect">
            <a:avLst/>
          </a:prstGeom>
        </p:spPr>
      </p:pic>
      <p:sp>
        <p:nvSpPr>
          <p:cNvPr id="15" name="TextBox 35">
            <a:extLst>
              <a:ext uri="{FF2B5EF4-FFF2-40B4-BE49-F238E27FC236}">
                <a16:creationId xmlns:a16="http://schemas.microsoft.com/office/drawing/2014/main" id="{960A913F-370E-FC03-E6A0-E41307E3BDF7}"/>
              </a:ext>
            </a:extLst>
          </p:cNvPr>
          <p:cNvSpPr txBox="1"/>
          <p:nvPr/>
        </p:nvSpPr>
        <p:spPr>
          <a:xfrm>
            <a:off x="321806" y="5298149"/>
            <a:ext cx="6912000" cy="369332"/>
          </a:xfrm>
          <a:prstGeom prst="rect">
            <a:avLst/>
          </a:prstGeom>
          <a:ln>
            <a:noFill/>
          </a:ln>
        </p:spPr>
        <p:txBody>
          <a:bodyPr wrap="square" lIns="0" tIns="0" rIns="0" bIns="0" rtlCol="0" anchor="t">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200" b="0" i="1" u="none" strike="noStrike" kern="0" cap="none" spc="0" normalizeH="0" baseline="0" noProof="0" dirty="0">
                <a:ln>
                  <a:noFill/>
                </a:ln>
                <a:solidFill>
                  <a:srgbClr val="000000"/>
                </a:solidFill>
                <a:effectLst/>
                <a:uLnTx/>
                <a:uFillTx/>
                <a:latin typeface="Work Sans" pitchFamily="2" charset="77"/>
                <a:cs typeface="Arial"/>
                <a:sym typeface="Arial"/>
              </a:rPr>
              <a:t>Grey rectangles indicate additional panel placement if you choose to maximise your roof space.</a:t>
            </a:r>
            <a:endParaRPr kumimoji="0" lang="en-US" sz="1200" b="0" i="1" u="none" strike="noStrike" kern="0" cap="none" spc="0" normalizeH="0" baseline="0" noProof="0" dirty="0">
              <a:ln>
                <a:noFill/>
              </a:ln>
              <a:solidFill>
                <a:srgbClr val="000000"/>
              </a:solidFill>
              <a:effectLst/>
              <a:uLnTx/>
              <a:uFillTx/>
              <a:latin typeface="Work Sans" pitchFamily="2" charset="77"/>
              <a:cs typeface="Arial"/>
              <a:sym typeface="Arial"/>
            </a:endParaRPr>
          </a:p>
        </p:txBody>
      </p:sp>
      <p:sp>
        <p:nvSpPr>
          <p:cNvPr id="16" name="Rectangle 15">
            <a:extLst>
              <a:ext uri="{FF2B5EF4-FFF2-40B4-BE49-F238E27FC236}">
                <a16:creationId xmlns:a16="http://schemas.microsoft.com/office/drawing/2014/main" id="{D92B628D-93DC-52FD-D574-95DCBE2B9868}"/>
              </a:ext>
            </a:extLst>
          </p:cNvPr>
          <p:cNvSpPr/>
          <p:nvPr/>
        </p:nvSpPr>
        <p:spPr>
          <a:xfrm flipH="1">
            <a:off x="5502466" y="2838789"/>
            <a:ext cx="392387" cy="672677"/>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7" name="Rectangle 16">
            <a:extLst>
              <a:ext uri="{FF2B5EF4-FFF2-40B4-BE49-F238E27FC236}">
                <a16:creationId xmlns:a16="http://schemas.microsoft.com/office/drawing/2014/main" id="{62B78BA9-226A-951B-F5EB-FB2D7587AB84}"/>
              </a:ext>
            </a:extLst>
          </p:cNvPr>
          <p:cNvSpPr/>
          <p:nvPr/>
        </p:nvSpPr>
        <p:spPr>
          <a:xfrm flipH="1">
            <a:off x="5502995" y="3599821"/>
            <a:ext cx="392387" cy="672677"/>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 name="TextBox 8">
            <a:extLst>
              <a:ext uri="{FF2B5EF4-FFF2-40B4-BE49-F238E27FC236}">
                <a16:creationId xmlns:a16="http://schemas.microsoft.com/office/drawing/2014/main" id="{0D30DD0B-9E65-B9A0-2A27-7C05C00CC710}"/>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Solar Panel Layout</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1499583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AE3D6-B8FD-1357-0CCA-57C553A302E7}"/>
            </a:ext>
          </a:extLst>
        </p:cNvPr>
        <p:cNvGrpSpPr/>
        <p:nvPr/>
      </p:nvGrpSpPr>
      <p:grpSpPr>
        <a:xfrm>
          <a:off x="0" y="0"/>
          <a:ext cx="0" cy="0"/>
          <a:chOff x="0" y="0"/>
          <a:chExt cx="0" cy="0"/>
        </a:xfrm>
      </p:grpSpPr>
      <p:graphicFrame>
        <p:nvGraphicFramePr>
          <p:cNvPr id="54" name="Google Shape;237;p6">
            <a:extLst>
              <a:ext uri="{FF2B5EF4-FFF2-40B4-BE49-F238E27FC236}">
                <a16:creationId xmlns:a16="http://schemas.microsoft.com/office/drawing/2014/main" id="{8AD5635D-58F4-22DE-A989-929C3D0C851D}"/>
              </a:ext>
            </a:extLst>
          </p:cNvPr>
          <p:cNvGraphicFramePr/>
          <p:nvPr>
            <p:extLst>
              <p:ext uri="{D42A27DB-BD31-4B8C-83A1-F6EECF244321}">
                <p14:modId xmlns:p14="http://schemas.microsoft.com/office/powerpoint/2010/main" val="1927675796"/>
              </p:ext>
            </p:extLst>
          </p:nvPr>
        </p:nvGraphicFramePr>
        <p:xfrm>
          <a:off x="5144167" y="1759409"/>
          <a:ext cx="2091670" cy="822970"/>
        </p:xfrm>
        <a:graphic>
          <a:graphicData uri="http://schemas.openxmlformats.org/drawingml/2006/table">
            <a:tbl>
              <a:tblPr bandRow="1">
                <a:noFill/>
              </a:tblPr>
              <a:tblGrid>
                <a:gridCol w="2091670">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latin typeface="Work Sans" pitchFamily="2" charset="77"/>
                          <a:ea typeface="Work Sans Light"/>
                          <a:cs typeface="Work Sans Light"/>
                          <a:sym typeface="Work Sans Light"/>
                        </a:rPr>
                        <a:t>The DC c</a:t>
                      </a:r>
                      <a:r>
                        <a:rPr lang="en-US" sz="1200" b="0" i="0" dirty="0">
                          <a:solidFill>
                            <a:schemeClr val="dk1"/>
                          </a:solidFill>
                          <a:latin typeface="Work Sans" pitchFamily="2" charset="77"/>
                          <a:ea typeface="Work Sans Light"/>
                          <a:cs typeface="Work Sans Light"/>
                          <a:sym typeface="Work Sans Light"/>
                        </a:rPr>
                        <a:t>able runs from the panels to the drop point, indicated by the blue circle.</a:t>
                      </a:r>
                      <a:endParaRPr sz="1200" b="0" i="0" dirty="0">
                        <a:solidFill>
                          <a:schemeClr val="dk1"/>
                        </a:solidFill>
                        <a:latin typeface="Work Sans" pitchFamily="2" charset="77"/>
                        <a:ea typeface="Work Sans Light"/>
                        <a:cs typeface="Work Sans Light"/>
                        <a:sym typeface="Work Sans Light"/>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
        <p:nvSpPr>
          <p:cNvPr id="56" name="Google Shape;246;p6">
            <a:extLst>
              <a:ext uri="{FF2B5EF4-FFF2-40B4-BE49-F238E27FC236}">
                <a16:creationId xmlns:a16="http://schemas.microsoft.com/office/drawing/2014/main" id="{A37E0F55-D792-1981-7491-8D71D6B88460}"/>
              </a:ext>
            </a:extLst>
          </p:cNvPr>
          <p:cNvSpPr/>
          <p:nvPr/>
        </p:nvSpPr>
        <p:spPr>
          <a:xfrm>
            <a:off x="321806" y="1787985"/>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algn="ctr" defTabSz="914400">
              <a:buClr>
                <a:srgbClr val="000000"/>
              </a:buClr>
              <a:buFont typeface="Arial"/>
              <a:buNone/>
            </a:pPr>
            <a:endParaRPr kern="0">
              <a:solidFill>
                <a:prstClr val="white"/>
              </a:solidFill>
              <a:ea typeface="Calibri"/>
              <a:cs typeface="Calibri"/>
              <a:sym typeface="Calibri"/>
            </a:endParaRPr>
          </a:p>
        </p:txBody>
      </p:sp>
      <p:sp>
        <p:nvSpPr>
          <p:cNvPr id="57" name="Google Shape;247;p6">
            <a:extLst>
              <a:ext uri="{FF2B5EF4-FFF2-40B4-BE49-F238E27FC236}">
                <a16:creationId xmlns:a16="http://schemas.microsoft.com/office/drawing/2014/main" id="{C8460AA1-FB9B-9A3E-2FCD-1B51F0B47020}"/>
              </a:ext>
            </a:extLst>
          </p:cNvPr>
          <p:cNvSpPr/>
          <p:nvPr/>
        </p:nvSpPr>
        <p:spPr>
          <a:xfrm>
            <a:off x="321806" y="5809634"/>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algn="ctr" defTabSz="914400">
              <a:buClr>
                <a:srgbClr val="000000"/>
              </a:buClr>
              <a:buFont typeface="Arial"/>
              <a:buNone/>
            </a:pPr>
            <a:endParaRPr kern="0">
              <a:solidFill>
                <a:prstClr val="white"/>
              </a:solidFill>
              <a:ea typeface="Calibri"/>
              <a:cs typeface="Calibri"/>
              <a:sym typeface="Calibri"/>
            </a:endParaRPr>
          </a:p>
        </p:txBody>
      </p:sp>
      <p:graphicFrame>
        <p:nvGraphicFramePr>
          <p:cNvPr id="67" name="Google Shape;245;p6">
            <a:extLst>
              <a:ext uri="{FF2B5EF4-FFF2-40B4-BE49-F238E27FC236}">
                <a16:creationId xmlns:a16="http://schemas.microsoft.com/office/drawing/2014/main" id="{AE2A928D-EC61-7E68-D802-B019FF646D93}"/>
              </a:ext>
            </a:extLst>
          </p:cNvPr>
          <p:cNvGraphicFramePr/>
          <p:nvPr>
            <p:extLst>
              <p:ext uri="{D42A27DB-BD31-4B8C-83A1-F6EECF244321}">
                <p14:modId xmlns:p14="http://schemas.microsoft.com/office/powerpoint/2010/main" val="893243159"/>
              </p:ext>
            </p:extLst>
          </p:nvPr>
        </p:nvGraphicFramePr>
        <p:xfrm>
          <a:off x="5163531" y="5720214"/>
          <a:ext cx="2072305" cy="822970"/>
        </p:xfrm>
        <a:graphic>
          <a:graphicData uri="http://schemas.openxmlformats.org/drawingml/2006/table">
            <a:tbl>
              <a:tblPr bandRow="1">
                <a:noFill/>
              </a:tblPr>
              <a:tblGrid>
                <a:gridCol w="2072305">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a:spcBef>
                          <a:spcPts val="0"/>
                        </a:spcBef>
                        <a:spcAft>
                          <a:spcPts val="0"/>
                        </a:spcAft>
                        <a:buClr>
                          <a:schemeClr val="dk1"/>
                        </a:buClr>
                        <a:buSzPts val="1200"/>
                        <a:buFont typeface="Work Sans Light"/>
                        <a:buNone/>
                        <a:defRPr/>
                      </a:pPr>
                      <a:r>
                        <a:rPr lang="en-US" sz="1200" b="0" i="0" dirty="0">
                          <a:latin typeface="Work Sans" pitchFamily="2" charset="77"/>
                          <a:ea typeface="Work Sans Light"/>
                          <a:cs typeface="Work Sans Light"/>
                        </a:rPr>
                        <a:t>It is routed to the porch via the drop point, concealed under the roof tiles.</a:t>
                      </a:r>
                      <a:endParaRPr lang="en-US" sz="1200" b="0" i="0" dirty="0">
                        <a:solidFill>
                          <a:schemeClr val="dk1"/>
                        </a:solidFill>
                        <a:latin typeface="Work Sans" pitchFamily="2" charset="77"/>
                        <a:ea typeface="Work Sans Light"/>
                        <a:cs typeface="Work Sans Light"/>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grpSp>
        <p:nvGrpSpPr>
          <p:cNvPr id="72" name="Group 71">
            <a:extLst>
              <a:ext uri="{FF2B5EF4-FFF2-40B4-BE49-F238E27FC236}">
                <a16:creationId xmlns:a16="http://schemas.microsoft.com/office/drawing/2014/main" id="{FD79AFFF-D076-1A03-7DBC-FF2F64313910}"/>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F36E25C6-178F-3F9D-1207-BEA7FAA3B9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8DC201E3-0BED-67DA-467E-2D90FFE2FB0C}"/>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pic>
        <p:nvPicPr>
          <p:cNvPr id="85" name="Picture 84" descr="A bird's eye view of a house&#10;&#10;AI-generated content may be incorrect.">
            <a:extLst>
              <a:ext uri="{FF2B5EF4-FFF2-40B4-BE49-F238E27FC236}">
                <a16:creationId xmlns:a16="http://schemas.microsoft.com/office/drawing/2014/main" id="{CE3B746F-0C1A-D0AF-4C07-B2633583E57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bwMode="auto">
          <a:xfrm>
            <a:off x="423486" y="1875403"/>
            <a:ext cx="4418050" cy="3182400"/>
          </a:xfrm>
          <a:prstGeom prst="rect">
            <a:avLst/>
          </a:prstGeom>
        </p:spPr>
      </p:pic>
      <p:sp>
        <p:nvSpPr>
          <p:cNvPr id="86" name="Oval 85">
            <a:extLst>
              <a:ext uri="{FF2B5EF4-FFF2-40B4-BE49-F238E27FC236}">
                <a16:creationId xmlns:a16="http://schemas.microsoft.com/office/drawing/2014/main" id="{975B6F22-85BC-137A-186E-0072E2160250}"/>
              </a:ext>
            </a:extLst>
          </p:cNvPr>
          <p:cNvSpPr/>
          <p:nvPr/>
        </p:nvSpPr>
        <p:spPr bwMode="auto">
          <a:xfrm>
            <a:off x="4009517" y="3100858"/>
            <a:ext cx="229242" cy="24972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MY" sz="1400" b="0" i="0" u="none" strike="noStrike" kern="0" cap="none" spc="0" normalizeH="0" baseline="0" noProof="0">
              <a:ln>
                <a:noFill/>
              </a:ln>
              <a:solidFill>
                <a:srgbClr val="FFFFFF"/>
              </a:solidFill>
              <a:effectLst/>
              <a:uLnTx/>
              <a:uFillTx/>
              <a:latin typeface="Arial"/>
              <a:cs typeface="Arial"/>
            </a:endParaRPr>
          </a:p>
        </p:txBody>
      </p:sp>
      <p:cxnSp>
        <p:nvCxnSpPr>
          <p:cNvPr id="63" name="Google Shape;238;p6">
            <a:extLst>
              <a:ext uri="{FF2B5EF4-FFF2-40B4-BE49-F238E27FC236}">
                <a16:creationId xmlns:a16="http://schemas.microsoft.com/office/drawing/2014/main" id="{747D3E6A-1588-447B-0342-1D73035B26DD}"/>
              </a:ext>
            </a:extLst>
          </p:cNvPr>
          <p:cNvCxnSpPr>
            <a:cxnSpLocks/>
            <a:endCxn id="86" idx="7"/>
          </p:cNvCxnSpPr>
          <p:nvPr/>
        </p:nvCxnSpPr>
        <p:spPr>
          <a:xfrm flipH="1">
            <a:off x="4205187" y="2170889"/>
            <a:ext cx="938981" cy="966540"/>
          </a:xfrm>
          <a:prstGeom prst="straightConnector1">
            <a:avLst/>
          </a:prstGeom>
          <a:noFill/>
          <a:ln w="28575" cap="flat" cmpd="sng">
            <a:solidFill>
              <a:sysClr val="windowText" lastClr="000000"/>
            </a:solidFill>
            <a:prstDash val="solid"/>
            <a:round/>
            <a:headEnd type="none" w="sm" len="sm"/>
            <a:tailEnd type="triangle" w="med" len="med"/>
          </a:ln>
        </p:spPr>
      </p:cxnSp>
      <p:pic>
        <p:nvPicPr>
          <p:cNvPr id="88" name="Picture 87" descr="A building with a blue line&#10;&#10;AI-generated content may be incorrect.">
            <a:extLst>
              <a:ext uri="{FF2B5EF4-FFF2-40B4-BE49-F238E27FC236}">
                <a16:creationId xmlns:a16="http://schemas.microsoft.com/office/drawing/2014/main" id="{0490F1EA-DC07-4920-DE22-4D7BAD4F7791}"/>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bwMode="auto">
          <a:xfrm>
            <a:off x="423486" y="5898803"/>
            <a:ext cx="4418050" cy="3178898"/>
          </a:xfrm>
          <a:prstGeom prst="rect">
            <a:avLst/>
          </a:prstGeom>
        </p:spPr>
      </p:pic>
      <p:cxnSp>
        <p:nvCxnSpPr>
          <p:cNvPr id="68" name="Google Shape;238;p6">
            <a:extLst>
              <a:ext uri="{FF2B5EF4-FFF2-40B4-BE49-F238E27FC236}">
                <a16:creationId xmlns:a16="http://schemas.microsoft.com/office/drawing/2014/main" id="{F140A8C6-1E68-7D23-C3BE-BBD3B6F0439C}"/>
              </a:ext>
            </a:extLst>
          </p:cNvPr>
          <p:cNvCxnSpPr>
            <a:cxnSpLocks/>
            <a:stCxn id="67" idx="1"/>
          </p:cNvCxnSpPr>
          <p:nvPr/>
        </p:nvCxnSpPr>
        <p:spPr>
          <a:xfrm flipH="1">
            <a:off x="2830017" y="6131699"/>
            <a:ext cx="2333514" cy="448046"/>
          </a:xfrm>
          <a:prstGeom prst="straightConnector1">
            <a:avLst/>
          </a:prstGeom>
          <a:noFill/>
          <a:ln w="28575" cap="flat" cmpd="sng">
            <a:solidFill>
              <a:sysClr val="windowText" lastClr="000000"/>
            </a:solidFill>
            <a:prstDash val="solid"/>
            <a:round/>
            <a:headEnd type="none" w="sm" len="sm"/>
            <a:tailEnd type="triangle" w="med" len="med"/>
          </a:ln>
        </p:spPr>
      </p:cxnSp>
      <p:sp>
        <p:nvSpPr>
          <p:cNvPr id="3" name="TextBox 2">
            <a:extLst>
              <a:ext uri="{FF2B5EF4-FFF2-40B4-BE49-F238E27FC236}">
                <a16:creationId xmlns:a16="http://schemas.microsoft.com/office/drawing/2014/main" id="{F014F60A-E743-1985-551C-DA1CE37BB4D1}"/>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DC (Rooftop) Cable Routing</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2989734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16A0F-9B9A-3296-BD14-21BD620F8B5A}"/>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DD86377B-A95D-06B6-35D9-500E1435AD03}"/>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DA2D8815-194B-446D-D1B4-C10D9C1E9F1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77ACF6AD-DD05-47B4-D89B-D5D8D795BA5D}"/>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sp>
        <p:nvSpPr>
          <p:cNvPr id="5" name="Google Shape;272;p7">
            <a:extLst>
              <a:ext uri="{FF2B5EF4-FFF2-40B4-BE49-F238E27FC236}">
                <a16:creationId xmlns:a16="http://schemas.microsoft.com/office/drawing/2014/main" id="{981CD66A-EA7D-CBE7-FB9F-6C1D1F8BF543}"/>
              </a:ext>
            </a:extLst>
          </p:cNvPr>
          <p:cNvSpPr/>
          <p:nvPr/>
        </p:nvSpPr>
        <p:spPr>
          <a:xfrm>
            <a:off x="321806" y="1782239"/>
            <a:ext cx="4621411" cy="4618800"/>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2BE6320C-50BF-D68E-24CA-44EAC189A4FD}"/>
              </a:ext>
            </a:extLst>
          </p:cNvPr>
          <p:cNvGrpSpPr/>
          <p:nvPr/>
        </p:nvGrpSpPr>
        <p:grpSpPr>
          <a:xfrm>
            <a:off x="462772" y="6612782"/>
            <a:ext cx="4339477" cy="246181"/>
            <a:chOff x="750821" y="6673445"/>
            <a:chExt cx="4339477" cy="246181"/>
          </a:xfrm>
        </p:grpSpPr>
        <p:grpSp>
          <p:nvGrpSpPr>
            <p:cNvPr id="7" name="Group 6">
              <a:extLst>
                <a:ext uri="{FF2B5EF4-FFF2-40B4-BE49-F238E27FC236}">
                  <a16:creationId xmlns:a16="http://schemas.microsoft.com/office/drawing/2014/main" id="{7774E799-7983-6C52-F42C-E4DEFC132956}"/>
                </a:ext>
              </a:extLst>
            </p:cNvPr>
            <p:cNvGrpSpPr/>
            <p:nvPr/>
          </p:nvGrpSpPr>
          <p:grpSpPr>
            <a:xfrm>
              <a:off x="2000439" y="6673445"/>
              <a:ext cx="1207207" cy="246181"/>
              <a:chOff x="2957260" y="6673445"/>
              <a:chExt cx="1207207" cy="246181"/>
            </a:xfrm>
          </p:grpSpPr>
          <p:cxnSp>
            <p:nvCxnSpPr>
              <p:cNvPr id="15" name="Google Shape;261;p7">
                <a:extLst>
                  <a:ext uri="{FF2B5EF4-FFF2-40B4-BE49-F238E27FC236}">
                    <a16:creationId xmlns:a16="http://schemas.microsoft.com/office/drawing/2014/main" id="{D787A51E-A8BB-9F35-05F2-F8CEAA2D0B44}"/>
                  </a:ext>
                </a:extLst>
              </p:cNvPr>
              <p:cNvCxnSpPr>
                <a:cxnSpLocks/>
              </p:cNvCxnSpPr>
              <p:nvPr/>
            </p:nvCxnSpPr>
            <p:spPr>
              <a:xfrm rot="10800000">
                <a:off x="2957260" y="6796536"/>
                <a:ext cx="316296" cy="0"/>
              </a:xfrm>
              <a:prstGeom prst="straightConnector1">
                <a:avLst/>
              </a:prstGeom>
              <a:noFill/>
              <a:ln w="38100" cap="flat" cmpd="sng">
                <a:solidFill>
                  <a:srgbClr val="F454CD"/>
                </a:solidFill>
                <a:prstDash val="solid"/>
                <a:round/>
                <a:headEnd type="none" w="sm" len="sm"/>
                <a:tailEnd type="none" w="sm" len="sm"/>
              </a:ln>
            </p:spPr>
          </p:cxnSp>
          <p:sp>
            <p:nvSpPr>
              <p:cNvPr id="16" name="Google Shape;262;p7">
                <a:extLst>
                  <a:ext uri="{FF2B5EF4-FFF2-40B4-BE49-F238E27FC236}">
                    <a16:creationId xmlns:a16="http://schemas.microsoft.com/office/drawing/2014/main" id="{97178B6B-FC29-FE21-2603-E131F620B505}"/>
                  </a:ext>
                </a:extLst>
              </p:cNvPr>
              <p:cNvSpPr txBox="1"/>
              <p:nvPr/>
            </p:nvSpPr>
            <p:spPr>
              <a:xfrm>
                <a:off x="3296922" y="6673445"/>
                <a:ext cx="867545" cy="24618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200"/>
                  <a:buFont typeface="Work Sans Light"/>
                  <a:buNone/>
                </a:pPr>
                <a:r>
                  <a:rPr lang="en-US" sz="1000" u="none" strike="noStrike" cap="none">
                    <a:solidFill>
                      <a:srgbClr val="000000"/>
                    </a:solidFill>
                    <a:latin typeface="Work Sans" pitchFamily="2" charset="77"/>
                    <a:ea typeface="Work Sans Light"/>
                    <a:cs typeface="Work Sans Light"/>
                    <a:sym typeface="Work Sans Light"/>
                  </a:rPr>
                  <a:t>AC Cable</a:t>
                </a:r>
                <a:endParaRPr sz="1200">
                  <a:latin typeface="Work Sans" pitchFamily="2" charset="77"/>
                </a:endParaRPr>
              </a:p>
            </p:txBody>
          </p:sp>
        </p:grpSp>
        <p:grpSp>
          <p:nvGrpSpPr>
            <p:cNvPr id="8" name="Group 7">
              <a:extLst>
                <a:ext uri="{FF2B5EF4-FFF2-40B4-BE49-F238E27FC236}">
                  <a16:creationId xmlns:a16="http://schemas.microsoft.com/office/drawing/2014/main" id="{DC696540-9EF1-4E48-6CB2-F20BB869F3EB}"/>
                </a:ext>
              </a:extLst>
            </p:cNvPr>
            <p:cNvGrpSpPr/>
            <p:nvPr/>
          </p:nvGrpSpPr>
          <p:grpSpPr>
            <a:xfrm>
              <a:off x="750821" y="6673445"/>
              <a:ext cx="1218628" cy="246181"/>
              <a:chOff x="750821" y="6673445"/>
              <a:chExt cx="1218628" cy="246181"/>
            </a:xfrm>
          </p:grpSpPr>
          <p:cxnSp>
            <p:nvCxnSpPr>
              <p:cNvPr id="13" name="Google Shape;263;p7">
                <a:extLst>
                  <a:ext uri="{FF2B5EF4-FFF2-40B4-BE49-F238E27FC236}">
                    <a16:creationId xmlns:a16="http://schemas.microsoft.com/office/drawing/2014/main" id="{E4A602E3-FD71-1479-372A-0EFF6E180A10}"/>
                  </a:ext>
                </a:extLst>
              </p:cNvPr>
              <p:cNvCxnSpPr>
                <a:cxnSpLocks/>
              </p:cNvCxnSpPr>
              <p:nvPr/>
            </p:nvCxnSpPr>
            <p:spPr>
              <a:xfrm rot="10800000">
                <a:off x="750821" y="6796536"/>
                <a:ext cx="316296" cy="0"/>
              </a:xfrm>
              <a:prstGeom prst="straightConnector1">
                <a:avLst/>
              </a:prstGeom>
              <a:noFill/>
              <a:ln w="38100" cap="flat" cmpd="sng">
                <a:solidFill>
                  <a:srgbClr val="0084FC"/>
                </a:solidFill>
                <a:prstDash val="solid"/>
                <a:round/>
                <a:headEnd type="none" w="sm" len="sm"/>
                <a:tailEnd type="none" w="sm" len="sm"/>
              </a:ln>
            </p:spPr>
          </p:cxnSp>
          <p:sp>
            <p:nvSpPr>
              <p:cNvPr id="14" name="Google Shape;264;p7">
                <a:extLst>
                  <a:ext uri="{FF2B5EF4-FFF2-40B4-BE49-F238E27FC236}">
                    <a16:creationId xmlns:a16="http://schemas.microsoft.com/office/drawing/2014/main" id="{BD03F8FF-E091-9A0E-2E51-6169CCBCD8A9}"/>
                  </a:ext>
                </a:extLst>
              </p:cNvPr>
              <p:cNvSpPr txBox="1"/>
              <p:nvPr/>
            </p:nvSpPr>
            <p:spPr>
              <a:xfrm>
                <a:off x="1092286" y="6673445"/>
                <a:ext cx="877163" cy="24618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200"/>
                  <a:buFont typeface="Work Sans Light"/>
                  <a:buNone/>
                </a:pPr>
                <a:r>
                  <a:rPr lang="en-US" sz="1000" u="none" strike="noStrike" cap="none" dirty="0">
                    <a:solidFill>
                      <a:srgbClr val="000000"/>
                    </a:solidFill>
                    <a:latin typeface="Work Sans" pitchFamily="2" charset="77"/>
                    <a:ea typeface="Work Sans Light"/>
                    <a:cs typeface="Work Sans Light"/>
                    <a:sym typeface="Work Sans Light"/>
                  </a:rPr>
                  <a:t>DC Cable</a:t>
                </a:r>
                <a:endParaRPr sz="1200" dirty="0">
                  <a:latin typeface="Work Sans" pitchFamily="2" charset="77"/>
                </a:endParaRPr>
              </a:p>
            </p:txBody>
          </p:sp>
        </p:grpSp>
        <p:grpSp>
          <p:nvGrpSpPr>
            <p:cNvPr id="9" name="Group 8">
              <a:extLst>
                <a:ext uri="{FF2B5EF4-FFF2-40B4-BE49-F238E27FC236}">
                  <a16:creationId xmlns:a16="http://schemas.microsoft.com/office/drawing/2014/main" id="{5066DB9E-C2B1-DEC3-7B32-332B705A4345}"/>
                </a:ext>
              </a:extLst>
            </p:cNvPr>
            <p:cNvGrpSpPr/>
            <p:nvPr/>
          </p:nvGrpSpPr>
          <p:grpSpPr>
            <a:xfrm>
              <a:off x="3238636" y="6673445"/>
              <a:ext cx="1851662" cy="246181"/>
              <a:chOff x="3238636" y="6675145"/>
              <a:chExt cx="1851662" cy="246181"/>
            </a:xfrm>
          </p:grpSpPr>
          <p:cxnSp>
            <p:nvCxnSpPr>
              <p:cNvPr id="10" name="Google Shape;261;p7">
                <a:extLst>
                  <a:ext uri="{FF2B5EF4-FFF2-40B4-BE49-F238E27FC236}">
                    <a16:creationId xmlns:a16="http://schemas.microsoft.com/office/drawing/2014/main" id="{C154A6A0-113B-6044-78D1-4B0E0C03B900}"/>
                  </a:ext>
                </a:extLst>
              </p:cNvPr>
              <p:cNvCxnSpPr>
                <a:cxnSpLocks/>
              </p:cNvCxnSpPr>
              <p:nvPr/>
            </p:nvCxnSpPr>
            <p:spPr>
              <a:xfrm rot="10800000">
                <a:off x="3238636" y="6798236"/>
                <a:ext cx="316296" cy="0"/>
              </a:xfrm>
              <a:prstGeom prst="straightConnector1">
                <a:avLst/>
              </a:prstGeom>
              <a:noFill/>
              <a:ln w="38100" cap="flat" cmpd="sng">
                <a:solidFill>
                  <a:schemeClr val="tx1"/>
                </a:solidFill>
                <a:prstDash val="sysDot"/>
                <a:round/>
                <a:headEnd type="none" w="sm" len="sm"/>
                <a:tailEnd type="none" w="sm" len="sm"/>
              </a:ln>
            </p:spPr>
          </p:cxnSp>
          <p:sp>
            <p:nvSpPr>
              <p:cNvPr id="12" name="Google Shape;262;p7">
                <a:extLst>
                  <a:ext uri="{FF2B5EF4-FFF2-40B4-BE49-F238E27FC236}">
                    <a16:creationId xmlns:a16="http://schemas.microsoft.com/office/drawing/2014/main" id="{E6CE536F-F3B8-B05D-0490-A30C87467C40}"/>
                  </a:ext>
                </a:extLst>
              </p:cNvPr>
              <p:cNvSpPr txBox="1"/>
              <p:nvPr/>
            </p:nvSpPr>
            <p:spPr>
              <a:xfrm>
                <a:off x="3578298" y="6675145"/>
                <a:ext cx="1512000" cy="24618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200"/>
                  <a:buFont typeface="Work Sans Light"/>
                  <a:buNone/>
                </a:pPr>
                <a:r>
                  <a:rPr lang="en-US" sz="1000" u="none" strike="noStrike" cap="none">
                    <a:solidFill>
                      <a:srgbClr val="000000"/>
                    </a:solidFill>
                    <a:latin typeface="Work Sans" pitchFamily="2" charset="77"/>
                    <a:ea typeface="Work Sans Light"/>
                    <a:cs typeface="Work Sans Light"/>
                    <a:sym typeface="Work Sans Light"/>
                  </a:rPr>
                  <a:t>Concea</a:t>
                </a:r>
                <a:r>
                  <a:rPr lang="en-US" sz="1000">
                    <a:latin typeface="Work Sans" pitchFamily="2" charset="77"/>
                    <a:ea typeface="Work Sans Light"/>
                    <a:cs typeface="Work Sans Light"/>
                    <a:sym typeface="Work Sans Light"/>
                  </a:rPr>
                  <a:t>led Portion</a:t>
                </a:r>
                <a:endParaRPr sz="1200">
                  <a:latin typeface="Work Sans" pitchFamily="2" charset="77"/>
                </a:endParaRPr>
              </a:p>
            </p:txBody>
          </p:sp>
        </p:grpSp>
      </p:grpSp>
      <p:graphicFrame>
        <p:nvGraphicFramePr>
          <p:cNvPr id="28" name="Google Shape;259;p7">
            <a:extLst>
              <a:ext uri="{FF2B5EF4-FFF2-40B4-BE49-F238E27FC236}">
                <a16:creationId xmlns:a16="http://schemas.microsoft.com/office/drawing/2014/main" id="{AE3083AF-4E92-3BAD-22A4-77C08CF25EC0}"/>
              </a:ext>
            </a:extLst>
          </p:cNvPr>
          <p:cNvGraphicFramePr/>
          <p:nvPr>
            <p:extLst>
              <p:ext uri="{D42A27DB-BD31-4B8C-83A1-F6EECF244321}">
                <p14:modId xmlns:p14="http://schemas.microsoft.com/office/powerpoint/2010/main" val="2229641520"/>
              </p:ext>
            </p:extLst>
          </p:nvPr>
        </p:nvGraphicFramePr>
        <p:xfrm>
          <a:off x="321806" y="7277581"/>
          <a:ext cx="6914029" cy="1775350"/>
        </p:xfrm>
        <a:graphic>
          <a:graphicData uri="http://schemas.openxmlformats.org/drawingml/2006/table">
            <a:tbl>
              <a:tblPr bandRow="1">
                <a:noFill/>
              </a:tblPr>
              <a:tblGrid>
                <a:gridCol w="1814647">
                  <a:extLst>
                    <a:ext uri="{9D8B030D-6E8A-4147-A177-3AD203B41FA5}">
                      <a16:colId xmlns:a16="http://schemas.microsoft.com/office/drawing/2014/main" val="20000"/>
                    </a:ext>
                  </a:extLst>
                </a:gridCol>
                <a:gridCol w="5099382">
                  <a:extLst>
                    <a:ext uri="{9D8B030D-6E8A-4147-A177-3AD203B41FA5}">
                      <a16:colId xmlns:a16="http://schemas.microsoft.com/office/drawing/2014/main" val="20001"/>
                    </a:ext>
                  </a:extLst>
                </a:gridCol>
              </a:tblGrid>
              <a:tr h="612000">
                <a:tc gridSpan="2">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chemeClr val="dk1"/>
                        </a:buClr>
                        <a:buSzPts val="1200"/>
                        <a:buFont typeface="Work Sans Light"/>
                        <a:buNone/>
                      </a:pPr>
                      <a:r>
                        <a:rPr lang="en-US" sz="1000" dirty="0">
                          <a:latin typeface="Work Sans" pitchFamily="2" charset="77"/>
                          <a:ea typeface="Work Sans Light"/>
                          <a:cs typeface="Work Sans Light"/>
                          <a:sym typeface="Work Sans Light"/>
                        </a:rPr>
                        <a:t>We recommend placing these components outside your home in a well-ventilated area, shaded and protected from the weather for several reasons:</a:t>
                      </a:r>
                      <a:endParaRPr sz="1100" dirty="0">
                        <a:latin typeface="Work Sans" pitchFamily="2" charset="77"/>
                      </a:endParaRP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FFF"/>
                    </a:solidFill>
                  </a:tcPr>
                </a:tc>
                <a:tc hMerge="1">
                  <a:txBody>
                    <a:bodyPr/>
                    <a:lstStyle/>
                    <a:p>
                      <a:endParaRPr lang="en-US"/>
                    </a:p>
                  </a:txBody>
                  <a:tcPr/>
                </a:tc>
                <a:extLst>
                  <a:ext uri="{0D108BD9-81ED-4DB2-BD59-A6C34878D82A}">
                    <a16:rowId xmlns:a16="http://schemas.microsoft.com/office/drawing/2014/main" val="10000"/>
                  </a:ext>
                </a:extLst>
              </a:tr>
              <a:tr h="152400">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spcBef>
                          <a:spcPts val="0"/>
                        </a:spcBef>
                        <a:spcAft>
                          <a:spcPts val="0"/>
                        </a:spcAft>
                        <a:buNone/>
                      </a:pPr>
                      <a:r>
                        <a:rPr lang="en-US" sz="1000" b="1" i="0">
                          <a:latin typeface="Work Sans" pitchFamily="2" charset="77"/>
                          <a:ea typeface="Work Sans"/>
                          <a:cs typeface="Work Sans"/>
                          <a:sym typeface="Work Sans"/>
                        </a:rPr>
                        <a:t>Heat Dissipation</a:t>
                      </a:r>
                      <a:endParaRPr sz="1100">
                        <a:latin typeface="Work Sans" pitchFamily="2" charset="77"/>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no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chemeClr val="dk1"/>
                        </a:buClr>
                        <a:buSzPts val="1200"/>
                        <a:buFont typeface="Work Sans Light"/>
                        <a:buNone/>
                      </a:pPr>
                      <a:r>
                        <a:rPr lang="en-US" sz="1000" b="0" i="0" dirty="0">
                          <a:latin typeface="Work Sans" pitchFamily="2" charset="77"/>
                          <a:ea typeface="Work Sans Light"/>
                          <a:cs typeface="Work Sans Light"/>
                          <a:sym typeface="Work Sans Light"/>
                        </a:rPr>
                        <a:t>Open spaces keep your inverter cooler for better performance and longer life.</a:t>
                      </a:r>
                      <a:endParaRPr sz="1100" dirty="0">
                        <a:latin typeface="Work Sans" pitchFamily="2" charset="77"/>
                      </a:endParaRPr>
                    </a:p>
                    <a:p>
                      <a:pPr marL="0" marR="0" lvl="0" indent="0" algn="l" rtl="0">
                        <a:lnSpc>
                          <a:spcPct val="100000"/>
                        </a:lnSpc>
                        <a:spcBef>
                          <a:spcPts val="0"/>
                        </a:spcBef>
                        <a:spcAft>
                          <a:spcPts val="0"/>
                        </a:spcAft>
                        <a:buClr>
                          <a:schemeClr val="dk1"/>
                        </a:buClr>
                        <a:buSzPts val="1200"/>
                        <a:buFont typeface="Calibri"/>
                        <a:buNone/>
                      </a:pPr>
                      <a:endParaRPr sz="1000" b="0" i="0" dirty="0">
                        <a:latin typeface="Work Sans" pitchFamily="2" charset="77"/>
                        <a:ea typeface="Work Sans Light"/>
                        <a:cs typeface="Work Sans Light"/>
                        <a:sym typeface="Work Sans Light"/>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mpd="sng">
                      <a:noFill/>
                      <a:prstDash val="solid"/>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50">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spcBef>
                          <a:spcPts val="0"/>
                        </a:spcBef>
                        <a:spcAft>
                          <a:spcPts val="0"/>
                        </a:spcAft>
                        <a:buNone/>
                      </a:pPr>
                      <a:r>
                        <a:rPr lang="en-US" sz="1000" b="1" i="0">
                          <a:latin typeface="Work Sans" pitchFamily="2" charset="77"/>
                          <a:ea typeface="Work Sans"/>
                          <a:cs typeface="Work Sans"/>
                          <a:sym typeface="Work Sans"/>
                        </a:rPr>
                        <a:t>Accessibility</a:t>
                      </a:r>
                      <a:endParaRPr sz="1100">
                        <a:latin typeface="Work Sans" pitchFamily="2" charset="77"/>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chemeClr val="dk1"/>
                        </a:buClr>
                        <a:buSzPts val="1200"/>
                        <a:buFont typeface="Work Sans Light"/>
                        <a:buNone/>
                      </a:pPr>
                      <a:r>
                        <a:rPr lang="en-US" sz="1000" dirty="0">
                          <a:latin typeface="Work Sans" pitchFamily="2" charset="77"/>
                          <a:ea typeface="Work Sans Light"/>
                          <a:cs typeface="Work Sans Light"/>
                          <a:sym typeface="Work Sans Light"/>
                        </a:rPr>
                        <a:t>Easier maintenance without disrupting the household.</a:t>
                      </a:r>
                      <a:endParaRPr sz="1100" dirty="0">
                        <a:latin typeface="Work Sans" pitchFamily="2" charset="77"/>
                      </a:endParaRPr>
                    </a:p>
                    <a:p>
                      <a:pPr marL="0" marR="0" lvl="0" indent="0" algn="l" rtl="0">
                        <a:lnSpc>
                          <a:spcPct val="100000"/>
                        </a:lnSpc>
                        <a:spcBef>
                          <a:spcPts val="0"/>
                        </a:spcBef>
                        <a:spcAft>
                          <a:spcPts val="0"/>
                        </a:spcAft>
                        <a:buClr>
                          <a:schemeClr val="dk1"/>
                        </a:buClr>
                        <a:buSzPts val="1200"/>
                        <a:buFont typeface="Calibri"/>
                        <a:buNone/>
                      </a:pPr>
                      <a:endParaRPr sz="1000" dirty="0">
                        <a:latin typeface="Work Sans" pitchFamily="2" charset="77"/>
                        <a:ea typeface="Work Sans Light"/>
                        <a:cs typeface="Work Sans Light"/>
                        <a:sym typeface="Work Sans Light"/>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50">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rgbClr val="F454CD"/>
                        </a:buClr>
                        <a:buSzPts val="1200"/>
                        <a:buFont typeface="Arial"/>
                        <a:buNone/>
                      </a:pPr>
                      <a:r>
                        <a:rPr lang="en-US" sz="1000" b="1" i="0">
                          <a:latin typeface="Work Sans" pitchFamily="2" charset="77"/>
                          <a:ea typeface="Work Sans"/>
                          <a:cs typeface="Work Sans"/>
                          <a:sym typeface="Work Sans"/>
                        </a:rPr>
                        <a:t>Future-Proof</a:t>
                      </a:r>
                      <a:endParaRPr sz="1100">
                        <a:latin typeface="Work Sans" pitchFamily="2" charset="77"/>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spcBef>
                          <a:spcPts val="0"/>
                        </a:spcBef>
                        <a:spcAft>
                          <a:spcPts val="0"/>
                        </a:spcAft>
                        <a:buClr>
                          <a:srgbClr val="F454CD"/>
                        </a:buClr>
                        <a:buSzPts val="1200"/>
                        <a:buFont typeface="Arial"/>
                        <a:buNone/>
                      </a:pPr>
                      <a:r>
                        <a:rPr lang="en-US" sz="1000" dirty="0">
                          <a:latin typeface="Work Sans" pitchFamily="2" charset="77"/>
                          <a:ea typeface="Work Sans Light"/>
                          <a:cs typeface="Work Sans Light"/>
                          <a:sym typeface="Work Sans Light"/>
                        </a:rPr>
                        <a:t>Easily integrate an EV charger or batteries in the future.</a:t>
                      </a:r>
                      <a:endParaRPr sz="1000" b="0" i="0" dirty="0">
                        <a:latin typeface="Work Sans" pitchFamily="2" charset="77"/>
                        <a:ea typeface="Work Sans Light"/>
                        <a:cs typeface="Work Sans Light"/>
                        <a:sym typeface="Work Sans Light"/>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pic>
        <p:nvPicPr>
          <p:cNvPr id="29" name="Picture 28" descr="A room with a toy and a toy stand&#10;&#10;AI-generated content may be incorrect.">
            <a:extLst>
              <a:ext uri="{FF2B5EF4-FFF2-40B4-BE49-F238E27FC236}">
                <a16:creationId xmlns:a16="http://schemas.microsoft.com/office/drawing/2014/main" id="{AC6E6226-8686-B498-F74D-EE7CE266CB8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bwMode="auto">
          <a:xfrm>
            <a:off x="437710" y="1899287"/>
            <a:ext cx="4389602" cy="4384704"/>
          </a:xfrm>
          <a:prstGeom prst="rect">
            <a:avLst/>
          </a:prstGeom>
        </p:spPr>
      </p:pic>
      <p:graphicFrame>
        <p:nvGraphicFramePr>
          <p:cNvPr id="30" name="Google Shape;257;p7">
            <a:extLst>
              <a:ext uri="{FF2B5EF4-FFF2-40B4-BE49-F238E27FC236}">
                <a16:creationId xmlns:a16="http://schemas.microsoft.com/office/drawing/2014/main" id="{E1B7E23A-E668-2DEE-E023-4ACFD353611A}"/>
              </a:ext>
            </a:extLst>
          </p:cNvPr>
          <p:cNvGraphicFramePr>
            <a:graphicFrameLocks/>
          </p:cNvGraphicFramePr>
          <p:nvPr>
            <p:extLst>
              <p:ext uri="{D42A27DB-BD31-4B8C-83A1-F6EECF244321}">
                <p14:modId xmlns:p14="http://schemas.microsoft.com/office/powerpoint/2010/main" val="4074342855"/>
              </p:ext>
            </p:extLst>
          </p:nvPr>
        </p:nvGraphicFramePr>
        <p:xfrm>
          <a:off x="5274659" y="2678719"/>
          <a:ext cx="1961177" cy="1554490"/>
        </p:xfrm>
        <a:graphic>
          <a:graphicData uri="http://schemas.openxmlformats.org/drawingml/2006/table">
            <a:tbl>
              <a:tblPr bandRow="1">
                <a:noFill/>
              </a:tblPr>
              <a:tblGrid>
                <a:gridCol w="1961177">
                  <a:extLst>
                    <a:ext uri="{9D8B030D-6E8A-4147-A177-3AD203B41FA5}">
                      <a16:colId xmlns:a16="http://schemas.microsoft.com/office/drawing/2014/main" val="20000"/>
                    </a:ext>
                  </a:extLst>
                </a:gridCol>
              </a:tblGrid>
              <a:tr h="370849">
                <a:tc>
                  <a:txBody>
                    <a:bodyPr/>
                    <a:lstStyle/>
                    <a:p>
                      <a:pPr marL="0" marR="0" lvl="0" indent="0" algn="l">
                        <a:spcBef>
                          <a:spcPts val="0"/>
                        </a:spcBef>
                        <a:spcAft>
                          <a:spcPts val="0"/>
                        </a:spcAft>
                        <a:buNone/>
                        <a:defRPr/>
                      </a:pPr>
                      <a:r>
                        <a:rPr lang="en-US" sz="1200" b="0" i="0" dirty="0">
                          <a:latin typeface="Work Sans" pitchFamily="2" charset="77"/>
                          <a:ea typeface="Work Sans Light"/>
                          <a:cs typeface="Work Sans Light"/>
                        </a:rPr>
                        <a:t>A ceiling opening will be made for the DC cable to come down from the rooftop, and for routing the AC cable from the PVDB to the home’s distribution box (DB).</a:t>
                      </a:r>
                      <a:endParaRPr b="0" i="0" dirty="0">
                        <a:latin typeface="Work Sans" pitchFamily="2" charset="77"/>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bl>
          </a:graphicData>
        </a:graphic>
      </p:graphicFrame>
      <p:graphicFrame>
        <p:nvGraphicFramePr>
          <p:cNvPr id="31" name="Google Shape;258;p7">
            <a:extLst>
              <a:ext uri="{FF2B5EF4-FFF2-40B4-BE49-F238E27FC236}">
                <a16:creationId xmlns:a16="http://schemas.microsoft.com/office/drawing/2014/main" id="{0ACE3B6B-79C0-1829-255B-2D708D8B4AB0}"/>
              </a:ext>
            </a:extLst>
          </p:cNvPr>
          <p:cNvGraphicFramePr>
            <a:graphicFrameLocks/>
          </p:cNvGraphicFramePr>
          <p:nvPr>
            <p:extLst>
              <p:ext uri="{D42A27DB-BD31-4B8C-83A1-F6EECF244321}">
                <p14:modId xmlns:p14="http://schemas.microsoft.com/office/powerpoint/2010/main" val="2266829741"/>
              </p:ext>
            </p:extLst>
          </p:nvPr>
        </p:nvGraphicFramePr>
        <p:xfrm>
          <a:off x="5274660" y="4789288"/>
          <a:ext cx="1961176" cy="640090"/>
        </p:xfrm>
        <a:graphic>
          <a:graphicData uri="http://schemas.openxmlformats.org/drawingml/2006/table">
            <a:tbl>
              <a:tblPr bandRow="1">
                <a:noFill/>
              </a:tblPr>
              <a:tblGrid>
                <a:gridCol w="1961176">
                  <a:extLst>
                    <a:ext uri="{9D8B030D-6E8A-4147-A177-3AD203B41FA5}">
                      <a16:colId xmlns:a16="http://schemas.microsoft.com/office/drawing/2014/main" val="20000"/>
                    </a:ext>
                  </a:extLst>
                </a:gridCol>
              </a:tblGrid>
              <a:tr h="370849">
                <a:tc>
                  <a:txBody>
                    <a:bodyPr/>
                    <a:lstStyle/>
                    <a:p>
                      <a:pPr marL="0" marR="0" lvl="0" indent="0" algn="l">
                        <a:spcBef>
                          <a:spcPts val="0"/>
                        </a:spcBef>
                        <a:spcAft>
                          <a:spcPts val="0"/>
                        </a:spcAft>
                        <a:buNone/>
                        <a:defRPr/>
                      </a:pPr>
                      <a:r>
                        <a:rPr lang="en-US" sz="1200" b="0" i="0" dirty="0">
                          <a:latin typeface="Work Sans" pitchFamily="2" charset="77"/>
                          <a:ea typeface="Work Sans Light"/>
                          <a:cs typeface="Work Sans Light"/>
                        </a:rPr>
                        <a:t>The AC cable will pass through the porch to the DB.</a:t>
                      </a:r>
                      <a:endParaRPr b="0" i="0" dirty="0">
                        <a:latin typeface="Work Sans" pitchFamily="2" charset="77"/>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bl>
          </a:graphicData>
        </a:graphic>
      </p:graphicFrame>
      <p:cxnSp>
        <p:nvCxnSpPr>
          <p:cNvPr id="32" name="Google Shape;265;p7">
            <a:extLst>
              <a:ext uri="{FF2B5EF4-FFF2-40B4-BE49-F238E27FC236}">
                <a16:creationId xmlns:a16="http://schemas.microsoft.com/office/drawing/2014/main" id="{9C628C0C-9722-059E-13C0-44D8A99BBBF5}"/>
              </a:ext>
            </a:extLst>
          </p:cNvPr>
          <p:cNvCxnSpPr>
            <a:cxnSpLocks/>
            <a:stCxn id="30" idx="1"/>
          </p:cNvCxnSpPr>
          <p:nvPr/>
        </p:nvCxnSpPr>
        <p:spPr bwMode="auto">
          <a:xfrm flipH="1" flipV="1">
            <a:off x="1237129" y="2474259"/>
            <a:ext cx="4037530" cy="981705"/>
          </a:xfrm>
          <a:prstGeom prst="straightConnector1">
            <a:avLst/>
          </a:prstGeom>
          <a:noFill/>
          <a:ln w="28575" cap="flat" cmpd="sng">
            <a:solidFill>
              <a:schemeClr val="dk1"/>
            </a:solidFill>
            <a:prstDash val="solid"/>
            <a:round/>
            <a:headEnd type="none" w="sm" len="sm"/>
            <a:tailEnd type="triangle" w="med" len="med"/>
          </a:ln>
        </p:spPr>
      </p:cxnSp>
      <p:cxnSp>
        <p:nvCxnSpPr>
          <p:cNvPr id="33" name="Google Shape;266;p7">
            <a:extLst>
              <a:ext uri="{FF2B5EF4-FFF2-40B4-BE49-F238E27FC236}">
                <a16:creationId xmlns:a16="http://schemas.microsoft.com/office/drawing/2014/main" id="{C343627A-BD8E-67AC-5E81-D5C7662CCEB4}"/>
              </a:ext>
            </a:extLst>
          </p:cNvPr>
          <p:cNvCxnSpPr>
            <a:cxnSpLocks/>
            <a:stCxn id="31" idx="1"/>
          </p:cNvCxnSpPr>
          <p:nvPr/>
        </p:nvCxnSpPr>
        <p:spPr bwMode="auto">
          <a:xfrm flipH="1" flipV="1">
            <a:off x="3779837" y="2474259"/>
            <a:ext cx="1494823" cy="2635074"/>
          </a:xfrm>
          <a:prstGeom prst="straightConnector1">
            <a:avLst/>
          </a:prstGeom>
          <a:noFill/>
          <a:ln w="28575" cap="flat" cmpd="sng">
            <a:solidFill>
              <a:schemeClr val="dk1"/>
            </a:solidFill>
            <a:prstDash val="solid"/>
            <a:round/>
            <a:headEnd type="none" w="sm" len="sm"/>
            <a:tailEnd type="triangle" w="med" len="med"/>
          </a:ln>
        </p:spPr>
      </p:cxnSp>
      <p:sp>
        <p:nvSpPr>
          <p:cNvPr id="3" name="TextBox 2">
            <a:extLst>
              <a:ext uri="{FF2B5EF4-FFF2-40B4-BE49-F238E27FC236}">
                <a16:creationId xmlns:a16="http://schemas.microsoft.com/office/drawing/2014/main" id="{2950C66D-20BD-AB26-0872-68FEA7EE37ED}"/>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Inverter &amp; PVDB Location</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59845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99323-2A5D-5F90-CFE3-94DB2F00D19D}"/>
            </a:ext>
          </a:extLst>
        </p:cNvPr>
        <p:cNvGrpSpPr/>
        <p:nvPr/>
      </p:nvGrpSpPr>
      <p:grpSpPr>
        <a:xfrm>
          <a:off x="0" y="0"/>
          <a:ext cx="0" cy="0"/>
          <a:chOff x="0" y="0"/>
          <a:chExt cx="0" cy="0"/>
        </a:xfrm>
      </p:grpSpPr>
      <p:pic>
        <p:nvPicPr>
          <p:cNvPr id="6" name="Picture 5" descr="A room with a couch and a clock&#10;&#10;AI-generated content may be incorrect.">
            <a:extLst>
              <a:ext uri="{FF2B5EF4-FFF2-40B4-BE49-F238E27FC236}">
                <a16:creationId xmlns:a16="http://schemas.microsoft.com/office/drawing/2014/main" id="{2F244201-650C-2226-F0E7-CBD9085E3B9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bwMode="auto">
          <a:xfrm>
            <a:off x="423485" y="5908822"/>
            <a:ext cx="4418050" cy="3168879"/>
          </a:xfrm>
          <a:prstGeom prst="rect">
            <a:avLst/>
          </a:prstGeom>
        </p:spPr>
      </p:pic>
      <p:pic>
        <p:nvPicPr>
          <p:cNvPr id="4" name="Picture 3" descr="A room with a toy and a toy stand&#10;&#10;AI-generated content may be incorrect.">
            <a:extLst>
              <a:ext uri="{FF2B5EF4-FFF2-40B4-BE49-F238E27FC236}">
                <a16:creationId xmlns:a16="http://schemas.microsoft.com/office/drawing/2014/main" id="{49F3D62D-E2C1-F529-FF73-1B68B00D6479}"/>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bwMode="auto">
          <a:xfrm>
            <a:off x="423485" y="1875403"/>
            <a:ext cx="4418050" cy="3182400"/>
          </a:xfrm>
          <a:prstGeom prst="rect">
            <a:avLst/>
          </a:prstGeom>
        </p:spPr>
      </p:pic>
      <p:graphicFrame>
        <p:nvGraphicFramePr>
          <p:cNvPr id="54" name="Google Shape;237;p6">
            <a:extLst>
              <a:ext uri="{FF2B5EF4-FFF2-40B4-BE49-F238E27FC236}">
                <a16:creationId xmlns:a16="http://schemas.microsoft.com/office/drawing/2014/main" id="{243A829B-3001-E5CF-FA45-479D7F519BBE}"/>
              </a:ext>
            </a:extLst>
          </p:cNvPr>
          <p:cNvGraphicFramePr/>
          <p:nvPr>
            <p:extLst>
              <p:ext uri="{D42A27DB-BD31-4B8C-83A1-F6EECF244321}">
                <p14:modId xmlns:p14="http://schemas.microsoft.com/office/powerpoint/2010/main" val="4129186693"/>
              </p:ext>
            </p:extLst>
          </p:nvPr>
        </p:nvGraphicFramePr>
        <p:xfrm>
          <a:off x="5144167" y="1759409"/>
          <a:ext cx="2091670" cy="1005850"/>
        </p:xfrm>
        <a:graphic>
          <a:graphicData uri="http://schemas.openxmlformats.org/drawingml/2006/table">
            <a:tbl>
              <a:tblPr bandRow="1">
                <a:noFill/>
              </a:tblPr>
              <a:tblGrid>
                <a:gridCol w="2091670">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latin typeface="Work Sans" pitchFamily="2" charset="77"/>
                          <a:ea typeface="Work Sans Light"/>
                          <a:cs typeface="Work Sans Light"/>
                          <a:sym typeface="Work Sans Light"/>
                        </a:rPr>
                        <a:t>AC cables are routed from the PVDB to the home’s DB, concealed within the plaster ceiling of the porch.</a:t>
                      </a: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
        <p:nvSpPr>
          <p:cNvPr id="56" name="Google Shape;246;p6">
            <a:extLst>
              <a:ext uri="{FF2B5EF4-FFF2-40B4-BE49-F238E27FC236}">
                <a16:creationId xmlns:a16="http://schemas.microsoft.com/office/drawing/2014/main" id="{DBE1F3D6-A676-7E17-2866-36D576FC98BA}"/>
              </a:ext>
            </a:extLst>
          </p:cNvPr>
          <p:cNvSpPr/>
          <p:nvPr/>
        </p:nvSpPr>
        <p:spPr>
          <a:xfrm>
            <a:off x="321806" y="1787985"/>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prstClr val="white"/>
              </a:solidFill>
              <a:effectLst/>
              <a:uLnTx/>
              <a:uFillTx/>
              <a:latin typeface="Calibri" panose="020F0502020204030204"/>
              <a:ea typeface="Calibri"/>
              <a:cs typeface="Calibri"/>
              <a:sym typeface="Calibri"/>
            </a:endParaRPr>
          </a:p>
        </p:txBody>
      </p:sp>
      <p:sp>
        <p:nvSpPr>
          <p:cNvPr id="57" name="Google Shape;247;p6">
            <a:extLst>
              <a:ext uri="{FF2B5EF4-FFF2-40B4-BE49-F238E27FC236}">
                <a16:creationId xmlns:a16="http://schemas.microsoft.com/office/drawing/2014/main" id="{85F8C4B0-5D98-027D-03FF-14B7AC5071DE}"/>
              </a:ext>
            </a:extLst>
          </p:cNvPr>
          <p:cNvSpPr/>
          <p:nvPr/>
        </p:nvSpPr>
        <p:spPr>
          <a:xfrm>
            <a:off x="321806" y="5809634"/>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prstClr val="white"/>
              </a:solidFill>
              <a:effectLst/>
              <a:uLnTx/>
              <a:uFillTx/>
              <a:latin typeface="Calibri" panose="020F0502020204030204"/>
              <a:ea typeface="Calibri"/>
              <a:cs typeface="Calibri"/>
              <a:sym typeface="Calibri"/>
            </a:endParaRPr>
          </a:p>
        </p:txBody>
      </p:sp>
      <p:graphicFrame>
        <p:nvGraphicFramePr>
          <p:cNvPr id="67" name="Google Shape;245;p6">
            <a:extLst>
              <a:ext uri="{FF2B5EF4-FFF2-40B4-BE49-F238E27FC236}">
                <a16:creationId xmlns:a16="http://schemas.microsoft.com/office/drawing/2014/main" id="{A45B8BDD-584B-10E7-BBA1-FD7D9AEFCD16}"/>
              </a:ext>
            </a:extLst>
          </p:cNvPr>
          <p:cNvGraphicFramePr/>
          <p:nvPr>
            <p:extLst>
              <p:ext uri="{D42A27DB-BD31-4B8C-83A1-F6EECF244321}">
                <p14:modId xmlns:p14="http://schemas.microsoft.com/office/powerpoint/2010/main" val="3966051759"/>
              </p:ext>
            </p:extLst>
          </p:nvPr>
        </p:nvGraphicFramePr>
        <p:xfrm>
          <a:off x="5163531" y="5720214"/>
          <a:ext cx="2072305" cy="1188730"/>
        </p:xfrm>
        <a:graphic>
          <a:graphicData uri="http://schemas.openxmlformats.org/drawingml/2006/table">
            <a:tbl>
              <a:tblPr bandRow="1">
                <a:noFill/>
              </a:tblPr>
              <a:tblGrid>
                <a:gridCol w="2072305">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a:spcBef>
                          <a:spcPts val="0"/>
                        </a:spcBef>
                        <a:spcAft>
                          <a:spcPts val="0"/>
                        </a:spcAft>
                        <a:buClr>
                          <a:schemeClr val="dk1"/>
                        </a:buClr>
                        <a:buSzPts val="1200"/>
                        <a:buFont typeface="Work Sans Light"/>
                        <a:buNone/>
                        <a:defRPr/>
                      </a:pPr>
                      <a:r>
                        <a:rPr lang="en-US" sz="1200" b="0" i="0" dirty="0">
                          <a:latin typeface="Work Sans" pitchFamily="2" charset="77"/>
                          <a:ea typeface="Work Sans Light"/>
                          <a:cs typeface="Work Sans Light"/>
                        </a:rPr>
                        <a:t>A small ceiling opening will be made above the DB for AC cables to come down from ceiling and connect to the DB at the living hall.</a:t>
                      </a: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grpSp>
        <p:nvGrpSpPr>
          <p:cNvPr id="72" name="Group 71">
            <a:extLst>
              <a:ext uri="{FF2B5EF4-FFF2-40B4-BE49-F238E27FC236}">
                <a16:creationId xmlns:a16="http://schemas.microsoft.com/office/drawing/2014/main" id="{1AD81961-CFE2-550D-4B13-50CCDE96FD5E}"/>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C9A16FC3-D5EF-8199-46D4-664CA80BB69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128F3654-E034-D3FC-C6B6-C8B7CB53E4EE}"/>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cxnSp>
        <p:nvCxnSpPr>
          <p:cNvPr id="63" name="Google Shape;238;p6">
            <a:extLst>
              <a:ext uri="{FF2B5EF4-FFF2-40B4-BE49-F238E27FC236}">
                <a16:creationId xmlns:a16="http://schemas.microsoft.com/office/drawing/2014/main" id="{0A1C5339-E2B0-2849-B288-DAD33E1E18F9}"/>
              </a:ext>
            </a:extLst>
          </p:cNvPr>
          <p:cNvCxnSpPr>
            <a:cxnSpLocks/>
          </p:cNvCxnSpPr>
          <p:nvPr/>
        </p:nvCxnSpPr>
        <p:spPr>
          <a:xfrm flipH="1">
            <a:off x="4729163" y="2028825"/>
            <a:ext cx="415004" cy="214313"/>
          </a:xfrm>
          <a:prstGeom prst="straightConnector1">
            <a:avLst/>
          </a:prstGeom>
          <a:noFill/>
          <a:ln w="28575" cap="flat" cmpd="sng">
            <a:solidFill>
              <a:sysClr val="windowText" lastClr="000000"/>
            </a:solidFill>
            <a:prstDash val="solid"/>
            <a:round/>
            <a:headEnd type="none" w="sm" len="sm"/>
            <a:tailEnd type="triangle" w="med" len="med"/>
          </a:ln>
        </p:spPr>
      </p:cxnSp>
      <p:cxnSp>
        <p:nvCxnSpPr>
          <p:cNvPr id="68" name="Google Shape;238;p6">
            <a:extLst>
              <a:ext uri="{FF2B5EF4-FFF2-40B4-BE49-F238E27FC236}">
                <a16:creationId xmlns:a16="http://schemas.microsoft.com/office/drawing/2014/main" id="{A5514E4B-437B-909A-D215-B5306F151339}"/>
              </a:ext>
            </a:extLst>
          </p:cNvPr>
          <p:cNvCxnSpPr>
            <a:cxnSpLocks/>
            <a:stCxn id="67" idx="1"/>
          </p:cNvCxnSpPr>
          <p:nvPr/>
        </p:nvCxnSpPr>
        <p:spPr>
          <a:xfrm flipH="1">
            <a:off x="2657475" y="6314579"/>
            <a:ext cx="2506056" cy="594365"/>
          </a:xfrm>
          <a:prstGeom prst="straightConnector1">
            <a:avLst/>
          </a:prstGeom>
          <a:noFill/>
          <a:ln w="28575" cap="flat" cmpd="sng">
            <a:solidFill>
              <a:sysClr val="windowText" lastClr="000000"/>
            </a:solidFill>
            <a:prstDash val="solid"/>
            <a:round/>
            <a:headEnd type="none" w="sm" len="sm"/>
            <a:tailEnd type="triangle" w="med" len="med"/>
          </a:ln>
        </p:spPr>
      </p:cxnSp>
      <p:sp>
        <p:nvSpPr>
          <p:cNvPr id="3" name="TextBox 2">
            <a:extLst>
              <a:ext uri="{FF2B5EF4-FFF2-40B4-BE49-F238E27FC236}">
                <a16:creationId xmlns:a16="http://schemas.microsoft.com/office/drawing/2014/main" id="{B77F9487-82BE-3310-3A1D-07D77196B442}"/>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AC Cable Routing</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3468723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9A524-4AA2-99BF-E9B9-B6140280886A}"/>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4348095F-3CE4-4F1B-726D-AEDA0D5E39CF}"/>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46A7CDF9-C388-92D4-CD52-8A1AD80F267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FF323F61-3C8D-AA97-B995-99994BC2F024}"/>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2" name="Google Shape;215;p5">
            <a:extLst>
              <a:ext uri="{FF2B5EF4-FFF2-40B4-BE49-F238E27FC236}">
                <a16:creationId xmlns:a16="http://schemas.microsoft.com/office/drawing/2014/main" id="{1FCE82F9-55DF-E4D7-BC9A-B61374DE3434}"/>
              </a:ext>
            </a:extLst>
          </p:cNvPr>
          <p:cNvSpPr txBox="1"/>
          <p:nvPr/>
        </p:nvSpPr>
        <p:spPr>
          <a:xfrm>
            <a:off x="323837" y="1292659"/>
            <a:ext cx="6912000" cy="184666"/>
          </a:xfrm>
          <a:prstGeom prst="rect">
            <a:avLst/>
          </a:prstGeom>
          <a:noFill/>
          <a:ln>
            <a:noFill/>
          </a:ln>
        </p:spPr>
        <p:txBody>
          <a:bodyPr spcFirstLastPara="1" wrap="square" lIns="0" tIns="0" rIns="0" bIns="0" anchor="t" anchorCtr="0">
            <a:spAutoFit/>
          </a:bodyPr>
          <a:lstStyle/>
          <a:p>
            <a:pPr lvl="0" defTabSz="914400">
              <a:buClr>
                <a:srgbClr val="000000"/>
              </a:buClr>
              <a:defRPr/>
            </a:pPr>
            <a:r>
              <a:rPr lang="en-US" sz="1200" kern="0" dirty="0">
                <a:solidFill>
                  <a:srgbClr val="000000"/>
                </a:solidFill>
                <a:latin typeface="Work Sans" pitchFamily="2" charset="77"/>
                <a:ea typeface="Work Sans Light"/>
                <a:cs typeface="Work Sans Light"/>
              </a:rPr>
              <a:t>The area highlighted is designated for the </a:t>
            </a:r>
            <a:r>
              <a:rPr lang="en-US" sz="1200" kern="0" dirty="0" err="1">
                <a:solidFill>
                  <a:srgbClr val="000000"/>
                </a:solidFill>
                <a:latin typeface="Work Sans" pitchFamily="2" charset="77"/>
                <a:ea typeface="Work Sans Light"/>
                <a:cs typeface="Work Sans Light"/>
              </a:rPr>
              <a:t>skylift</a:t>
            </a:r>
            <a:r>
              <a:rPr lang="en-US" sz="1200" kern="0" dirty="0">
                <a:solidFill>
                  <a:srgbClr val="000000"/>
                </a:solidFill>
                <a:latin typeface="Work Sans" pitchFamily="2" charset="77"/>
                <a:ea typeface="Work Sans Light"/>
                <a:cs typeface="Work Sans Light"/>
              </a:rPr>
              <a:t>.</a:t>
            </a:r>
            <a:endParaRPr lang="en-US" sz="1400" kern="0" dirty="0">
              <a:solidFill>
                <a:srgbClr val="000000"/>
              </a:solidFill>
              <a:latin typeface="Work Sans" pitchFamily="2" charset="77"/>
              <a:cs typeface="Arial"/>
            </a:endParaRPr>
          </a:p>
        </p:txBody>
      </p:sp>
      <p:sp>
        <p:nvSpPr>
          <p:cNvPr id="7" name="Google Shape;226;p5">
            <a:extLst>
              <a:ext uri="{FF2B5EF4-FFF2-40B4-BE49-F238E27FC236}">
                <a16:creationId xmlns:a16="http://schemas.microsoft.com/office/drawing/2014/main" id="{FD9A2EE7-8956-A7AF-AD74-E3B8E889B01D}"/>
              </a:ext>
            </a:extLst>
          </p:cNvPr>
          <p:cNvSpPr/>
          <p:nvPr/>
        </p:nvSpPr>
        <p:spPr>
          <a:xfrm>
            <a:off x="321806" y="1740970"/>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27;p5">
            <a:extLst>
              <a:ext uri="{FF2B5EF4-FFF2-40B4-BE49-F238E27FC236}">
                <a16:creationId xmlns:a16="http://schemas.microsoft.com/office/drawing/2014/main" id="{984B6514-5593-D6FA-E94F-BE4A39DA9D7E}"/>
              </a:ext>
            </a:extLst>
          </p:cNvPr>
          <p:cNvSpPr/>
          <p:nvPr/>
        </p:nvSpPr>
        <p:spPr>
          <a:xfrm>
            <a:off x="321806" y="5810161"/>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5" name="TextBox 35">
            <a:extLst>
              <a:ext uri="{FF2B5EF4-FFF2-40B4-BE49-F238E27FC236}">
                <a16:creationId xmlns:a16="http://schemas.microsoft.com/office/drawing/2014/main" id="{B11FA71F-1309-9B84-F97E-7D86DF1B3F94}"/>
              </a:ext>
            </a:extLst>
          </p:cNvPr>
          <p:cNvSpPr txBox="1"/>
          <p:nvPr/>
        </p:nvSpPr>
        <p:spPr>
          <a:xfrm>
            <a:off x="321806" y="5361851"/>
            <a:ext cx="6912000" cy="184666"/>
          </a:xfrm>
          <a:prstGeom prst="rect">
            <a:avLst/>
          </a:prstGeom>
          <a:ln>
            <a:noFill/>
          </a:ln>
        </p:spPr>
        <p:txBody>
          <a:bodyPr wrap="square" lIns="0" tIns="0" rIns="0" bIns="0" rtlCol="0" anchor="t">
            <a:spAutoFit/>
          </a:bodyPr>
          <a:lstStyle/>
          <a:p>
            <a:pPr lvl="0" defTabSz="914400">
              <a:buClr>
                <a:srgbClr val="000000"/>
              </a:buClr>
              <a:defRPr/>
            </a:pPr>
            <a:r>
              <a:rPr lang="en-US" sz="1200" kern="0" dirty="0">
                <a:solidFill>
                  <a:srgbClr val="000000"/>
                </a:solidFill>
                <a:latin typeface="Work Sans" pitchFamily="2" charset="77"/>
                <a:ea typeface="Work Sans Light"/>
                <a:cs typeface="Work Sans Light"/>
              </a:rPr>
              <a:t>The solar system materials will be placed at the location marked below during installation.</a:t>
            </a:r>
            <a:endParaRPr lang="en-US" sz="1200" kern="0" dirty="0">
              <a:solidFill>
                <a:srgbClr val="000000"/>
              </a:solidFill>
              <a:latin typeface="Work Sans" pitchFamily="2" charset="77"/>
              <a:cs typeface="Arial"/>
            </a:endParaRPr>
          </a:p>
        </p:txBody>
      </p:sp>
      <p:sp>
        <p:nvSpPr>
          <p:cNvPr id="4" name="TextBox 3">
            <a:extLst>
              <a:ext uri="{FF2B5EF4-FFF2-40B4-BE49-F238E27FC236}">
                <a16:creationId xmlns:a16="http://schemas.microsoft.com/office/drawing/2014/main" id="{9838B6BE-EA93-E440-F4B6-31E4E9047432}"/>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Work Area</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2180725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505C8-900B-42F3-D5EE-52A9632A7EDD}"/>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B89EC946-FCB0-D39D-1E8C-96CFD41F15EB}"/>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A7ED55C3-7E13-14CC-5325-DA598887E9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8939689A-54E6-69CA-3675-C10E94C833E6}"/>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grpSp>
        <p:nvGrpSpPr>
          <p:cNvPr id="8" name="Group 7">
            <a:extLst>
              <a:ext uri="{FF2B5EF4-FFF2-40B4-BE49-F238E27FC236}">
                <a16:creationId xmlns:a16="http://schemas.microsoft.com/office/drawing/2014/main" id="{685139BF-9800-575C-97FB-8363B5F4EB00}"/>
              </a:ext>
            </a:extLst>
          </p:cNvPr>
          <p:cNvGrpSpPr/>
          <p:nvPr/>
        </p:nvGrpSpPr>
        <p:grpSpPr>
          <a:xfrm>
            <a:off x="321806" y="4520980"/>
            <a:ext cx="6912000" cy="2340000"/>
            <a:chOff x="321806" y="4454577"/>
            <a:chExt cx="6912000" cy="2340000"/>
          </a:xfrm>
        </p:grpSpPr>
        <p:sp>
          <p:nvSpPr>
            <p:cNvPr id="30" name="Freeform 20">
              <a:extLst>
                <a:ext uri="{FF2B5EF4-FFF2-40B4-BE49-F238E27FC236}">
                  <a16:creationId xmlns:a16="http://schemas.microsoft.com/office/drawing/2014/main" id="{8B4EC16C-F990-2C35-C5EE-E124A0D2A176}"/>
                </a:ext>
              </a:extLst>
            </p:cNvPr>
            <p:cNvSpPr/>
            <p:nvPr/>
          </p:nvSpPr>
          <p:spPr>
            <a:xfrm>
              <a:off x="321806" y="4454577"/>
              <a:ext cx="6912000" cy="2340000"/>
            </a:xfrm>
            <a:prstGeom prst="rect">
              <a:avLst/>
            </a:prstGeom>
            <a:noFill/>
            <a:ln w="19050" cap="rnd">
              <a:solidFill>
                <a:srgbClr val="F454CD"/>
              </a:solidFill>
              <a:prstDash val="solid"/>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MY" sz="1800" b="0" i="0" u="none" strike="noStrike" kern="0" cap="none" spc="0" normalizeH="0" baseline="0" noProof="0" dirty="0">
                <a:ln>
                  <a:noFill/>
                </a:ln>
                <a:solidFill>
                  <a:prstClr val="black"/>
                </a:solidFill>
                <a:effectLst/>
                <a:uLnTx/>
                <a:uFillTx/>
                <a:cs typeface="Arial"/>
                <a:sym typeface="Arial"/>
              </a:endParaRPr>
            </a:p>
          </p:txBody>
        </p:sp>
        <p:cxnSp>
          <p:nvCxnSpPr>
            <p:cNvPr id="32" name="Straight Connector 31">
              <a:extLst>
                <a:ext uri="{FF2B5EF4-FFF2-40B4-BE49-F238E27FC236}">
                  <a16:creationId xmlns:a16="http://schemas.microsoft.com/office/drawing/2014/main" id="{E7140392-C697-3AE2-12DE-64FE184AA5B9}"/>
                </a:ext>
              </a:extLst>
            </p:cNvPr>
            <p:cNvCxnSpPr>
              <a:cxnSpLocks/>
            </p:cNvCxnSpPr>
            <p:nvPr/>
          </p:nvCxnSpPr>
          <p:spPr>
            <a:xfrm>
              <a:off x="5621274" y="4985188"/>
              <a:ext cx="3487" cy="1278778"/>
            </a:xfrm>
            <a:prstGeom prst="line">
              <a:avLst/>
            </a:prstGeom>
            <a:noFill/>
            <a:ln w="9525" cap="flat" cmpd="sng" algn="ctr">
              <a:solidFill>
                <a:srgbClr val="EA63C7"/>
              </a:solidFill>
              <a:prstDash val="solid"/>
            </a:ln>
            <a:effectLst/>
          </p:spPr>
        </p:cxnSp>
        <p:sp>
          <p:nvSpPr>
            <p:cNvPr id="33" name="TextBox 32">
              <a:extLst>
                <a:ext uri="{FF2B5EF4-FFF2-40B4-BE49-F238E27FC236}">
                  <a16:creationId xmlns:a16="http://schemas.microsoft.com/office/drawing/2014/main" id="{53B56AC4-ADB5-484D-9125-AF8388103826}"/>
                </a:ext>
              </a:extLst>
            </p:cNvPr>
            <p:cNvSpPr txBox="1"/>
            <p:nvPr/>
          </p:nvSpPr>
          <p:spPr>
            <a:xfrm>
              <a:off x="5733098" y="5461172"/>
              <a:ext cx="936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1 Unit</a:t>
              </a:r>
            </a:p>
          </p:txBody>
        </p:sp>
        <p:grpSp>
          <p:nvGrpSpPr>
            <p:cNvPr id="3" name="Group 2">
              <a:extLst>
                <a:ext uri="{FF2B5EF4-FFF2-40B4-BE49-F238E27FC236}">
                  <a16:creationId xmlns:a16="http://schemas.microsoft.com/office/drawing/2014/main" id="{5151CF95-5B94-233E-80AF-3AA27912BC98}"/>
                </a:ext>
              </a:extLst>
            </p:cNvPr>
            <p:cNvGrpSpPr/>
            <p:nvPr/>
          </p:nvGrpSpPr>
          <p:grpSpPr>
            <a:xfrm>
              <a:off x="775545" y="4926208"/>
              <a:ext cx="4891134" cy="1346926"/>
              <a:chOff x="775545" y="4926208"/>
              <a:chExt cx="4891134" cy="1346926"/>
            </a:xfrm>
          </p:grpSpPr>
          <p:sp>
            <p:nvSpPr>
              <p:cNvPr id="31" name="TextBox 30">
                <a:extLst>
                  <a:ext uri="{FF2B5EF4-FFF2-40B4-BE49-F238E27FC236}">
                    <a16:creationId xmlns:a16="http://schemas.microsoft.com/office/drawing/2014/main" id="{81D4C8A8-030A-9ADF-DCB1-32AF7AB74B46}"/>
                  </a:ext>
                </a:extLst>
              </p:cNvPr>
              <p:cNvSpPr txBox="1"/>
              <p:nvPr/>
            </p:nvSpPr>
            <p:spPr>
              <a:xfrm>
                <a:off x="2004449" y="4968729"/>
                <a:ext cx="3662230"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Work Sans" pitchFamily="2" charset="77"/>
                    <a:cs typeface="Arial"/>
                    <a:sym typeface="Arial"/>
                  </a:rPr>
                  <a:t>Future-Ready Inverter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Huawei SUN 2000 [</a:t>
                </a:r>
                <a:r>
                  <a:rPr kumimoji="0" lang="en-US" sz="1200" b="0" i="0" u="none" strike="noStrike" kern="0" cap="none" spc="0" normalizeH="0" baseline="0" noProof="0" dirty="0">
                    <a:ln>
                      <a:noFill/>
                    </a:ln>
                    <a:solidFill>
                      <a:srgbClr val="0000FF"/>
                    </a:solidFill>
                    <a:effectLst/>
                    <a:uLnTx/>
                    <a:uFillTx/>
                    <a:latin typeface="Work Sans" pitchFamily="2" charset="77"/>
                    <a:cs typeface="Arial"/>
                    <a:sym typeface="Arial"/>
                    <a:hlinkClick r:id="rId3">
                      <a:extLst>
                        <a:ext uri="{A12FA001-AC4F-418D-AE19-62706E023703}">
                          <ahyp:hlinkClr xmlns:ahyp="http://schemas.microsoft.com/office/drawing/2018/hyperlinkcolor" val="tx"/>
                        </a:ext>
                      </a:extLst>
                    </a:hlinkClick>
                  </a:rPr>
                  <a:t>Product Specs</a:t>
                </a: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High Efficiency</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Smart AI Monitoring &amp; Diagnostics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Phase Allocation Optimisation</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EV &amp; Dynamic Load Charging Capability</a:t>
                </a:r>
              </a:p>
            </p:txBody>
          </p:sp>
          <p:pic>
            <p:nvPicPr>
              <p:cNvPr id="34" name="Picture 33" descr="A white inverter with grey cables&#10;&#10;AI-generated content may be incorrect.">
                <a:extLst>
                  <a:ext uri="{FF2B5EF4-FFF2-40B4-BE49-F238E27FC236}">
                    <a16:creationId xmlns:a16="http://schemas.microsoft.com/office/drawing/2014/main" id="{E3C5340E-27FC-48B3-6B73-3A6707B773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5545" y="4926208"/>
                <a:ext cx="1090513" cy="1346926"/>
              </a:xfrm>
              <a:prstGeom prst="rect">
                <a:avLst/>
              </a:prstGeom>
            </p:spPr>
          </p:pic>
        </p:grpSp>
      </p:grpSp>
      <p:grpSp>
        <p:nvGrpSpPr>
          <p:cNvPr id="7" name="Group 6">
            <a:extLst>
              <a:ext uri="{FF2B5EF4-FFF2-40B4-BE49-F238E27FC236}">
                <a16:creationId xmlns:a16="http://schemas.microsoft.com/office/drawing/2014/main" id="{59602831-61DE-54B8-C164-3D6FA2795061}"/>
              </a:ext>
            </a:extLst>
          </p:cNvPr>
          <p:cNvGrpSpPr/>
          <p:nvPr/>
        </p:nvGrpSpPr>
        <p:grpSpPr>
          <a:xfrm>
            <a:off x="321806" y="1604997"/>
            <a:ext cx="6912000" cy="2340000"/>
            <a:chOff x="321806" y="1743659"/>
            <a:chExt cx="6912000" cy="2340000"/>
          </a:xfrm>
        </p:grpSpPr>
        <p:sp>
          <p:nvSpPr>
            <p:cNvPr id="36" name="Freeform 20">
              <a:extLst>
                <a:ext uri="{FF2B5EF4-FFF2-40B4-BE49-F238E27FC236}">
                  <a16:creationId xmlns:a16="http://schemas.microsoft.com/office/drawing/2014/main" id="{D0C673DF-65ED-0C65-E121-1DC4482C2A0A}"/>
                </a:ext>
              </a:extLst>
            </p:cNvPr>
            <p:cNvSpPr/>
            <p:nvPr/>
          </p:nvSpPr>
          <p:spPr>
            <a:xfrm>
              <a:off x="321806" y="1743659"/>
              <a:ext cx="6912000" cy="2340000"/>
            </a:xfrm>
            <a:prstGeom prst="rect">
              <a:avLst/>
            </a:prstGeom>
            <a:noFill/>
            <a:ln w="19050" cap="rnd">
              <a:solidFill>
                <a:srgbClr val="F454CD"/>
              </a:solidFill>
              <a:prstDash val="solid"/>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MY" sz="1800" b="0" i="0" u="none" strike="noStrike" kern="0" cap="none" spc="0" normalizeH="0" baseline="0" noProof="0" dirty="0">
                <a:ln>
                  <a:noFill/>
                </a:ln>
                <a:solidFill>
                  <a:prstClr val="black"/>
                </a:solidFill>
                <a:effectLst/>
                <a:uLnTx/>
                <a:uFillTx/>
                <a:cs typeface="Arial"/>
                <a:sym typeface="Arial"/>
              </a:endParaRPr>
            </a:p>
          </p:txBody>
        </p:sp>
        <p:cxnSp>
          <p:nvCxnSpPr>
            <p:cNvPr id="37" name="Straight Connector 36">
              <a:extLst>
                <a:ext uri="{FF2B5EF4-FFF2-40B4-BE49-F238E27FC236}">
                  <a16:creationId xmlns:a16="http://schemas.microsoft.com/office/drawing/2014/main" id="{089AD879-2889-D41E-19A8-28CB4D0BC775}"/>
                </a:ext>
              </a:extLst>
            </p:cNvPr>
            <p:cNvCxnSpPr>
              <a:cxnSpLocks/>
            </p:cNvCxnSpPr>
            <p:nvPr/>
          </p:nvCxnSpPr>
          <p:spPr>
            <a:xfrm>
              <a:off x="5621274" y="2274270"/>
              <a:ext cx="3487" cy="1278778"/>
            </a:xfrm>
            <a:prstGeom prst="line">
              <a:avLst/>
            </a:prstGeom>
            <a:noFill/>
            <a:ln w="9525" cap="flat" cmpd="sng" algn="ctr">
              <a:solidFill>
                <a:srgbClr val="EA63C7"/>
              </a:solidFill>
              <a:prstDash val="solid"/>
            </a:ln>
            <a:effectLst/>
          </p:spPr>
        </p:cxnSp>
        <p:grpSp>
          <p:nvGrpSpPr>
            <p:cNvPr id="4" name="Group 3">
              <a:extLst>
                <a:ext uri="{FF2B5EF4-FFF2-40B4-BE49-F238E27FC236}">
                  <a16:creationId xmlns:a16="http://schemas.microsoft.com/office/drawing/2014/main" id="{E8A4E248-BE8D-832D-CECD-F2F882151D77}"/>
                </a:ext>
              </a:extLst>
            </p:cNvPr>
            <p:cNvGrpSpPr/>
            <p:nvPr/>
          </p:nvGrpSpPr>
          <p:grpSpPr>
            <a:xfrm>
              <a:off x="772040" y="2094421"/>
              <a:ext cx="4877378" cy="1638476"/>
              <a:chOff x="772040" y="1822955"/>
              <a:chExt cx="4877378" cy="1638476"/>
            </a:xfrm>
          </p:grpSpPr>
          <p:sp>
            <p:nvSpPr>
              <p:cNvPr id="38" name="TextBox 37">
                <a:extLst>
                  <a:ext uri="{FF2B5EF4-FFF2-40B4-BE49-F238E27FC236}">
                    <a16:creationId xmlns:a16="http://schemas.microsoft.com/office/drawing/2014/main" id="{286A31DF-32DE-13D4-BB5A-29AC7F5B812A}"/>
                  </a:ext>
                </a:extLst>
              </p:cNvPr>
              <p:cNvSpPr txBox="1"/>
              <p:nvPr/>
            </p:nvSpPr>
            <p:spPr>
              <a:xfrm>
                <a:off x="1987188" y="2103584"/>
                <a:ext cx="366223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Work Sans" pitchFamily="2" charset="77"/>
                    <a:cs typeface="Arial"/>
                    <a:sym typeface="Arial"/>
                  </a:rPr>
                  <a:t>High-Performance Solar Panels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Aiko </a:t>
                </a:r>
                <a:r>
                  <a:rPr kumimoji="0" lang="en-US" sz="1200" b="0" i="0" u="none" strike="noStrike" kern="0" cap="none" spc="0" normalizeH="0" baseline="0" noProof="0" dirty="0" err="1">
                    <a:ln>
                      <a:noFill/>
                    </a:ln>
                    <a:solidFill>
                      <a:prstClr val="black"/>
                    </a:solidFill>
                    <a:effectLst/>
                    <a:uLnTx/>
                    <a:uFillTx/>
                    <a:latin typeface="Work Sans" pitchFamily="2" charset="77"/>
                    <a:cs typeface="Arial"/>
                    <a:sym typeface="Arial"/>
                  </a:rPr>
                  <a:t>Neostar</a:t>
                </a: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 2S [</a:t>
                </a:r>
                <a:r>
                  <a:rPr kumimoji="0" lang="en-US" sz="1200" b="0" i="0" u="none" strike="noStrike" kern="0" cap="none" spc="0" normalizeH="0" baseline="0" noProof="0" dirty="0">
                    <a:ln>
                      <a:noFill/>
                    </a:ln>
                    <a:solidFill>
                      <a:srgbClr val="0000FF"/>
                    </a:solidFill>
                    <a:effectLst/>
                    <a:uLnTx/>
                    <a:uFillTx/>
                    <a:latin typeface="Work Sans" pitchFamily="2" charset="77"/>
                    <a:cs typeface="Arial"/>
                    <a:sym typeface="Arial"/>
                    <a:hlinkClick r:id="rId5">
                      <a:extLst>
                        <a:ext uri="{A12FA001-AC4F-418D-AE19-62706E023703}">
                          <ahyp:hlinkClr xmlns:ahyp="http://schemas.microsoft.com/office/drawing/2018/hyperlinkcolor" val="tx"/>
                        </a:ext>
                      </a:extLst>
                    </a:hlinkClick>
                  </a:rPr>
                  <a:t>Product Specs</a:t>
                </a: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Latest N-Type ABC Panels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Highest yield per sq. feet</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Built for tropical heat</a:t>
                </a:r>
              </a:p>
            </p:txBody>
          </p:sp>
          <p:pic>
            <p:nvPicPr>
              <p:cNvPr id="40" name="Picture 39">
                <a:extLst>
                  <a:ext uri="{FF2B5EF4-FFF2-40B4-BE49-F238E27FC236}">
                    <a16:creationId xmlns:a16="http://schemas.microsoft.com/office/drawing/2014/main" id="{49DCE1F8-E42F-7A96-AC58-1A63E3F6F95C}"/>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772040" y="1822955"/>
                <a:ext cx="1063001" cy="1638476"/>
              </a:xfrm>
              <a:prstGeom prst="rect">
                <a:avLst/>
              </a:prstGeom>
            </p:spPr>
          </p:pic>
        </p:grpSp>
      </p:grpSp>
      <p:grpSp>
        <p:nvGrpSpPr>
          <p:cNvPr id="9" name="Group 8">
            <a:extLst>
              <a:ext uri="{FF2B5EF4-FFF2-40B4-BE49-F238E27FC236}">
                <a16:creationId xmlns:a16="http://schemas.microsoft.com/office/drawing/2014/main" id="{750CB1EC-71AB-C905-3FE8-274FFCD4D460}"/>
              </a:ext>
            </a:extLst>
          </p:cNvPr>
          <p:cNvGrpSpPr/>
          <p:nvPr/>
        </p:nvGrpSpPr>
        <p:grpSpPr>
          <a:xfrm>
            <a:off x="321806" y="7436962"/>
            <a:ext cx="6912000" cy="2340000"/>
            <a:chOff x="321806" y="7436962"/>
            <a:chExt cx="6912000" cy="2340000"/>
          </a:xfrm>
        </p:grpSpPr>
        <p:sp>
          <p:nvSpPr>
            <p:cNvPr id="23" name="Freeform 20">
              <a:extLst>
                <a:ext uri="{FF2B5EF4-FFF2-40B4-BE49-F238E27FC236}">
                  <a16:creationId xmlns:a16="http://schemas.microsoft.com/office/drawing/2014/main" id="{984AF898-5BA3-93DD-3DC9-C6B55E4FE224}"/>
                </a:ext>
              </a:extLst>
            </p:cNvPr>
            <p:cNvSpPr/>
            <p:nvPr/>
          </p:nvSpPr>
          <p:spPr>
            <a:xfrm>
              <a:off x="321806" y="7436962"/>
              <a:ext cx="6912000" cy="2340000"/>
            </a:xfrm>
            <a:prstGeom prst="rect">
              <a:avLst/>
            </a:prstGeom>
            <a:noFill/>
            <a:ln w="19050" cap="rnd">
              <a:solidFill>
                <a:srgbClr val="F454CD"/>
              </a:solidFill>
              <a:prstDash val="solid"/>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MY" sz="1800" b="0" i="0" u="none" strike="noStrike" kern="0" cap="none" spc="0" normalizeH="0" baseline="0" noProof="0" dirty="0">
                <a:ln>
                  <a:noFill/>
                </a:ln>
                <a:solidFill>
                  <a:prstClr val="black"/>
                </a:solidFill>
                <a:effectLst/>
                <a:uLnTx/>
                <a:uFillTx/>
                <a:cs typeface="Arial"/>
                <a:sym typeface="Arial"/>
              </a:endParaRPr>
            </a:p>
          </p:txBody>
        </p:sp>
        <p:cxnSp>
          <p:nvCxnSpPr>
            <p:cNvPr id="26" name="Straight Connector 25">
              <a:extLst>
                <a:ext uri="{FF2B5EF4-FFF2-40B4-BE49-F238E27FC236}">
                  <a16:creationId xmlns:a16="http://schemas.microsoft.com/office/drawing/2014/main" id="{939A7573-60E0-B668-BDB5-F62A3FE8484C}"/>
                </a:ext>
              </a:extLst>
            </p:cNvPr>
            <p:cNvCxnSpPr>
              <a:cxnSpLocks/>
            </p:cNvCxnSpPr>
            <p:nvPr/>
          </p:nvCxnSpPr>
          <p:spPr>
            <a:xfrm>
              <a:off x="5621274" y="7967573"/>
              <a:ext cx="3487" cy="1278778"/>
            </a:xfrm>
            <a:prstGeom prst="line">
              <a:avLst/>
            </a:prstGeom>
            <a:noFill/>
            <a:ln w="9525" cap="flat" cmpd="sng" algn="ctr">
              <a:solidFill>
                <a:srgbClr val="F454CD"/>
              </a:solidFill>
              <a:prstDash val="solid"/>
            </a:ln>
            <a:effectLst/>
          </p:spPr>
        </p:cxnSp>
        <p:sp>
          <p:nvSpPr>
            <p:cNvPr id="27" name="TextBox 26">
              <a:extLst>
                <a:ext uri="{FF2B5EF4-FFF2-40B4-BE49-F238E27FC236}">
                  <a16:creationId xmlns:a16="http://schemas.microsoft.com/office/drawing/2014/main" id="{0F3B54C6-D815-188E-4E51-7B793FB3DDDA}"/>
                </a:ext>
              </a:extLst>
            </p:cNvPr>
            <p:cNvSpPr txBox="1"/>
            <p:nvPr/>
          </p:nvSpPr>
          <p:spPr>
            <a:xfrm>
              <a:off x="5733098" y="8468463"/>
              <a:ext cx="936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1 Set</a:t>
              </a:r>
            </a:p>
          </p:txBody>
        </p:sp>
        <p:grpSp>
          <p:nvGrpSpPr>
            <p:cNvPr id="2" name="Group 1">
              <a:extLst>
                <a:ext uri="{FF2B5EF4-FFF2-40B4-BE49-F238E27FC236}">
                  <a16:creationId xmlns:a16="http://schemas.microsoft.com/office/drawing/2014/main" id="{CCFED68C-85E0-F77A-C773-CE6D71024103}"/>
                </a:ext>
              </a:extLst>
            </p:cNvPr>
            <p:cNvGrpSpPr/>
            <p:nvPr/>
          </p:nvGrpSpPr>
          <p:grpSpPr>
            <a:xfrm>
              <a:off x="789302" y="8160686"/>
              <a:ext cx="4876347" cy="892552"/>
              <a:chOff x="789302" y="8160686"/>
              <a:chExt cx="4876347" cy="892552"/>
            </a:xfrm>
          </p:grpSpPr>
          <p:sp>
            <p:nvSpPr>
              <p:cNvPr id="25" name="TextBox 24">
                <a:extLst>
                  <a:ext uri="{FF2B5EF4-FFF2-40B4-BE49-F238E27FC236}">
                    <a16:creationId xmlns:a16="http://schemas.microsoft.com/office/drawing/2014/main" id="{DB80299A-5588-AE59-CD65-37EEE8932D31}"/>
                  </a:ext>
                </a:extLst>
              </p:cNvPr>
              <p:cNvSpPr txBox="1"/>
              <p:nvPr/>
            </p:nvSpPr>
            <p:spPr>
              <a:xfrm>
                <a:off x="2004449" y="8160686"/>
                <a:ext cx="366120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Work Sans" pitchFamily="2" charset="77"/>
                    <a:cs typeface="Arial"/>
                    <a:sym typeface="Arial"/>
                  </a:rPr>
                  <a:t>Other Components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Certified AC, DC and Earth cables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Panel Mounting Rails &amp; Brackets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MC4, Cable Crimping, &amp; Cable </a:t>
                </a:r>
                <a:r>
                  <a:rPr kumimoji="0" lang="en-US" sz="1200" b="0" i="0" u="none" strike="noStrike" kern="0" cap="none" spc="0" normalizeH="0" baseline="0" noProof="0" dirty="0" err="1">
                    <a:ln>
                      <a:noFill/>
                    </a:ln>
                    <a:solidFill>
                      <a:prstClr val="black"/>
                    </a:solidFill>
                    <a:effectLst/>
                    <a:uLnTx/>
                    <a:uFillTx/>
                    <a:latin typeface="Work Sans" pitchFamily="2" charset="77"/>
                    <a:cs typeface="Arial"/>
                    <a:sym typeface="Arial"/>
                  </a:rPr>
                  <a:t>Trunking</a:t>
                </a:r>
                <a:endParaRPr kumimoji="0" lang="en-US" sz="1800" b="0" i="0" u="none" strike="noStrike" kern="0" cap="none" spc="0" normalizeH="0" baseline="0" noProof="0" dirty="0">
                  <a:ln>
                    <a:noFill/>
                  </a:ln>
                  <a:solidFill>
                    <a:prstClr val="black"/>
                  </a:solidFill>
                  <a:effectLst/>
                  <a:uLnTx/>
                  <a:uFillTx/>
                  <a:latin typeface="Work Sans" pitchFamily="2" charset="77"/>
                  <a:cs typeface="Arial"/>
                  <a:sym typeface="Arial"/>
                </a:endParaRPr>
              </a:p>
            </p:txBody>
          </p:sp>
          <p:pic>
            <p:nvPicPr>
              <p:cNvPr id="41" name="Picture 40">
                <a:extLst>
                  <a:ext uri="{FF2B5EF4-FFF2-40B4-BE49-F238E27FC236}">
                    <a16:creationId xmlns:a16="http://schemas.microsoft.com/office/drawing/2014/main" id="{9F948960-DE8B-43FF-964E-2D43F574EDD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89302" y="8231535"/>
                <a:ext cx="1129419" cy="750855"/>
              </a:xfrm>
              <a:prstGeom prst="rect">
                <a:avLst/>
              </a:prstGeom>
            </p:spPr>
          </p:pic>
        </p:grpSp>
      </p:grpSp>
      <p:sp>
        <p:nvSpPr>
          <p:cNvPr id="6" name="TextBox 5">
            <a:extLst>
              <a:ext uri="{FF2B5EF4-FFF2-40B4-BE49-F238E27FC236}">
                <a16:creationId xmlns:a16="http://schemas.microsoft.com/office/drawing/2014/main" id="{BCDD8367-AC12-AAEC-1417-F8A746532150}"/>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System Components</a:t>
            </a:r>
            <a:endParaRPr lang="en-US" sz="1200" dirty="0">
              <a:solidFill>
                <a:prstClr val="black"/>
              </a:solidFill>
              <a:latin typeface="Work Sans" pitchFamily="2" charset="77"/>
            </a:endParaRPr>
          </a:p>
        </p:txBody>
      </p:sp>
      <p:sp>
        <p:nvSpPr>
          <p:cNvPr id="5" name="TextBox 4">
            <a:extLst>
              <a:ext uri="{FF2B5EF4-FFF2-40B4-BE49-F238E27FC236}">
                <a16:creationId xmlns:a16="http://schemas.microsoft.com/office/drawing/2014/main" id="{6BB34B89-930A-787E-A61B-CF8E799919B7}"/>
              </a:ext>
            </a:extLst>
          </p:cNvPr>
          <p:cNvSpPr txBox="1"/>
          <p:nvPr/>
        </p:nvSpPr>
        <p:spPr>
          <a:xfrm>
            <a:off x="5733098" y="2637653"/>
            <a:ext cx="129181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a:solidFill>
                  <a:prstClr val="black"/>
                </a:solidFill>
                <a:latin typeface="Work Sans" pitchFamily="2" charset="77"/>
                <a:cs typeface="Arial"/>
                <a:sym typeface="Arial"/>
              </a:rPr>
              <a:t>      </a:t>
            </a: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 Panels​</a:t>
            </a:r>
          </a:p>
        </p:txBody>
      </p:sp>
      <p:sp>
        <p:nvSpPr>
          <p:cNvPr id="10" name="panel_size">
            <a:extLst>
              <a:ext uri="{FF2B5EF4-FFF2-40B4-BE49-F238E27FC236}">
                <a16:creationId xmlns:a16="http://schemas.microsoft.com/office/drawing/2014/main" id="{90835270-8B77-232E-E163-CD6BB4C2DCE0}"/>
              </a:ext>
            </a:extLst>
          </p:cNvPr>
          <p:cNvSpPr txBox="1"/>
          <p:nvPr/>
        </p:nvSpPr>
        <p:spPr>
          <a:xfrm>
            <a:off x="5679330" y="2640851"/>
            <a:ext cx="936000" cy="2746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a:solidFill>
                  <a:prstClr val="black"/>
                </a:solidFill>
                <a:latin typeface="Work Sans" pitchFamily="2" charset="77"/>
                <a:cs typeface="Arial"/>
                <a:sym typeface="Arial"/>
              </a:rPr>
              <a:t>32</a:t>
            </a:r>
            <a:endPar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endParaRPr>
          </a:p>
        </p:txBody>
      </p:sp>
    </p:spTree>
    <p:extLst>
      <p:ext uri="{BB962C8B-B14F-4D97-AF65-F5344CB8AC3E}">
        <p14:creationId xmlns:p14="http://schemas.microsoft.com/office/powerpoint/2010/main" val="3690333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307DD8-E83F-625F-B289-8242E7B1542C}"/>
              </a:ext>
            </a:extLst>
          </p:cNvPr>
          <p:cNvSpPr/>
          <p:nvPr/>
        </p:nvSpPr>
        <p:spPr>
          <a:xfrm>
            <a:off x="-325" y="8041707"/>
            <a:ext cx="7560000" cy="2168329"/>
          </a:xfrm>
          <a:prstGeom prst="rect">
            <a:avLst/>
          </a:prstGeom>
          <a:solidFill>
            <a:srgbClr val="0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0D147E6-21EA-93ED-F57E-46FA89FEE801}"/>
              </a:ext>
            </a:extLst>
          </p:cNvPr>
          <p:cNvSpPr txBox="1"/>
          <p:nvPr/>
        </p:nvSpPr>
        <p:spPr>
          <a:xfrm>
            <a:off x="305837" y="8125597"/>
            <a:ext cx="6948000" cy="2000548"/>
          </a:xfrm>
          <a:prstGeom prst="rect">
            <a:avLst/>
          </a:prstGeom>
          <a:noFill/>
        </p:spPr>
        <p:txBody>
          <a:bodyPr wrap="square">
            <a:spAutoFit/>
          </a:bodyPr>
          <a:lstStyle/>
          <a:p>
            <a:pPr>
              <a:defRPr/>
            </a:pPr>
            <a:r>
              <a:rPr kumimoji="0" lang="en-US" sz="4800" b="1" i="0" u="none" strike="noStrike" kern="1200" cap="none" spc="0" normalizeH="0" baseline="0" noProof="0" dirty="0">
                <a:ln>
                  <a:noFill/>
                </a:ln>
                <a:solidFill>
                  <a:srgbClr val="F454CD"/>
                </a:solidFill>
                <a:effectLst>
                  <a:outerShdw blurRad="50800" dist="38100" dir="2700000" algn="tl" rotWithShape="0">
                    <a:prstClr val="black">
                      <a:alpha val="40000"/>
                    </a:prstClr>
                  </a:outerShdw>
                </a:effectLst>
                <a:uLnTx/>
                <a:uFillTx/>
                <a:latin typeface="Work Sans" pitchFamily="2" charset="77"/>
                <a:ea typeface="+mn-ea"/>
                <a:cs typeface="+mn-cs"/>
              </a:rPr>
              <a:t>See Why Homeowners Choose Emit Solar</a:t>
            </a:r>
            <a:br>
              <a:rPr kumimoji="0" lang="en-US" sz="3600" b="0" i="0" u="none" strike="noStrike" kern="1200" cap="none" spc="0" normalizeH="0" baseline="0" noProof="0" dirty="0">
                <a:ln>
                  <a:noFill/>
                </a:ln>
                <a:solidFill>
                  <a:prstClr val="white"/>
                </a:solidFill>
                <a:effectLst>
                  <a:outerShdw blurRad="50800" dist="38100" dir="2700000" algn="tl" rotWithShape="0">
                    <a:prstClr val="black">
                      <a:alpha val="40000"/>
                    </a:prstClr>
                  </a:outerShdw>
                </a:effectLst>
                <a:uLnTx/>
                <a:uFillTx/>
                <a:latin typeface="Work Sans" pitchFamily="2" charset="77"/>
                <a:ea typeface="+mn-ea"/>
                <a:cs typeface="+mn-cs"/>
              </a:rPr>
            </a:br>
            <a:r>
              <a:rPr kumimoji="0" lang="en-US" sz="1400" b="0" i="0" u="none" strike="noStrike" kern="1200" cap="none" spc="0" normalizeH="0" baseline="0" noProof="0" dirty="0">
                <a:ln>
                  <a:noFill/>
                </a:ln>
                <a:solidFill>
                  <a:prstClr val="white"/>
                </a:solidFill>
                <a:effectLst>
                  <a:outerShdw blurRad="50800" dist="38100" dir="2700000" algn="tl" rotWithShape="0">
                    <a:prstClr val="black">
                      <a:alpha val="40000"/>
                    </a:prstClr>
                  </a:outerShdw>
                </a:effectLst>
                <a:uLnTx/>
                <a:uFillTx/>
                <a:latin typeface="Work Sans" pitchFamily="2" charset="77"/>
                <a:ea typeface="+mn-ea"/>
                <a:cs typeface="+mn-cs"/>
              </a:rPr>
              <a:t>Comprehensive protection, ongoing support, flexible upgrades, and proven customer trust.</a:t>
            </a:r>
            <a:endParaRPr kumimoji="0" lang="en-US" sz="1600" b="0" i="0"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Work Sans" pitchFamily="2" charset="77"/>
            </a:endParaRPr>
          </a:p>
        </p:txBody>
      </p:sp>
    </p:spTree>
    <p:extLst>
      <p:ext uri="{BB962C8B-B14F-4D97-AF65-F5344CB8AC3E}">
        <p14:creationId xmlns:p14="http://schemas.microsoft.com/office/powerpoint/2010/main" val="1897576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B3E4A-1A05-1771-5442-7E7A182F179D}"/>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719C5C31-0B73-C532-BC01-4100AEAFFD74}"/>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7D883288-A034-4BCF-0390-42B8AC935E7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7DDB008E-1180-3BEF-B9BC-D4BCA1B2008A}"/>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graphicFrame>
        <p:nvGraphicFramePr>
          <p:cNvPr id="21" name="Google Shape;179;p3">
            <a:extLst>
              <a:ext uri="{FF2B5EF4-FFF2-40B4-BE49-F238E27FC236}">
                <a16:creationId xmlns:a16="http://schemas.microsoft.com/office/drawing/2014/main" id="{87BCE32C-ECB4-7D78-C917-ED0EAF62EB8E}"/>
              </a:ext>
            </a:extLst>
          </p:cNvPr>
          <p:cNvGraphicFramePr/>
          <p:nvPr/>
        </p:nvGraphicFramePr>
        <p:xfrm>
          <a:off x="323837" y="1483080"/>
          <a:ext cx="6912000" cy="3157210"/>
        </p:xfrm>
        <a:graphic>
          <a:graphicData uri="http://schemas.openxmlformats.org/drawingml/2006/table">
            <a:tbl>
              <a:tblPr firstRow="1" bandRow="1">
                <a:noFill/>
              </a:tblPr>
              <a:tblGrid>
                <a:gridCol w="2304000">
                  <a:extLst>
                    <a:ext uri="{9D8B030D-6E8A-4147-A177-3AD203B41FA5}">
                      <a16:colId xmlns:a16="http://schemas.microsoft.com/office/drawing/2014/main" val="20000"/>
                    </a:ext>
                  </a:extLst>
                </a:gridCol>
                <a:gridCol w="2304000">
                  <a:extLst>
                    <a:ext uri="{9D8B030D-6E8A-4147-A177-3AD203B41FA5}">
                      <a16:colId xmlns:a16="http://schemas.microsoft.com/office/drawing/2014/main" val="20004"/>
                    </a:ext>
                  </a:extLst>
                </a:gridCol>
                <a:gridCol w="2304000">
                  <a:extLst>
                    <a:ext uri="{9D8B030D-6E8A-4147-A177-3AD203B41FA5}">
                      <a16:colId xmlns:a16="http://schemas.microsoft.com/office/drawing/2014/main" val="20005"/>
                    </a:ext>
                  </a:extLst>
                </a:gridCol>
              </a:tblGrid>
              <a:tr h="54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600" b="1" i="0" dirty="0">
                          <a:solidFill>
                            <a:schemeClr val="tx1"/>
                          </a:solidFill>
                          <a:latin typeface="Work Sans" pitchFamily="2" charset="77"/>
                        </a:rPr>
                        <a:t>Coverage Area</a:t>
                      </a:r>
                      <a:endParaRPr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600" b="1" i="0" dirty="0">
                          <a:solidFill>
                            <a:schemeClr val="tx1"/>
                          </a:solidFill>
                          <a:latin typeface="Work Sans" pitchFamily="2" charset="77"/>
                          <a:ea typeface="Work Sans"/>
                          <a:cs typeface="Work Sans"/>
                        </a:rPr>
                        <a:t>Manufacturer</a:t>
                      </a:r>
                      <a:endParaRPr lang="en-US"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Work Sans" pitchFamily="2" charset="77"/>
                          <a:ea typeface="Work Sans"/>
                          <a:cs typeface="Work Sans"/>
                        </a:rPr>
                        <a:t>Emit Solar</a:t>
                      </a:r>
                      <a:endParaRPr sz="16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2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What’s Covered</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Components</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Complete System &amp; Workmanship</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0003"/>
                  </a:ext>
                </a:extLst>
              </a:tr>
              <a:tr h="432000">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Installation Workmanship</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532176653"/>
                  </a:ext>
                </a:extLst>
              </a:tr>
              <a:tr h="432000">
                <a:tc>
                  <a:txBody>
                    <a:body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System-Level Issues</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211419287"/>
                  </a:ext>
                </a:extLst>
              </a:tr>
              <a:tr h="432000">
                <a:tc>
                  <a:txBody>
                    <a:body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Labour &amp; Transport</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71114478"/>
                  </a:ext>
                </a:extLst>
              </a:tr>
              <a:tr h="432000">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Warranty Claim &amp; Handling</a:t>
                      </a:r>
                      <a:endParaRPr kumimoji="0" lang="en-US" sz="1200" b="0" u="none" strike="noStrike" kern="0" cap="none" spc="0" normalizeH="0" baseline="0" noProof="0" dirty="0">
                        <a:ln>
                          <a:noFill/>
                        </a:ln>
                        <a:solidFill>
                          <a:prstClr val="black"/>
                        </a:solidFill>
                        <a:effectLst/>
                        <a:uLnTx/>
                        <a:uFillTx/>
                        <a:latin typeface="Work Sans" pitchFamily="2" charset="77"/>
                        <a:sym typeface="Arial"/>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933971099"/>
                  </a:ext>
                </a:extLst>
              </a:tr>
              <a:tr h="432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u="none" strike="noStrike" kern="0" cap="none" spc="0" normalizeH="0" baseline="0" noProof="0" dirty="0">
                          <a:ln>
                            <a:noFill/>
                          </a:ln>
                          <a:solidFill>
                            <a:schemeClr val="tx1"/>
                          </a:solidFill>
                          <a:effectLst/>
                          <a:uLnTx/>
                          <a:uFillTx/>
                          <a:latin typeface="Work Sans" pitchFamily="2" charset="77"/>
                          <a:sym typeface="Arial"/>
                        </a:rPr>
                        <a:t>Monitoring &amp; Support</a:t>
                      </a:r>
                      <a:endParaRPr kumimoji="0" lang="en-US" sz="1200" b="0" u="none" strike="noStrike" kern="0" cap="none" spc="0" normalizeH="0" baseline="0" noProof="0" dirty="0">
                        <a:ln>
                          <a:noFill/>
                        </a:ln>
                        <a:solidFill>
                          <a:prstClr val="black"/>
                        </a:solidFill>
                        <a:effectLst/>
                        <a:uLnTx/>
                        <a:uFillTx/>
                        <a:latin typeface="Work Sans" pitchFamily="2" charset="77"/>
                        <a:sym typeface="Arial"/>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416339683"/>
                  </a:ext>
                </a:extLst>
              </a:tr>
            </a:tbl>
          </a:graphicData>
        </a:graphic>
      </p:graphicFrame>
      <p:sp>
        <p:nvSpPr>
          <p:cNvPr id="22" name="Oval 21">
            <a:extLst>
              <a:ext uri="{FF2B5EF4-FFF2-40B4-BE49-F238E27FC236}">
                <a16:creationId xmlns:a16="http://schemas.microsoft.com/office/drawing/2014/main" id="{D74FFBE2-85A8-374A-5EC0-BDDE53C9F6B0}"/>
              </a:ext>
            </a:extLst>
          </p:cNvPr>
          <p:cNvSpPr>
            <a:spLocks noChangeAspect="1"/>
          </p:cNvSpPr>
          <p:nvPr/>
        </p:nvSpPr>
        <p:spPr>
          <a:xfrm>
            <a:off x="5942362" y="2553622"/>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24" name="Oval 23">
            <a:extLst>
              <a:ext uri="{FF2B5EF4-FFF2-40B4-BE49-F238E27FC236}">
                <a16:creationId xmlns:a16="http://schemas.microsoft.com/office/drawing/2014/main" id="{354D295D-126D-7A3A-948E-3103052AE86A}"/>
              </a:ext>
            </a:extLst>
          </p:cNvPr>
          <p:cNvSpPr>
            <a:spLocks noChangeAspect="1"/>
          </p:cNvSpPr>
          <p:nvPr/>
        </p:nvSpPr>
        <p:spPr>
          <a:xfrm>
            <a:off x="5942362" y="2986604"/>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28" name="Oval 27">
            <a:extLst>
              <a:ext uri="{FF2B5EF4-FFF2-40B4-BE49-F238E27FC236}">
                <a16:creationId xmlns:a16="http://schemas.microsoft.com/office/drawing/2014/main" id="{D38A673C-FF8E-7659-B9EE-64281F5BD345}"/>
              </a:ext>
            </a:extLst>
          </p:cNvPr>
          <p:cNvSpPr>
            <a:spLocks noChangeAspect="1"/>
          </p:cNvSpPr>
          <p:nvPr/>
        </p:nvSpPr>
        <p:spPr>
          <a:xfrm>
            <a:off x="5942362" y="3421406"/>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29" name="Oval 28">
            <a:extLst>
              <a:ext uri="{FF2B5EF4-FFF2-40B4-BE49-F238E27FC236}">
                <a16:creationId xmlns:a16="http://schemas.microsoft.com/office/drawing/2014/main" id="{EB1DF7C3-2809-66FF-87C2-F575189DA740}"/>
              </a:ext>
            </a:extLst>
          </p:cNvPr>
          <p:cNvSpPr>
            <a:spLocks noChangeAspect="1"/>
          </p:cNvSpPr>
          <p:nvPr/>
        </p:nvSpPr>
        <p:spPr>
          <a:xfrm>
            <a:off x="5942362" y="3854596"/>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35" name="Oval 34">
            <a:extLst>
              <a:ext uri="{FF2B5EF4-FFF2-40B4-BE49-F238E27FC236}">
                <a16:creationId xmlns:a16="http://schemas.microsoft.com/office/drawing/2014/main" id="{5CEFE313-5557-66DE-502A-E69000B6C3AA}"/>
              </a:ext>
            </a:extLst>
          </p:cNvPr>
          <p:cNvSpPr>
            <a:spLocks noChangeAspect="1"/>
          </p:cNvSpPr>
          <p:nvPr/>
        </p:nvSpPr>
        <p:spPr>
          <a:xfrm>
            <a:off x="5942362" y="4287786"/>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37" name="Oval 36">
            <a:extLst>
              <a:ext uri="{FF2B5EF4-FFF2-40B4-BE49-F238E27FC236}">
                <a16:creationId xmlns:a16="http://schemas.microsoft.com/office/drawing/2014/main" id="{4E6B00B9-198D-DD11-7918-F491CF6519C7}"/>
              </a:ext>
            </a:extLst>
          </p:cNvPr>
          <p:cNvSpPr>
            <a:spLocks noChangeAspect="1"/>
          </p:cNvSpPr>
          <p:nvPr/>
        </p:nvSpPr>
        <p:spPr>
          <a:xfrm>
            <a:off x="3637868" y="2553622"/>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2" name="Oval 41">
            <a:extLst>
              <a:ext uri="{FF2B5EF4-FFF2-40B4-BE49-F238E27FC236}">
                <a16:creationId xmlns:a16="http://schemas.microsoft.com/office/drawing/2014/main" id="{5B933E4B-DFEE-724A-0814-91447AD8B141}"/>
              </a:ext>
            </a:extLst>
          </p:cNvPr>
          <p:cNvSpPr>
            <a:spLocks noChangeAspect="1"/>
          </p:cNvSpPr>
          <p:nvPr/>
        </p:nvSpPr>
        <p:spPr>
          <a:xfrm>
            <a:off x="3637868" y="2986604"/>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3" name="Oval 42">
            <a:extLst>
              <a:ext uri="{FF2B5EF4-FFF2-40B4-BE49-F238E27FC236}">
                <a16:creationId xmlns:a16="http://schemas.microsoft.com/office/drawing/2014/main" id="{4FAA8527-7315-0926-B011-C9D25374D132}"/>
              </a:ext>
            </a:extLst>
          </p:cNvPr>
          <p:cNvSpPr>
            <a:spLocks noChangeAspect="1"/>
          </p:cNvSpPr>
          <p:nvPr/>
        </p:nvSpPr>
        <p:spPr>
          <a:xfrm>
            <a:off x="3637868" y="3421406"/>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4" name="Oval 43">
            <a:extLst>
              <a:ext uri="{FF2B5EF4-FFF2-40B4-BE49-F238E27FC236}">
                <a16:creationId xmlns:a16="http://schemas.microsoft.com/office/drawing/2014/main" id="{6F04C57B-A73F-2815-7A53-DB6A845AE8A5}"/>
              </a:ext>
            </a:extLst>
          </p:cNvPr>
          <p:cNvSpPr>
            <a:spLocks noChangeAspect="1"/>
          </p:cNvSpPr>
          <p:nvPr/>
        </p:nvSpPr>
        <p:spPr>
          <a:xfrm>
            <a:off x="3637868" y="3854596"/>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6" name="Oval 45">
            <a:extLst>
              <a:ext uri="{FF2B5EF4-FFF2-40B4-BE49-F238E27FC236}">
                <a16:creationId xmlns:a16="http://schemas.microsoft.com/office/drawing/2014/main" id="{C2FE4315-6663-B5AF-7036-C883EACAC50D}"/>
              </a:ext>
            </a:extLst>
          </p:cNvPr>
          <p:cNvSpPr>
            <a:spLocks noChangeAspect="1"/>
          </p:cNvSpPr>
          <p:nvPr/>
        </p:nvSpPr>
        <p:spPr>
          <a:xfrm>
            <a:off x="3637868" y="4287786"/>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grpSp>
        <p:nvGrpSpPr>
          <p:cNvPr id="81" name="Group 80">
            <a:extLst>
              <a:ext uri="{FF2B5EF4-FFF2-40B4-BE49-F238E27FC236}">
                <a16:creationId xmlns:a16="http://schemas.microsoft.com/office/drawing/2014/main" id="{8A380AA8-4BC0-DE56-4523-FD3A4CB5F429}"/>
              </a:ext>
            </a:extLst>
          </p:cNvPr>
          <p:cNvGrpSpPr/>
          <p:nvPr/>
        </p:nvGrpSpPr>
        <p:grpSpPr>
          <a:xfrm>
            <a:off x="321806" y="4948074"/>
            <a:ext cx="6916062" cy="1635478"/>
            <a:chOff x="321806" y="5369278"/>
            <a:chExt cx="6916062" cy="1635478"/>
          </a:xfrm>
        </p:grpSpPr>
        <p:sp>
          <p:nvSpPr>
            <p:cNvPr id="48" name="TextBox 47">
              <a:extLst>
                <a:ext uri="{FF2B5EF4-FFF2-40B4-BE49-F238E27FC236}">
                  <a16:creationId xmlns:a16="http://schemas.microsoft.com/office/drawing/2014/main" id="{191B4231-3CED-8EA2-85AB-B67D368B25BD}"/>
                </a:ext>
              </a:extLst>
            </p:cNvPr>
            <p:cNvSpPr txBox="1"/>
            <p:nvPr/>
          </p:nvSpPr>
          <p:spPr>
            <a:xfrm>
              <a:off x="321806" y="5369278"/>
              <a:ext cx="3784058" cy="369332"/>
            </a:xfrm>
            <a:prstGeom prst="rect">
              <a:avLst/>
            </a:prstGeom>
            <a:noFill/>
          </p:spPr>
          <p:txBody>
            <a:bodyPr wrap="square">
              <a:spAutoFit/>
            </a:bodyPr>
            <a:lstStyle/>
            <a:p>
              <a:pPr marL="0" marR="0" lvl="0" indent="0" algn="l" rtl="0">
                <a:spcBef>
                  <a:spcPts val="0"/>
                </a:spcBef>
                <a:spcAft>
                  <a:spcPts val="0"/>
                </a:spcAft>
                <a:buNone/>
              </a:pPr>
              <a:r>
                <a:rPr lang="en-US" b="1" i="0" dirty="0">
                  <a:solidFill>
                    <a:srgbClr val="F454CD"/>
                  </a:solidFill>
                  <a:latin typeface="Work Sans" pitchFamily="2" charset="77"/>
                </a:rPr>
                <a:t>Manufacturer Warranties</a:t>
              </a:r>
            </a:p>
          </p:txBody>
        </p:sp>
        <p:grpSp>
          <p:nvGrpSpPr>
            <p:cNvPr id="80" name="Group 79">
              <a:extLst>
                <a:ext uri="{FF2B5EF4-FFF2-40B4-BE49-F238E27FC236}">
                  <a16:creationId xmlns:a16="http://schemas.microsoft.com/office/drawing/2014/main" id="{068AFB4C-3AE8-D411-E522-04DB15703CB0}"/>
                </a:ext>
              </a:extLst>
            </p:cNvPr>
            <p:cNvGrpSpPr/>
            <p:nvPr/>
          </p:nvGrpSpPr>
          <p:grpSpPr>
            <a:xfrm>
              <a:off x="321806" y="5798572"/>
              <a:ext cx="6916062" cy="900000"/>
              <a:chOff x="321806" y="5810294"/>
              <a:chExt cx="6916062" cy="900000"/>
            </a:xfrm>
          </p:grpSpPr>
          <p:sp>
            <p:nvSpPr>
              <p:cNvPr id="49" name="Rectangle 48">
                <a:extLst>
                  <a:ext uri="{FF2B5EF4-FFF2-40B4-BE49-F238E27FC236}">
                    <a16:creationId xmlns:a16="http://schemas.microsoft.com/office/drawing/2014/main" id="{40B52C67-C8FE-A0F9-6854-4594C0EFC71E}"/>
                  </a:ext>
                </a:extLst>
              </p:cNvPr>
              <p:cNvSpPr/>
              <p:nvPr/>
            </p:nvSpPr>
            <p:spPr>
              <a:xfrm>
                <a:off x="3867768" y="5810294"/>
                <a:ext cx="3370100" cy="90000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400" b="1" dirty="0">
                    <a:solidFill>
                      <a:schemeClr val="tx1"/>
                    </a:solidFill>
                    <a:latin typeface="Work Sans" pitchFamily="2" charset="77"/>
                  </a:rPr>
                  <a:t>Inverter</a:t>
                </a:r>
              </a:p>
              <a:p>
                <a:pPr>
                  <a:buClr>
                    <a:srgbClr val="F454CD"/>
                  </a:buClr>
                </a:pPr>
                <a:endParaRPr lang="en-US" sz="300"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Product Warranty: 10 Years</a:t>
                </a:r>
              </a:p>
              <a:p>
                <a:pPr marL="171450" indent="-171450">
                  <a:buClr>
                    <a:srgbClr val="F454CD"/>
                  </a:buClr>
                  <a:buFont typeface="Arial" panose="020B0604020202020204" pitchFamily="34" charset="0"/>
                  <a:buChar char="•"/>
                </a:pPr>
                <a:endParaRPr lang="en-US" sz="1000" dirty="0">
                  <a:solidFill>
                    <a:schemeClr val="tx1"/>
                  </a:solidFill>
                  <a:latin typeface="Work Sans" pitchFamily="2" charset="77"/>
                </a:endParaRPr>
              </a:p>
            </p:txBody>
          </p:sp>
          <p:sp>
            <p:nvSpPr>
              <p:cNvPr id="50" name="Rectangle 49">
                <a:extLst>
                  <a:ext uri="{FF2B5EF4-FFF2-40B4-BE49-F238E27FC236}">
                    <a16:creationId xmlns:a16="http://schemas.microsoft.com/office/drawing/2014/main" id="{3BE6A7E4-C1FB-3809-ADD4-063E77C3B232}"/>
                  </a:ext>
                </a:extLst>
              </p:cNvPr>
              <p:cNvSpPr/>
              <p:nvPr/>
            </p:nvSpPr>
            <p:spPr>
              <a:xfrm>
                <a:off x="321806" y="5810294"/>
                <a:ext cx="3370100" cy="90000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400" b="1" dirty="0">
                    <a:solidFill>
                      <a:schemeClr val="tx1"/>
                    </a:solidFill>
                    <a:latin typeface="Work Sans" pitchFamily="2" charset="77"/>
                  </a:rPr>
                  <a:t>Solar Panels</a:t>
                </a: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Product Warranty: 25 Years</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Performance Warranty: 30 Years</a:t>
                </a:r>
              </a:p>
            </p:txBody>
          </p:sp>
        </p:grpSp>
        <p:sp>
          <p:nvSpPr>
            <p:cNvPr id="53" name="TextBox 52">
              <a:extLst>
                <a:ext uri="{FF2B5EF4-FFF2-40B4-BE49-F238E27FC236}">
                  <a16:creationId xmlns:a16="http://schemas.microsoft.com/office/drawing/2014/main" id="{354FEE34-93AD-F9AD-CA3C-38B85717C9D1}"/>
                </a:ext>
              </a:extLst>
            </p:cNvPr>
            <p:cNvSpPr txBox="1"/>
            <p:nvPr/>
          </p:nvSpPr>
          <p:spPr>
            <a:xfrm>
              <a:off x="321806" y="6789312"/>
              <a:ext cx="6916062" cy="215444"/>
            </a:xfrm>
            <a:prstGeom prst="rect">
              <a:avLst/>
            </a:prstGeom>
            <a:noFill/>
          </p:spPr>
          <p:txBody>
            <a:bodyPr wrap="square">
              <a:spAutoFit/>
            </a:bodyPr>
            <a:lstStyle/>
            <a:p>
              <a:pPr lvl="0" defTabSz="914400" fontAlgn="base">
                <a:buClr>
                  <a:srgbClr val="000000"/>
                </a:buClr>
                <a:defRPr/>
              </a:pPr>
              <a:r>
                <a:rPr lang="en-MY" sz="800" kern="0" dirty="0">
                  <a:solidFill>
                    <a:schemeClr val="tx1">
                      <a:lumMod val="65000"/>
                      <a:lumOff val="35000"/>
                    </a:schemeClr>
                  </a:solidFill>
                  <a:latin typeface="Work Sans" pitchFamily="2" charset="77"/>
                  <a:sym typeface="Arial"/>
                </a:rPr>
                <a:t>Product Warranties cover product defect while the Performance Warranty cover panel output over the long term. </a:t>
              </a:r>
              <a:endParaRPr lang="en-US" sz="800" kern="0" dirty="0">
                <a:solidFill>
                  <a:schemeClr val="tx1">
                    <a:lumMod val="65000"/>
                    <a:lumOff val="35000"/>
                  </a:schemeClr>
                </a:solidFill>
                <a:latin typeface="Work Sans" pitchFamily="2" charset="77"/>
                <a:sym typeface="Arial"/>
              </a:endParaRPr>
            </a:p>
          </p:txBody>
        </p:sp>
      </p:grpSp>
      <p:grpSp>
        <p:nvGrpSpPr>
          <p:cNvPr id="83" name="Group 82">
            <a:extLst>
              <a:ext uri="{FF2B5EF4-FFF2-40B4-BE49-F238E27FC236}">
                <a16:creationId xmlns:a16="http://schemas.microsoft.com/office/drawing/2014/main" id="{E749CB6B-662F-56F0-576C-5776AE975C5C}"/>
              </a:ext>
            </a:extLst>
          </p:cNvPr>
          <p:cNvGrpSpPr/>
          <p:nvPr/>
        </p:nvGrpSpPr>
        <p:grpSpPr>
          <a:xfrm>
            <a:off x="321806" y="6891335"/>
            <a:ext cx="6916064" cy="3150018"/>
            <a:chOff x="321806" y="6929541"/>
            <a:chExt cx="6916064" cy="3150018"/>
          </a:xfrm>
        </p:grpSpPr>
        <p:sp>
          <p:nvSpPr>
            <p:cNvPr id="65" name="TextBox 64">
              <a:extLst>
                <a:ext uri="{FF2B5EF4-FFF2-40B4-BE49-F238E27FC236}">
                  <a16:creationId xmlns:a16="http://schemas.microsoft.com/office/drawing/2014/main" id="{3B353E62-D05A-F363-4B5A-02EBA2E6118D}"/>
                </a:ext>
              </a:extLst>
            </p:cNvPr>
            <p:cNvSpPr txBox="1"/>
            <p:nvPr/>
          </p:nvSpPr>
          <p:spPr>
            <a:xfrm>
              <a:off x="321806" y="9864115"/>
              <a:ext cx="6916062" cy="215444"/>
            </a:xfrm>
            <a:prstGeom prst="rect">
              <a:avLst/>
            </a:prstGeom>
            <a:noFill/>
          </p:spPr>
          <p:txBody>
            <a:bodyPr wrap="square">
              <a:spAutoFit/>
            </a:bodyPr>
            <a:lstStyle/>
            <a:p>
              <a:pPr lvl="0" defTabSz="914400" fontAlgn="base">
                <a:buClr>
                  <a:srgbClr val="000000"/>
                </a:buClr>
                <a:defRPr/>
              </a:pPr>
              <a:r>
                <a:rPr lang="en-MY" sz="800" kern="0" dirty="0">
                  <a:solidFill>
                    <a:schemeClr val="tx1">
                      <a:lumMod val="65000"/>
                      <a:lumOff val="35000"/>
                    </a:schemeClr>
                  </a:solidFill>
                  <a:latin typeface="Work Sans" pitchFamily="2" charset="77"/>
                  <a:sym typeface="Arial"/>
                </a:rPr>
                <a:t>Emit Solar Warranties commence from activation date. Terms &amp; Conditions apply.</a:t>
              </a:r>
              <a:endParaRPr lang="en-US" sz="800" kern="0" dirty="0">
                <a:solidFill>
                  <a:schemeClr val="tx1">
                    <a:lumMod val="65000"/>
                    <a:lumOff val="35000"/>
                  </a:schemeClr>
                </a:solidFill>
                <a:latin typeface="Work Sans" pitchFamily="2" charset="77"/>
                <a:sym typeface="Arial"/>
              </a:endParaRPr>
            </a:p>
          </p:txBody>
        </p:sp>
        <p:sp>
          <p:nvSpPr>
            <p:cNvPr id="67" name="TextBox 66">
              <a:extLst>
                <a:ext uri="{FF2B5EF4-FFF2-40B4-BE49-F238E27FC236}">
                  <a16:creationId xmlns:a16="http://schemas.microsoft.com/office/drawing/2014/main" id="{5CD47D04-E95B-C4A9-06A2-42B868ED93B4}"/>
                </a:ext>
              </a:extLst>
            </p:cNvPr>
            <p:cNvSpPr txBox="1"/>
            <p:nvPr/>
          </p:nvSpPr>
          <p:spPr>
            <a:xfrm>
              <a:off x="321806" y="6929541"/>
              <a:ext cx="3784058" cy="369332"/>
            </a:xfrm>
            <a:prstGeom prst="rect">
              <a:avLst/>
            </a:prstGeom>
            <a:noFill/>
          </p:spPr>
          <p:txBody>
            <a:bodyPr wrap="square">
              <a:spAutoFit/>
            </a:bodyPr>
            <a:lstStyle/>
            <a:p>
              <a:pPr marL="0" marR="0" lvl="0" indent="0" algn="l" rtl="0">
                <a:spcBef>
                  <a:spcPts val="0"/>
                </a:spcBef>
                <a:spcAft>
                  <a:spcPts val="0"/>
                </a:spcAft>
                <a:buNone/>
              </a:pPr>
              <a:r>
                <a:rPr lang="en-US" b="1" i="0" dirty="0">
                  <a:solidFill>
                    <a:srgbClr val="F454CD"/>
                  </a:solidFill>
                  <a:latin typeface="Work Sans" pitchFamily="2" charset="77"/>
                </a:rPr>
                <a:t>Emit Solar Warranties</a:t>
              </a:r>
            </a:p>
          </p:txBody>
        </p:sp>
        <p:grpSp>
          <p:nvGrpSpPr>
            <p:cNvPr id="82" name="Group 81">
              <a:extLst>
                <a:ext uri="{FF2B5EF4-FFF2-40B4-BE49-F238E27FC236}">
                  <a16:creationId xmlns:a16="http://schemas.microsoft.com/office/drawing/2014/main" id="{59FF044F-263B-7E41-3BAB-7D2C6963C7D0}"/>
                </a:ext>
              </a:extLst>
            </p:cNvPr>
            <p:cNvGrpSpPr/>
            <p:nvPr/>
          </p:nvGrpSpPr>
          <p:grpSpPr>
            <a:xfrm>
              <a:off x="321806" y="7370555"/>
              <a:ext cx="6916064" cy="2398759"/>
              <a:chOff x="321806" y="7370556"/>
              <a:chExt cx="6916064" cy="2398759"/>
            </a:xfrm>
          </p:grpSpPr>
          <p:sp>
            <p:nvSpPr>
              <p:cNvPr id="71" name="Rectangle 70">
                <a:extLst>
                  <a:ext uri="{FF2B5EF4-FFF2-40B4-BE49-F238E27FC236}">
                    <a16:creationId xmlns:a16="http://schemas.microsoft.com/office/drawing/2014/main" id="{13DAD156-570D-923B-9E65-08F1BD764F20}"/>
                  </a:ext>
                </a:extLst>
              </p:cNvPr>
              <p:cNvSpPr/>
              <p:nvPr/>
            </p:nvSpPr>
            <p:spPr>
              <a:xfrm>
                <a:off x="321806" y="7370556"/>
                <a:ext cx="2249944" cy="2398758"/>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Clr>
                    <a:srgbClr val="F454CD"/>
                  </a:buClr>
                </a:pPr>
                <a:endParaRPr lang="en-US" sz="400" b="1" dirty="0">
                  <a:solidFill>
                    <a:schemeClr val="tx1"/>
                  </a:solidFill>
                  <a:latin typeface="Work Sans" pitchFamily="2" charset="77"/>
                </a:endParaRPr>
              </a:p>
              <a:p>
                <a:pPr>
                  <a:buClr>
                    <a:srgbClr val="F454CD"/>
                  </a:buClr>
                </a:pPr>
                <a:r>
                  <a:rPr lang="en-US" sz="1400" b="1" dirty="0">
                    <a:solidFill>
                      <a:schemeClr val="tx1"/>
                    </a:solidFill>
                    <a:latin typeface="Work Sans" pitchFamily="2" charset="77"/>
                  </a:rPr>
                  <a:t>Installation Warranty</a:t>
                </a:r>
              </a:p>
              <a:p>
                <a:pPr>
                  <a:buClr>
                    <a:srgbClr val="F454CD"/>
                  </a:buClr>
                </a:pPr>
                <a:r>
                  <a:rPr lang="en-US" sz="1400" b="1" dirty="0">
                    <a:solidFill>
                      <a:schemeClr val="tx1"/>
                    </a:solidFill>
                    <a:latin typeface="Work Sans" pitchFamily="2" charset="77"/>
                  </a:rPr>
                  <a:t> </a:t>
                </a:r>
              </a:p>
              <a:p>
                <a:pPr>
                  <a:buClr>
                    <a:srgbClr val="F454CD"/>
                  </a:buClr>
                </a:pPr>
                <a:endParaRPr lang="en-US" sz="500" b="1" dirty="0">
                  <a:solidFill>
                    <a:schemeClr val="tx1"/>
                  </a:solidFill>
                  <a:latin typeface="Work Sans" pitchFamily="2" charset="77"/>
                </a:endParaRP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1 Year</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Covers workmanship defects during installation</a:t>
                </a:r>
              </a:p>
            </p:txBody>
          </p:sp>
          <p:sp>
            <p:nvSpPr>
              <p:cNvPr id="78" name="Rectangle 77">
                <a:extLst>
                  <a:ext uri="{FF2B5EF4-FFF2-40B4-BE49-F238E27FC236}">
                    <a16:creationId xmlns:a16="http://schemas.microsoft.com/office/drawing/2014/main" id="{3C764B7B-2FDB-DDDA-87DB-1326E6C0E607}"/>
                  </a:ext>
                </a:extLst>
              </p:cNvPr>
              <p:cNvSpPr/>
              <p:nvPr/>
            </p:nvSpPr>
            <p:spPr>
              <a:xfrm>
                <a:off x="4987926" y="7370557"/>
                <a:ext cx="2249944" cy="2398758"/>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Clr>
                    <a:srgbClr val="F454CD"/>
                  </a:buClr>
                </a:pPr>
                <a:endParaRPr lang="en-US" sz="400" b="1" dirty="0">
                  <a:solidFill>
                    <a:schemeClr val="tx1"/>
                  </a:solidFill>
                  <a:latin typeface="Work Sans" pitchFamily="2" charset="77"/>
                </a:endParaRPr>
              </a:p>
              <a:p>
                <a:pPr>
                  <a:buClr>
                    <a:srgbClr val="F454CD"/>
                  </a:buClr>
                </a:pPr>
                <a:r>
                  <a:rPr lang="en-US" sz="1400" b="1" dirty="0">
                    <a:solidFill>
                      <a:schemeClr val="tx1"/>
                    </a:solidFill>
                    <a:latin typeface="Work Sans" pitchFamily="2" charset="77"/>
                  </a:rPr>
                  <a:t>Extended Support Package (Emit EzSolar)</a:t>
                </a:r>
              </a:p>
              <a:p>
                <a:pPr>
                  <a:buClr>
                    <a:srgbClr val="F454CD"/>
                  </a:buClr>
                </a:pPr>
                <a:endParaRPr lang="en-US" sz="500" b="1" dirty="0">
                  <a:solidFill>
                    <a:schemeClr val="tx1"/>
                  </a:solidFill>
                  <a:latin typeface="Work Sans" pitchFamily="2" charset="77"/>
                </a:endParaRP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Up to 10 Years (contract duration)</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Support for system faults caused by faulty components</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Includes labour for replacing faulty components covered by manufacturer warranty</a:t>
                </a:r>
              </a:p>
            </p:txBody>
          </p:sp>
          <p:sp>
            <p:nvSpPr>
              <p:cNvPr id="79" name="Rectangle 78">
                <a:extLst>
                  <a:ext uri="{FF2B5EF4-FFF2-40B4-BE49-F238E27FC236}">
                    <a16:creationId xmlns:a16="http://schemas.microsoft.com/office/drawing/2014/main" id="{42557144-052B-370C-F3AC-5EFB0D7B9F62}"/>
                  </a:ext>
                </a:extLst>
              </p:cNvPr>
              <p:cNvSpPr/>
              <p:nvPr/>
            </p:nvSpPr>
            <p:spPr>
              <a:xfrm>
                <a:off x="2654865" y="7370557"/>
                <a:ext cx="2249944" cy="2398758"/>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Clr>
                    <a:srgbClr val="F454CD"/>
                  </a:buClr>
                </a:pPr>
                <a:endParaRPr lang="en-US" sz="400" b="1" dirty="0">
                  <a:solidFill>
                    <a:schemeClr val="tx1"/>
                  </a:solidFill>
                  <a:latin typeface="Work Sans" pitchFamily="2" charset="77"/>
                </a:endParaRPr>
              </a:p>
              <a:p>
                <a:pPr>
                  <a:buClr>
                    <a:srgbClr val="F454CD"/>
                  </a:buClr>
                </a:pPr>
                <a:r>
                  <a:rPr lang="en-US" sz="1400" b="1" dirty="0">
                    <a:solidFill>
                      <a:schemeClr val="tx1"/>
                    </a:solidFill>
                    <a:latin typeface="Work Sans" pitchFamily="2" charset="77"/>
                  </a:rPr>
                  <a:t>System Warranty</a:t>
                </a:r>
              </a:p>
              <a:p>
                <a:pPr>
                  <a:buClr>
                    <a:srgbClr val="F454CD"/>
                  </a:buClr>
                </a:pPr>
                <a:endParaRPr lang="en-US" sz="1400" b="1" dirty="0">
                  <a:solidFill>
                    <a:schemeClr val="tx1"/>
                  </a:solidFill>
                  <a:latin typeface="Work Sans" pitchFamily="2" charset="77"/>
                </a:endParaRPr>
              </a:p>
              <a:p>
                <a:pPr>
                  <a:buClr>
                    <a:srgbClr val="F454CD"/>
                  </a:buClr>
                </a:pPr>
                <a:endParaRPr lang="en-US" sz="500" b="1" dirty="0">
                  <a:solidFill>
                    <a:schemeClr val="tx1"/>
                  </a:solidFill>
                  <a:latin typeface="Work Sans" pitchFamily="2" charset="77"/>
                </a:endParaRP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2 Years</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Ensures the system works as installed</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Includes the repair and replacement of system components + labour and transportation</a:t>
                </a:r>
              </a:p>
            </p:txBody>
          </p:sp>
        </p:grpSp>
      </p:grpSp>
      <p:sp>
        <p:nvSpPr>
          <p:cNvPr id="2" name="TextBox 1">
            <a:extLst>
              <a:ext uri="{FF2B5EF4-FFF2-40B4-BE49-F238E27FC236}">
                <a16:creationId xmlns:a16="http://schemas.microsoft.com/office/drawing/2014/main" id="{3E7788A8-74A5-1F01-407D-E8EC819875C0}"/>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Beyond Manufacturer Warranties</a:t>
            </a:r>
            <a:endParaRPr lang="en-US" sz="700" dirty="0">
              <a:latin typeface="Work Sans" pitchFamily="2" charset="77"/>
            </a:endParaRPr>
          </a:p>
          <a:p>
            <a:pPr>
              <a:defRPr/>
            </a:pPr>
            <a:r>
              <a:rPr lang="en-US" sz="1200" dirty="0">
                <a:latin typeface="Work Sans" pitchFamily="2" charset="77"/>
              </a:rPr>
              <a:t>Manufacturers protect components. Emit Solar protects the entire system</a:t>
            </a:r>
            <a:r>
              <a:rPr lang="en-US" sz="1200" dirty="0">
                <a:solidFill>
                  <a:srgbClr val="F454CD"/>
                </a:solidFill>
                <a:latin typeface="Work Sans" pitchFamily="2" charset="77"/>
              </a:rPr>
              <a:t>.</a:t>
            </a:r>
          </a:p>
        </p:txBody>
      </p:sp>
    </p:spTree>
    <p:extLst>
      <p:ext uri="{BB962C8B-B14F-4D97-AF65-F5344CB8AC3E}">
        <p14:creationId xmlns:p14="http://schemas.microsoft.com/office/powerpoint/2010/main" val="4273572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B6CB9-301F-BFD3-F308-146BD91FAF6E}"/>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004A1A24-0E42-87B2-320A-E39C862252C4}"/>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AFF5EE33-49A9-DCB6-0F29-A4E56F7A189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46CDA014-6288-3D27-EC3C-34370E61B40D}"/>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sp>
        <p:nvSpPr>
          <p:cNvPr id="104" name="TextBox 103">
            <a:extLst>
              <a:ext uri="{FF2B5EF4-FFF2-40B4-BE49-F238E27FC236}">
                <a16:creationId xmlns:a16="http://schemas.microsoft.com/office/drawing/2014/main" id="{3E2A6527-FC9F-6EBD-0483-E0A5FD9B69ED}"/>
              </a:ext>
            </a:extLst>
          </p:cNvPr>
          <p:cNvSpPr txBox="1"/>
          <p:nvPr/>
        </p:nvSpPr>
        <p:spPr bwMode="auto">
          <a:xfrm>
            <a:off x="321806" y="9591688"/>
            <a:ext cx="6912000" cy="584775"/>
          </a:xfrm>
          <a:prstGeom prst="rect">
            <a:avLst/>
          </a:prstGeom>
          <a:noFill/>
        </p:spPr>
        <p:txBody>
          <a:bodyPr wrap="square">
            <a:spAutoFit/>
          </a:bodyPr>
          <a:lstStyle/>
          <a:p>
            <a:r>
              <a:rPr lang="en-MY" sz="800" dirty="0">
                <a:solidFill>
                  <a:schemeClr val="tx1">
                    <a:lumMod val="65000"/>
                    <a:lumOff val="35000"/>
                  </a:schemeClr>
                </a:solidFill>
                <a:latin typeface="Work Sans" pitchFamily="2" charset="77"/>
              </a:rPr>
              <a:t>1. Corrective works (e.g. replacing faulty parts) quoted separately and may require a return visit</a:t>
            </a:r>
          </a:p>
          <a:p>
            <a:r>
              <a:rPr lang="en-MY" sz="800" dirty="0">
                <a:solidFill>
                  <a:schemeClr val="tx1">
                    <a:lumMod val="65000"/>
                    <a:lumOff val="35000"/>
                  </a:schemeClr>
                </a:solidFill>
                <a:latin typeface="Work Sans" pitchFamily="2" charset="77"/>
              </a:rPr>
              <a:t>2. Excludes out-of-warranty parts &amp; materials, corrective works, roof-level works</a:t>
            </a:r>
          </a:p>
          <a:p>
            <a:r>
              <a:rPr lang="en-MY" sz="800" dirty="0">
                <a:solidFill>
                  <a:schemeClr val="tx1">
                    <a:lumMod val="65000"/>
                    <a:lumOff val="35000"/>
                  </a:schemeClr>
                </a:solidFill>
                <a:latin typeface="Work Sans" pitchFamily="2" charset="77"/>
              </a:rPr>
              <a:t>3. If required, </a:t>
            </a:r>
            <a:r>
              <a:rPr lang="en-MY" sz="800" dirty="0" err="1">
                <a:solidFill>
                  <a:schemeClr val="tx1">
                    <a:lumMod val="65000"/>
                    <a:lumOff val="35000"/>
                  </a:schemeClr>
                </a:solidFill>
                <a:latin typeface="Work Sans" pitchFamily="2" charset="77"/>
              </a:rPr>
              <a:t>skylift</a:t>
            </a:r>
            <a:r>
              <a:rPr lang="en-MY" sz="800" dirty="0">
                <a:solidFill>
                  <a:schemeClr val="tx1">
                    <a:lumMod val="65000"/>
                    <a:lumOff val="35000"/>
                  </a:schemeClr>
                </a:solidFill>
                <a:latin typeface="Work Sans" pitchFamily="2" charset="77"/>
              </a:rPr>
              <a:t> charges range from RM500 to RM750, depending on roof height and accessibility</a:t>
            </a:r>
          </a:p>
          <a:p>
            <a:r>
              <a:rPr lang="en-MY" sz="800" dirty="0">
                <a:solidFill>
                  <a:schemeClr val="tx1">
                    <a:lumMod val="65000"/>
                    <a:lumOff val="35000"/>
                  </a:schemeClr>
                </a:solidFill>
                <a:latin typeface="Work Sans" pitchFamily="2" charset="77"/>
              </a:rPr>
              <a:t>4. Prices are subject to change over time and are subject to SST</a:t>
            </a:r>
          </a:p>
        </p:txBody>
      </p:sp>
      <p:graphicFrame>
        <p:nvGraphicFramePr>
          <p:cNvPr id="3" name="Table 2">
            <a:extLst>
              <a:ext uri="{FF2B5EF4-FFF2-40B4-BE49-F238E27FC236}">
                <a16:creationId xmlns:a16="http://schemas.microsoft.com/office/drawing/2014/main" id="{F21E8B8C-A207-B5C2-9FA4-B617E72B5302}"/>
              </a:ext>
            </a:extLst>
          </p:cNvPr>
          <p:cNvGraphicFramePr>
            <a:graphicFrameLocks noGrp="1"/>
          </p:cNvGraphicFramePr>
          <p:nvPr/>
        </p:nvGraphicFramePr>
        <p:xfrm>
          <a:off x="215837" y="1815656"/>
          <a:ext cx="7128000" cy="7632000"/>
        </p:xfrm>
        <a:graphic>
          <a:graphicData uri="http://schemas.openxmlformats.org/drawingml/2006/table">
            <a:tbl>
              <a:tblPr bandRow="1">
                <a:tableStyleId>{5C22544A-7EE6-4342-B048-85BDC9FD1C3A}</a:tableStyleId>
              </a:tblPr>
              <a:tblGrid>
                <a:gridCol w="2520000">
                  <a:extLst>
                    <a:ext uri="{9D8B030D-6E8A-4147-A177-3AD203B41FA5}">
                      <a16:colId xmlns:a16="http://schemas.microsoft.com/office/drawing/2014/main" val="3284436003"/>
                    </a:ext>
                  </a:extLst>
                </a:gridCol>
                <a:gridCol w="2304000">
                  <a:extLst>
                    <a:ext uri="{9D8B030D-6E8A-4147-A177-3AD203B41FA5}">
                      <a16:colId xmlns:a16="http://schemas.microsoft.com/office/drawing/2014/main" val="917449727"/>
                    </a:ext>
                  </a:extLst>
                </a:gridCol>
                <a:gridCol w="2304000">
                  <a:extLst>
                    <a:ext uri="{9D8B030D-6E8A-4147-A177-3AD203B41FA5}">
                      <a16:colId xmlns:a16="http://schemas.microsoft.com/office/drawing/2014/main" val="1334234214"/>
                    </a:ext>
                  </a:extLst>
                </a:gridCol>
              </a:tblGrid>
              <a:tr h="720000">
                <a:tc>
                  <a:txBody>
                    <a:bodyPr/>
                    <a:lstStyle/>
                    <a:p>
                      <a:r>
                        <a:rPr lang="en-US" sz="1600" b="1" dirty="0">
                          <a:solidFill>
                            <a:schemeClr val="tx1"/>
                          </a:solidFill>
                          <a:latin typeface="Work Sans" pitchFamily="2" charset="77"/>
                        </a:rPr>
                        <a:t>What’s Included</a:t>
                      </a:r>
                    </a:p>
                  </a:txBody>
                  <a:tcPr anchor="b">
                    <a:lnB w="19050" cap="flat" cmpd="sng" algn="ctr">
                      <a:solidFill>
                        <a:srgbClr val="F454CD"/>
                      </a:solidFill>
                      <a:prstDash val="solid"/>
                      <a:round/>
                      <a:headEnd type="none" w="med" len="med"/>
                      <a:tailEnd type="none" w="med" len="med"/>
                    </a:lnB>
                    <a:solidFill>
                      <a:schemeClr val="bg1"/>
                    </a:solidFill>
                  </a:tcPr>
                </a:tc>
                <a:tc>
                  <a:txBody>
                    <a:bodyPr/>
                    <a:lstStyle/>
                    <a:p>
                      <a:pPr algn="ctr"/>
                      <a:r>
                        <a:rPr lang="en-US" sz="1400" b="1" dirty="0">
                          <a:solidFill>
                            <a:schemeClr val="tx1"/>
                          </a:solidFill>
                          <a:latin typeface="Work Sans" pitchFamily="2" charset="77"/>
                        </a:rPr>
                        <a:t>Standard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Work Sans" pitchFamily="2" charset="77"/>
                          <a:ea typeface="+mn-ea"/>
                          <a:cs typeface="+mn-cs"/>
                        </a:rPr>
                        <a:t>RM300/visit (RM450 after hours)</a:t>
                      </a:r>
                      <a:endParaRPr kumimoji="0" lang="en-US" sz="800" b="0" i="0" u="none" strike="noStrike" kern="1200" cap="none" spc="0" normalizeH="0" baseline="0" noProof="0" dirty="0">
                        <a:ln>
                          <a:noFill/>
                        </a:ln>
                        <a:solidFill>
                          <a:schemeClr val="tx1"/>
                        </a:solidFill>
                        <a:effectLst/>
                        <a:uLnTx/>
                        <a:uFillTx/>
                        <a:latin typeface="Work Sans" pitchFamily="2" charset="77"/>
                        <a:ea typeface="+mn-ea"/>
                        <a:cs typeface="+mn-cs"/>
                      </a:endParaRPr>
                    </a:p>
                  </a:txBody>
                  <a:tcPr anchor="b">
                    <a:lnB w="19050" cap="flat" cmpd="sng" algn="ctr">
                      <a:solidFill>
                        <a:srgbClr val="F454CD"/>
                      </a:solidFill>
                      <a:prstDash val="solid"/>
                      <a:round/>
                      <a:headEnd type="none" w="med" len="med"/>
                      <a:tailEnd type="none" w="med" len="med"/>
                    </a:lnB>
                    <a:noFill/>
                  </a:tcPr>
                </a:tc>
                <a:tc>
                  <a:txBody>
                    <a:bodyPr/>
                    <a:lstStyle/>
                    <a:p>
                      <a:pPr algn="ctr"/>
                      <a:r>
                        <a:rPr lang="en-US" sz="1400" b="1" dirty="0">
                          <a:solidFill>
                            <a:schemeClr val="tx1"/>
                          </a:solidFill>
                          <a:latin typeface="Work Sans" pitchFamily="2" charset="77"/>
                        </a:rPr>
                        <a:t>Comprehensive</a:t>
                      </a:r>
                    </a:p>
                    <a:p>
                      <a:pPr marL="0" marR="0" indent="0" algn="ctr" defTabSz="75593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Work Sans" pitchFamily="2" charset="77"/>
                          <a:ea typeface="+mn-ea"/>
                          <a:cs typeface="+mn-cs"/>
                        </a:rPr>
                        <a:t>RM650/visit</a:t>
                      </a:r>
                    </a:p>
                  </a:txBody>
                  <a:tcPr anchor="b">
                    <a:lnB w="19050" cap="flat" cmpd="sng" algn="ctr">
                      <a:solidFill>
                        <a:srgbClr val="F454CD"/>
                      </a:solidFill>
                      <a:prstDash val="solid"/>
                      <a:round/>
                      <a:headEnd type="none" w="med" len="med"/>
                      <a:tailEnd type="none" w="med" len="med"/>
                    </a:lnB>
                    <a:noFill/>
                  </a:tcPr>
                </a:tc>
                <a:extLst>
                  <a:ext uri="{0D108BD9-81ED-4DB2-BD59-A6C34878D82A}">
                    <a16:rowId xmlns:a16="http://schemas.microsoft.com/office/drawing/2014/main" val="2038936912"/>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0" i="0" dirty="0">
                          <a:latin typeface="Work Sans" pitchFamily="2" charset="77"/>
                        </a:rPr>
                        <a:t>Visual inspection of inverter, PVDB and wiring</a:t>
                      </a:r>
                    </a:p>
                  </a:txBody>
                  <a:tcPr anchor="ctr">
                    <a:lnT w="19050" cap="flat" cmpd="sng" algn="ctr">
                      <a:solidFill>
                        <a:srgbClr val="F454CD"/>
                      </a:solidFill>
                      <a:prstDash val="solid"/>
                      <a:round/>
                      <a:headEnd type="none" w="med" len="med"/>
                      <a:tailEnd type="none" w="med" len="med"/>
                    </a:lnT>
                    <a:solidFill>
                      <a:schemeClr val="bg1"/>
                    </a:solidFill>
                  </a:tcPr>
                </a:tc>
                <a:tc>
                  <a:txBody>
                    <a:bodyPr/>
                    <a:lstStyle/>
                    <a:p>
                      <a:pPr algn="ctr"/>
                      <a:endParaRPr lang="en-US" sz="1200" dirty="0">
                        <a:latin typeface="Work Sans" pitchFamily="2" charset="77"/>
                      </a:endParaRPr>
                    </a:p>
                  </a:txBody>
                  <a:tcPr anchor="ctr">
                    <a:lnT w="19050" cap="flat" cmpd="sng" algn="ctr">
                      <a:solidFill>
                        <a:srgbClr val="F454CD"/>
                      </a:solidFill>
                      <a:prstDash val="solid"/>
                      <a:round/>
                      <a:headEnd type="none" w="med" len="med"/>
                      <a:tailEnd type="none" w="med" len="med"/>
                    </a:lnT>
                    <a:solidFill>
                      <a:srgbClr val="F4F5F5"/>
                    </a:solidFill>
                  </a:tcPr>
                </a:tc>
                <a:tc>
                  <a:txBody>
                    <a:bodyPr/>
                    <a:lstStyle/>
                    <a:p>
                      <a:pPr algn="ctr"/>
                      <a:endParaRPr lang="en-US" sz="1200" dirty="0">
                        <a:latin typeface="Work Sans" pitchFamily="2" charset="77"/>
                      </a:endParaRPr>
                    </a:p>
                  </a:txBody>
                  <a:tcPr anchor="ctr">
                    <a:lnT w="19050" cap="flat" cmpd="sng" algn="ctr">
                      <a:solidFill>
                        <a:srgbClr val="F454CD"/>
                      </a:solidFill>
                      <a:prstDash val="solid"/>
                      <a:round/>
                      <a:headEnd type="none" w="med" len="med"/>
                      <a:tailEnd type="none" w="med" len="med"/>
                    </a:lnT>
                    <a:solidFill>
                      <a:srgbClr val="FFF7FF"/>
                    </a:solidFill>
                  </a:tcPr>
                </a:tc>
                <a:extLst>
                  <a:ext uri="{0D108BD9-81ED-4DB2-BD59-A6C34878D82A}">
                    <a16:rowId xmlns:a16="http://schemas.microsoft.com/office/drawing/2014/main" val="2250465425"/>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0" i="0" dirty="0">
                          <a:latin typeface="Work Sans" pitchFamily="2" charset="77"/>
                        </a:rPr>
                        <a:t>Electrical checks and connection testing (on-ground)</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556960770"/>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Check safety components are working properly​</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1318188987"/>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Review inverter alarm logs</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535807392"/>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Basic troubleshooting (reset, reconfigure, small fixes)​</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121320013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System performance report</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1391413825"/>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Visual inspection of panels, conduits and connectors</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339544900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Infrared thermal scan of panels</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306282907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Ensure mounting structures are secure and intact</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2584848161"/>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Ensure rooftop cables are properly insulated and secure​</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2173444466"/>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Run earth loop test for compliance</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175533872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Clean all the panels</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4136365978"/>
                  </a:ext>
                </a:extLst>
              </a:tr>
            </a:tbl>
          </a:graphicData>
        </a:graphic>
      </p:graphicFrame>
      <p:sp>
        <p:nvSpPr>
          <p:cNvPr id="5" name="Oval 4">
            <a:extLst>
              <a:ext uri="{FF2B5EF4-FFF2-40B4-BE49-F238E27FC236}">
                <a16:creationId xmlns:a16="http://schemas.microsoft.com/office/drawing/2014/main" id="{8617B3D2-38EF-FD26-C26B-3EBF09FE411C}"/>
              </a:ext>
            </a:extLst>
          </p:cNvPr>
          <p:cNvSpPr>
            <a:spLocks noChangeAspect="1"/>
          </p:cNvSpPr>
          <p:nvPr/>
        </p:nvSpPr>
        <p:spPr>
          <a:xfrm>
            <a:off x="3746403" y="2708202"/>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9" name="Oval 8">
            <a:extLst>
              <a:ext uri="{FF2B5EF4-FFF2-40B4-BE49-F238E27FC236}">
                <a16:creationId xmlns:a16="http://schemas.microsoft.com/office/drawing/2014/main" id="{E75A9F30-88A9-2324-C779-4743099E6AA8}"/>
              </a:ext>
            </a:extLst>
          </p:cNvPr>
          <p:cNvSpPr>
            <a:spLocks noChangeAspect="1"/>
          </p:cNvSpPr>
          <p:nvPr/>
        </p:nvSpPr>
        <p:spPr>
          <a:xfrm>
            <a:off x="3746403" y="3274676"/>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0" name="Oval 9">
            <a:extLst>
              <a:ext uri="{FF2B5EF4-FFF2-40B4-BE49-F238E27FC236}">
                <a16:creationId xmlns:a16="http://schemas.microsoft.com/office/drawing/2014/main" id="{2E0333AE-EAC5-5B4D-09D0-2C19EA11AFB1}"/>
              </a:ext>
            </a:extLst>
          </p:cNvPr>
          <p:cNvSpPr>
            <a:spLocks noChangeAspect="1"/>
          </p:cNvSpPr>
          <p:nvPr/>
        </p:nvSpPr>
        <p:spPr>
          <a:xfrm>
            <a:off x="3746403" y="384131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1" name="Oval 10">
            <a:extLst>
              <a:ext uri="{FF2B5EF4-FFF2-40B4-BE49-F238E27FC236}">
                <a16:creationId xmlns:a16="http://schemas.microsoft.com/office/drawing/2014/main" id="{6F21CE04-55BC-7C43-C45B-68000A1D539D}"/>
              </a:ext>
            </a:extLst>
          </p:cNvPr>
          <p:cNvSpPr>
            <a:spLocks noChangeAspect="1"/>
          </p:cNvSpPr>
          <p:nvPr/>
        </p:nvSpPr>
        <p:spPr>
          <a:xfrm>
            <a:off x="3746403" y="4434297"/>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2" name="Oval 11">
            <a:extLst>
              <a:ext uri="{FF2B5EF4-FFF2-40B4-BE49-F238E27FC236}">
                <a16:creationId xmlns:a16="http://schemas.microsoft.com/office/drawing/2014/main" id="{53EB82A0-8C3E-6259-7E71-25FC0BAA0840}"/>
              </a:ext>
            </a:extLst>
          </p:cNvPr>
          <p:cNvSpPr>
            <a:spLocks noChangeAspect="1"/>
          </p:cNvSpPr>
          <p:nvPr/>
        </p:nvSpPr>
        <p:spPr>
          <a:xfrm>
            <a:off x="3746403" y="499724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3" name="Oval 12">
            <a:extLst>
              <a:ext uri="{FF2B5EF4-FFF2-40B4-BE49-F238E27FC236}">
                <a16:creationId xmlns:a16="http://schemas.microsoft.com/office/drawing/2014/main" id="{E2913C03-50D8-2996-25DF-2F83AB703F34}"/>
              </a:ext>
            </a:extLst>
          </p:cNvPr>
          <p:cNvSpPr>
            <a:spLocks noChangeAspect="1"/>
          </p:cNvSpPr>
          <p:nvPr/>
        </p:nvSpPr>
        <p:spPr>
          <a:xfrm>
            <a:off x="3746403" y="5574940"/>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4" name="Oval 13">
            <a:extLst>
              <a:ext uri="{FF2B5EF4-FFF2-40B4-BE49-F238E27FC236}">
                <a16:creationId xmlns:a16="http://schemas.microsoft.com/office/drawing/2014/main" id="{7081879C-C2FB-5ADB-9904-DB0767BED395}"/>
              </a:ext>
            </a:extLst>
          </p:cNvPr>
          <p:cNvSpPr>
            <a:spLocks noChangeAspect="1"/>
          </p:cNvSpPr>
          <p:nvPr/>
        </p:nvSpPr>
        <p:spPr>
          <a:xfrm>
            <a:off x="6111835" y="2708202"/>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5" name="Oval 14">
            <a:extLst>
              <a:ext uri="{FF2B5EF4-FFF2-40B4-BE49-F238E27FC236}">
                <a16:creationId xmlns:a16="http://schemas.microsoft.com/office/drawing/2014/main" id="{07554083-56D7-1740-37DC-D50410B4B425}"/>
              </a:ext>
            </a:extLst>
          </p:cNvPr>
          <p:cNvSpPr>
            <a:spLocks noChangeAspect="1"/>
          </p:cNvSpPr>
          <p:nvPr/>
        </p:nvSpPr>
        <p:spPr>
          <a:xfrm>
            <a:off x="6111835" y="3274676"/>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6" name="Oval 15">
            <a:extLst>
              <a:ext uri="{FF2B5EF4-FFF2-40B4-BE49-F238E27FC236}">
                <a16:creationId xmlns:a16="http://schemas.microsoft.com/office/drawing/2014/main" id="{74372488-860F-147B-D5E4-CA82FA6577CB}"/>
              </a:ext>
            </a:extLst>
          </p:cNvPr>
          <p:cNvSpPr>
            <a:spLocks noChangeAspect="1"/>
          </p:cNvSpPr>
          <p:nvPr/>
        </p:nvSpPr>
        <p:spPr>
          <a:xfrm>
            <a:off x="6111835" y="384131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7" name="Oval 16">
            <a:extLst>
              <a:ext uri="{FF2B5EF4-FFF2-40B4-BE49-F238E27FC236}">
                <a16:creationId xmlns:a16="http://schemas.microsoft.com/office/drawing/2014/main" id="{92C21E7C-5B8D-8B3F-15C4-E3C0542FBD7F}"/>
              </a:ext>
            </a:extLst>
          </p:cNvPr>
          <p:cNvSpPr>
            <a:spLocks noChangeAspect="1"/>
          </p:cNvSpPr>
          <p:nvPr/>
        </p:nvSpPr>
        <p:spPr>
          <a:xfrm>
            <a:off x="6111835" y="4434297"/>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8" name="Oval 17">
            <a:extLst>
              <a:ext uri="{FF2B5EF4-FFF2-40B4-BE49-F238E27FC236}">
                <a16:creationId xmlns:a16="http://schemas.microsoft.com/office/drawing/2014/main" id="{33FA7A32-9E7A-274A-D816-879B09D3C9BB}"/>
              </a:ext>
            </a:extLst>
          </p:cNvPr>
          <p:cNvSpPr>
            <a:spLocks noChangeAspect="1"/>
          </p:cNvSpPr>
          <p:nvPr/>
        </p:nvSpPr>
        <p:spPr>
          <a:xfrm>
            <a:off x="6111835" y="499724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9" name="Oval 18">
            <a:extLst>
              <a:ext uri="{FF2B5EF4-FFF2-40B4-BE49-F238E27FC236}">
                <a16:creationId xmlns:a16="http://schemas.microsoft.com/office/drawing/2014/main" id="{0B2D2A5C-6085-642B-BF1B-B5669697A82A}"/>
              </a:ext>
            </a:extLst>
          </p:cNvPr>
          <p:cNvSpPr>
            <a:spLocks noChangeAspect="1"/>
          </p:cNvSpPr>
          <p:nvPr/>
        </p:nvSpPr>
        <p:spPr>
          <a:xfrm>
            <a:off x="6111835" y="5574940"/>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1" name="Oval 20">
            <a:extLst>
              <a:ext uri="{FF2B5EF4-FFF2-40B4-BE49-F238E27FC236}">
                <a16:creationId xmlns:a16="http://schemas.microsoft.com/office/drawing/2014/main" id="{50154B54-C450-6F1C-9D5F-31CF84AE3D7D}"/>
              </a:ext>
            </a:extLst>
          </p:cNvPr>
          <p:cNvSpPr>
            <a:spLocks noChangeAspect="1"/>
          </p:cNvSpPr>
          <p:nvPr/>
        </p:nvSpPr>
        <p:spPr>
          <a:xfrm>
            <a:off x="6111835" y="6150928"/>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2" name="Oval 21">
            <a:extLst>
              <a:ext uri="{FF2B5EF4-FFF2-40B4-BE49-F238E27FC236}">
                <a16:creationId xmlns:a16="http://schemas.microsoft.com/office/drawing/2014/main" id="{7943663C-100D-E0F5-E1CA-58F57D23943E}"/>
              </a:ext>
            </a:extLst>
          </p:cNvPr>
          <p:cNvSpPr>
            <a:spLocks noChangeAspect="1"/>
          </p:cNvSpPr>
          <p:nvPr/>
        </p:nvSpPr>
        <p:spPr>
          <a:xfrm>
            <a:off x="6111835" y="6735874"/>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3" name="Oval 22">
            <a:extLst>
              <a:ext uri="{FF2B5EF4-FFF2-40B4-BE49-F238E27FC236}">
                <a16:creationId xmlns:a16="http://schemas.microsoft.com/office/drawing/2014/main" id="{2EAAE7BD-362A-8997-3329-9FF68C43980B}"/>
              </a:ext>
            </a:extLst>
          </p:cNvPr>
          <p:cNvSpPr>
            <a:spLocks noChangeAspect="1"/>
          </p:cNvSpPr>
          <p:nvPr/>
        </p:nvSpPr>
        <p:spPr>
          <a:xfrm>
            <a:off x="6111835" y="7302513"/>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4" name="Oval 23">
            <a:extLst>
              <a:ext uri="{FF2B5EF4-FFF2-40B4-BE49-F238E27FC236}">
                <a16:creationId xmlns:a16="http://schemas.microsoft.com/office/drawing/2014/main" id="{5FB5A27A-F0FF-6572-48E2-7E41D9C09F7B}"/>
              </a:ext>
            </a:extLst>
          </p:cNvPr>
          <p:cNvSpPr>
            <a:spLocks noChangeAspect="1"/>
          </p:cNvSpPr>
          <p:nvPr/>
        </p:nvSpPr>
        <p:spPr>
          <a:xfrm>
            <a:off x="6111835" y="7877023"/>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5" name="Oval 24">
            <a:extLst>
              <a:ext uri="{FF2B5EF4-FFF2-40B4-BE49-F238E27FC236}">
                <a16:creationId xmlns:a16="http://schemas.microsoft.com/office/drawing/2014/main" id="{2B76ADBB-2F56-6DCF-610A-EE3CFF898B47}"/>
              </a:ext>
            </a:extLst>
          </p:cNvPr>
          <p:cNvSpPr>
            <a:spLocks noChangeAspect="1"/>
          </p:cNvSpPr>
          <p:nvPr/>
        </p:nvSpPr>
        <p:spPr>
          <a:xfrm>
            <a:off x="6111835" y="8467679"/>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6" name="Oval 25">
            <a:extLst>
              <a:ext uri="{FF2B5EF4-FFF2-40B4-BE49-F238E27FC236}">
                <a16:creationId xmlns:a16="http://schemas.microsoft.com/office/drawing/2014/main" id="{DBB69952-DB60-9BD7-4B31-B9F3DCDD0C04}"/>
              </a:ext>
            </a:extLst>
          </p:cNvPr>
          <p:cNvSpPr>
            <a:spLocks noChangeAspect="1"/>
          </p:cNvSpPr>
          <p:nvPr/>
        </p:nvSpPr>
        <p:spPr>
          <a:xfrm>
            <a:off x="6111835" y="9045374"/>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4" name="TextBox 3">
            <a:extLst>
              <a:ext uri="{FF2B5EF4-FFF2-40B4-BE49-F238E27FC236}">
                <a16:creationId xmlns:a16="http://schemas.microsoft.com/office/drawing/2014/main" id="{2B24A1B4-FCD2-340D-76AE-C0CA2D642019}"/>
              </a:ext>
            </a:extLst>
          </p:cNvPr>
          <p:cNvSpPr txBox="1"/>
          <p:nvPr/>
        </p:nvSpPr>
        <p:spPr>
          <a:xfrm>
            <a:off x="323837" y="405855"/>
            <a:ext cx="6912000" cy="1261884"/>
          </a:xfrm>
          <a:prstGeom prst="rect">
            <a:avLst/>
          </a:prstGeom>
          <a:noFill/>
        </p:spPr>
        <p:txBody>
          <a:bodyPr wrap="square" rtlCol="0">
            <a:spAutoFit/>
          </a:bodyPr>
          <a:lstStyle/>
          <a:p>
            <a:pPr lvl="0">
              <a:defRPr/>
            </a:pPr>
            <a:r>
              <a:rPr lang="en-US" sz="3200" b="1" dirty="0">
                <a:solidFill>
                  <a:srgbClr val="F454CD"/>
                </a:solidFill>
                <a:latin typeface="Work Sans" pitchFamily="2" charset="77"/>
              </a:rPr>
              <a:t>Ongoing Care, Even After Warranties End</a:t>
            </a:r>
            <a:endParaRPr lang="en-US" sz="700" dirty="0">
              <a:latin typeface="Work Sans" pitchFamily="2" charset="77"/>
            </a:endParaRPr>
          </a:p>
          <a:p>
            <a:pPr>
              <a:defRPr/>
            </a:pPr>
            <a:r>
              <a:rPr lang="en-MY" sz="1200" dirty="0">
                <a:latin typeface="Work Sans" pitchFamily="2" charset="77"/>
              </a:rPr>
              <a:t>Optional health checks to keep your solar system safe and efficient.</a:t>
            </a:r>
          </a:p>
        </p:txBody>
      </p:sp>
    </p:spTree>
    <p:extLst>
      <p:ext uri="{BB962C8B-B14F-4D97-AF65-F5344CB8AC3E}">
        <p14:creationId xmlns:p14="http://schemas.microsoft.com/office/powerpoint/2010/main" val="17108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F883-B283-BBED-36AB-544042C3ABDD}"/>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B14A1238-437C-8444-E22A-484B72846133}"/>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B271F2F3-EF70-EAF4-3E57-D8A1ACBE69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2414F813-8902-2527-9087-D513E9F97D1D}"/>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aphicFrame>
        <p:nvGraphicFramePr>
          <p:cNvPr id="3" name="Google Shape;179;p3">
            <a:extLst>
              <a:ext uri="{FF2B5EF4-FFF2-40B4-BE49-F238E27FC236}">
                <a16:creationId xmlns:a16="http://schemas.microsoft.com/office/drawing/2014/main" id="{ECDE5A67-D764-49B7-BFDB-EFEA97B957D5}"/>
              </a:ext>
            </a:extLst>
          </p:cNvPr>
          <p:cNvGraphicFramePr/>
          <p:nvPr>
            <p:extLst>
              <p:ext uri="{D42A27DB-BD31-4B8C-83A1-F6EECF244321}">
                <p14:modId xmlns:p14="http://schemas.microsoft.com/office/powerpoint/2010/main" val="2605506471"/>
              </p:ext>
            </p:extLst>
          </p:nvPr>
        </p:nvGraphicFramePr>
        <p:xfrm>
          <a:off x="323837" y="1289199"/>
          <a:ext cx="6912001" cy="8956142"/>
        </p:xfrm>
        <a:graphic>
          <a:graphicData uri="http://schemas.openxmlformats.org/drawingml/2006/table">
            <a:tbl>
              <a:tblPr firstRow="1" bandRow="1">
                <a:noFill/>
              </a:tblPr>
              <a:tblGrid>
                <a:gridCol w="2272896">
                  <a:extLst>
                    <a:ext uri="{9D8B030D-6E8A-4147-A177-3AD203B41FA5}">
                      <a16:colId xmlns:a16="http://schemas.microsoft.com/office/drawing/2014/main" val="20000"/>
                    </a:ext>
                  </a:extLst>
                </a:gridCol>
                <a:gridCol w="2272896">
                  <a:extLst>
                    <a:ext uri="{9D8B030D-6E8A-4147-A177-3AD203B41FA5}">
                      <a16:colId xmlns:a16="http://schemas.microsoft.com/office/drawing/2014/main" val="3571867225"/>
                    </a:ext>
                  </a:extLst>
                </a:gridCol>
                <a:gridCol w="2366209">
                  <a:extLst>
                    <a:ext uri="{9D8B030D-6E8A-4147-A177-3AD203B41FA5}">
                      <a16:colId xmlns:a16="http://schemas.microsoft.com/office/drawing/2014/main" val="2993904043"/>
                    </a:ext>
                  </a:extLst>
                </a:gridCol>
              </a:tblGrid>
              <a:tr h="54000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200" b="0" i="0" dirty="0">
                          <a:solidFill>
                            <a:schemeClr val="tx1"/>
                          </a:solidFill>
                          <a:latin typeface="Work Sans Medium" pitchFamily="2" charset="77"/>
                        </a:rPr>
                        <a:t>Prices valid until 15 June 2026, subject to change. Final pricing will be confirmed upon request.</a:t>
                      </a:r>
                      <a:endParaRPr lang="en-US" sz="1200" b="0" i="0" dirty="0">
                        <a:solidFill>
                          <a:schemeClr val="tx1"/>
                        </a:solidFill>
                        <a:latin typeface="Work Sans Medium"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454CD">
                        <a:alpha val="9804"/>
                      </a:srgb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2489625"/>
                  </a:ext>
                </a:extLst>
              </a:tr>
              <a:tr h="547200">
                <a:tc gridSpan="3">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454CD"/>
                          </a:solidFill>
                          <a:effectLst/>
                          <a:uLnTx/>
                          <a:uFillTx/>
                          <a:latin typeface="Work Sans" pitchFamily="2" charset="77"/>
                          <a:ea typeface="+mn-ea"/>
                          <a:cs typeface="+mn-cs"/>
                        </a:rPr>
                        <a:t>Smart Energy Storage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 b="1" i="0" u="none" strike="noStrike" kern="1200" cap="none" spc="0" normalizeH="0" baseline="0" noProof="0" dirty="0">
                        <a:ln>
                          <a:noFill/>
                        </a:ln>
                        <a:solidFill>
                          <a:srgbClr val="F454CD"/>
                        </a:solidFill>
                        <a:effectLst/>
                        <a:uLnTx/>
                        <a:uFillTx/>
                        <a:latin typeface="Work Sans" pitchFamily="2" charset="77"/>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Work Sans" pitchFamily="2" charset="77"/>
                          <a:ea typeface="+mn-ea"/>
                          <a:cs typeface="Calibri"/>
                          <a:sym typeface="Arial"/>
                        </a:rPr>
                        <a:t>Huawei LUNA2000 [</a:t>
                      </a:r>
                      <a:r>
                        <a:rPr kumimoji="0" lang="en-US" sz="1000" b="0" i="0" u="none" strike="noStrike" kern="1200" cap="none" spc="0" normalizeH="0" baseline="0" noProof="0" dirty="0">
                          <a:ln>
                            <a:noFill/>
                          </a:ln>
                          <a:solidFill>
                            <a:srgbClr val="0000FF"/>
                          </a:solidFill>
                          <a:effectLst/>
                          <a:uLnTx/>
                          <a:uFillTx/>
                          <a:latin typeface="Work Sans" pitchFamily="2" charset="77"/>
                          <a:ea typeface="+mn-ea"/>
                          <a:cs typeface="Calibri"/>
                          <a:sym typeface="Arial"/>
                          <a:hlinkClick r:id="rId3">
                            <a:extLst>
                              <a:ext uri="{A12FA001-AC4F-418D-AE19-62706E023703}">
                                <ahyp:hlinkClr xmlns:ahyp="http://schemas.microsoft.com/office/drawing/2018/hyperlinkcolor" val="tx"/>
                              </a:ext>
                            </a:extLst>
                          </a:hlinkClick>
                        </a:rPr>
                        <a:t>Product Specs</a:t>
                      </a:r>
                      <a:r>
                        <a:rPr kumimoji="0" lang="en-US" sz="1000" b="0" i="0" u="none" strike="noStrike" kern="1200" cap="none" spc="0" normalizeH="0" baseline="0" noProof="0" dirty="0">
                          <a:ln>
                            <a:noFill/>
                          </a:ln>
                          <a:solidFill>
                            <a:prstClr val="black"/>
                          </a:solidFill>
                          <a:effectLst/>
                          <a:uLnTx/>
                          <a:uFillTx/>
                          <a:latin typeface="Work Sans" pitchFamily="2" charset="77"/>
                          <a:ea typeface="+mn-ea"/>
                          <a:cs typeface="Calibri"/>
                          <a:sym typeface="Arial"/>
                        </a:rPr>
                        <a:t>]</a:t>
                      </a: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24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Option</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What’s Included</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Price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7kWh</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1x battery module + BESS controller</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RM13,735</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397669446"/>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14kWh</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2x battery modules + BESS controller</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RM23,315</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58619888"/>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21kWh</a:t>
                      </a:r>
                      <a:endParaRPr sz="8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3x battery modules + BESS controller</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RM32,895</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625853490"/>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Installation</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Setting up of battery module(s)</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RM750</a:t>
                      </a:r>
                    </a:p>
                    <a:p>
                      <a:pPr marL="0" lvl="0" indent="0" algn="l">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a:t>
                      </a:r>
                      <a:r>
                        <a:rPr lang="en-MY" sz="800" b="0" i="0" dirty="0">
                          <a:latin typeface="Work Sans" pitchFamily="2" charset="77"/>
                        </a:rPr>
                        <a:t>waived if installed within 12 months of your system)</a:t>
                      </a:r>
                      <a:endParaRPr sz="8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2976761174"/>
                  </a:ext>
                </a:extLst>
              </a:tr>
              <a:tr h="396000">
                <a:tc gridSpan="3">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000" b="0" i="0" dirty="0">
                          <a:solidFill>
                            <a:schemeClr val="tx1">
                              <a:lumMod val="65000"/>
                              <a:lumOff val="35000"/>
                            </a:schemeClr>
                          </a:solidFill>
                          <a:latin typeface="Work Sans" pitchFamily="2" charset="77"/>
                          <a:ea typeface="Work Sans Light"/>
                          <a:cs typeface="Work Sans Light"/>
                          <a:sym typeface="Work Sans Light"/>
                        </a:rPr>
                        <a:t>Higher capacity provides more stored Solar Electricity and supports greater nighttime usage. Actual savings depend on household usage patterns.</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chemeClr val="bg1"/>
                    </a:solidFill>
                  </a:tcPr>
                </a:tc>
                <a:tc hMerge="1">
                  <a:txBody>
                    <a:bodyPr/>
                    <a:lstStyle/>
                    <a:p>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endParaRPr dirty="0"/>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3360665071"/>
                  </a:ext>
                </a:extLst>
              </a:tr>
              <a:tr h="324000">
                <a:tc gridSpan="3">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rgbClr val="F454CD"/>
                          </a:solidFill>
                          <a:effectLst/>
                          <a:uLnTx/>
                          <a:uFillTx/>
                          <a:latin typeface="Work Sans" pitchFamily="2" charset="77"/>
                          <a:ea typeface="+mn-ea"/>
                          <a:cs typeface="Calibri"/>
                        </a:rPr>
                        <a:t>Optional Battery Add-On</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Calibri"/>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rgbClr val="EBE9E8"/>
                      </a:solid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extLst>
                  <a:ext uri="{0D108BD9-81ED-4DB2-BD59-A6C34878D82A}">
                    <a16:rowId xmlns:a16="http://schemas.microsoft.com/office/drawing/2014/main" val="339164424"/>
                  </a:ext>
                </a:extLst>
              </a:tr>
              <a:tr h="324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Add-On</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a:txBody>
                    <a:body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What’s Included</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Price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556984188"/>
                  </a:ext>
                </a:extLst>
              </a:tr>
              <a:tr h="6408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algn="l">
                        <a:buNone/>
                      </a:pPr>
                      <a:r>
                        <a:rPr lang="en-MY" sz="1200" b="0" i="0" dirty="0">
                          <a:latin typeface="Work Sans" pitchFamily="2" charset="77"/>
                        </a:rPr>
                        <a:t>Backup Power Box</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Interface to power essential appliances during blackouts</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RM2,265 (1‑phase)</a:t>
                      </a:r>
                    </a:p>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RM3,265 (3‑phase)</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86674133"/>
                  </a:ext>
                </a:extLst>
              </a:tr>
              <a:tr h="547200">
                <a:tc gridSpan="3">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800" b="1" i="0" u="none" strike="noStrike" kern="1200" cap="none" spc="0" normalizeH="0" baseline="0" noProof="0" dirty="0">
                          <a:ln>
                            <a:noFill/>
                          </a:ln>
                          <a:solidFill>
                            <a:srgbClr val="F454CD"/>
                          </a:solidFill>
                          <a:effectLst/>
                          <a:uLnTx/>
                          <a:uFillTx/>
                          <a:latin typeface="Work Sans" pitchFamily="2" charset="77"/>
                          <a:ea typeface="+mn-ea"/>
                          <a:cs typeface="+mn-cs"/>
                          <a:sym typeface="Work Sans Light"/>
                        </a:rPr>
                        <a:t>Emit Digital Energy Hub</a:t>
                      </a:r>
                    </a:p>
                    <a:p>
                      <a:pPr marL="0" marR="0" lvl="0" indent="0" algn="l" defTabSz="755934" rtl="0" eaLnBrk="1" fontAlgn="auto" latinLnBrk="0" hangingPunct="1">
                        <a:lnSpc>
                          <a:spcPct val="100000"/>
                        </a:lnSpc>
                        <a:spcBef>
                          <a:spcPts val="0"/>
                        </a:spcBef>
                        <a:spcAft>
                          <a:spcPts val="0"/>
                        </a:spcAft>
                        <a:buClrTx/>
                        <a:buSzTx/>
                        <a:buFontTx/>
                        <a:buNone/>
                        <a:tabLst/>
                        <a:defRPr/>
                      </a:pPr>
                      <a:endParaRPr kumimoji="0" lang="en-MY" sz="200" b="1" i="0" u="none" strike="noStrike" kern="1200" cap="none" spc="0" normalizeH="0" baseline="0" noProof="0" dirty="0">
                        <a:ln>
                          <a:noFill/>
                        </a:ln>
                        <a:solidFill>
                          <a:srgbClr val="F454CD"/>
                        </a:solidFill>
                        <a:effectLst/>
                        <a:uLnTx/>
                        <a:uFillTx/>
                        <a:latin typeface="Work Sans" pitchFamily="2" charset="77"/>
                        <a:ea typeface="+mn-ea"/>
                        <a:cs typeface="+mn-cs"/>
                        <a:sym typeface="Work Sans Light"/>
                      </a:endParaRPr>
                    </a:p>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Work Sans" pitchFamily="2" charset="77"/>
                          <a:ea typeface="+mn-ea"/>
                          <a:cs typeface="Calibri"/>
                          <a:sym typeface="Arial"/>
                        </a:rPr>
                        <a:t>Engineered by Emit Solar</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chemeClr val="bg1"/>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1187044892"/>
                  </a:ext>
                </a:extLst>
              </a:tr>
              <a:tr h="360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Light"/>
                          <a:cs typeface="Work Sans Light"/>
                          <a:sym typeface="Work Sans Light"/>
                        </a:rPr>
                        <a:t>Option</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tc>
                  <a:txBody>
                    <a:bodyPr/>
                    <a:lstStyle/>
                    <a:p>
                      <a:pPr marL="0" lvl="0" indent="0" algn="l">
                        <a:spcBef>
                          <a:spcPts val="0"/>
                        </a:spcBef>
                        <a:spcAft>
                          <a:spcPts val="0"/>
                        </a:spcAft>
                        <a:buNone/>
                      </a:pPr>
                      <a:r>
                        <a:rPr lang="en-US" sz="1200" b="1" i="0" dirty="0">
                          <a:solidFill>
                            <a:schemeClr val="tx1"/>
                          </a:solidFill>
                          <a:latin typeface="Work Sans" pitchFamily="2" charset="77"/>
                          <a:ea typeface="Work Sans Light"/>
                          <a:cs typeface="Work Sans Light"/>
                          <a:sym typeface="Work Sans Light"/>
                        </a:rPr>
                        <a:t>What’s Included</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tc>
                  <a:txBody>
                    <a:bodyPr/>
                    <a:lstStyle/>
                    <a:p>
                      <a:pPr marL="0" lvl="0" indent="0" algn="l">
                        <a:spcBef>
                          <a:spcPts val="0"/>
                        </a:spcBef>
                        <a:spcAft>
                          <a:spcPts val="0"/>
                        </a:spcAft>
                        <a:buNone/>
                      </a:pPr>
                      <a:r>
                        <a:rPr lang="en-US" sz="1200" b="1" i="0" dirty="0">
                          <a:solidFill>
                            <a:schemeClr val="tx1"/>
                          </a:solidFill>
                          <a:latin typeface="Work Sans" pitchFamily="2" charset="77"/>
                          <a:ea typeface="Work Sans Light"/>
                          <a:cs typeface="Work Sans Light"/>
                          <a:sym typeface="Work Sans Light"/>
                        </a:rPr>
                        <a:t>Price</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extLst>
                  <a:ext uri="{0D108BD9-81ED-4DB2-BD59-A6C34878D82A}">
                    <a16:rowId xmlns:a16="http://schemas.microsoft.com/office/drawing/2014/main" val="3699303097"/>
                  </a:ext>
                </a:extLst>
              </a:tr>
              <a:tr h="648000">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EV-Ready DB</a:t>
                      </a:r>
                      <a:r>
                        <a:rPr lang="en-MY" sz="1200" b="0" i="0" kern="100" baseline="30000" dirty="0">
                          <a:effectLst/>
                          <a:latin typeface="Work Sans" pitchFamily="2" charset="77"/>
                          <a:ea typeface="Calibri" panose="020F0502020204030204" pitchFamily="34" charset="0"/>
                          <a:cs typeface="Times New Roman" panose="02020603050405020304" pitchFamily="18" charset="0"/>
                        </a:rPr>
                        <a:t>1</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Energy Hub + EV charging safety components and isolator</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r>
                        <a:rPr lang="en-US" sz="1200" b="0" i="0" dirty="0">
                          <a:latin typeface="Work Sans" pitchFamily="2" charset="77"/>
                        </a:rPr>
                        <a:t>RM2,000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588613479"/>
                  </a:ext>
                </a:extLst>
              </a:tr>
              <a:tr h="324000">
                <a:tc gridSpan="3">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rgbClr val="F454CD"/>
                          </a:solidFill>
                          <a:effectLst/>
                          <a:uLnTx/>
                          <a:uFillTx/>
                          <a:latin typeface="Work Sans" pitchFamily="2" charset="77"/>
                          <a:ea typeface="+mn-ea"/>
                          <a:cs typeface="Calibri"/>
                        </a:rPr>
                        <a:t>Optional EV Charging Add-Ons</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Calibri"/>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hMerge="1">
                  <a:txBody>
                    <a:bodyPr/>
                    <a:lstStyle/>
                    <a:p>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endParaRPr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2156419199"/>
                  </a:ext>
                </a:extLst>
              </a:tr>
              <a:tr h="36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Add-On</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What’s Included</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Price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120712016"/>
                  </a:ext>
                </a:extLst>
              </a:tr>
              <a:tr h="648000">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EV Charger Expansion</a:t>
                      </a:r>
                      <a:r>
                        <a:rPr lang="en-MY" sz="1200" b="0" i="0" kern="100" baseline="30000" dirty="0">
                          <a:effectLst/>
                          <a:latin typeface="Work Sans" pitchFamily="2" charset="77"/>
                          <a:ea typeface="Calibri" panose="020F0502020204030204" pitchFamily="34" charset="0"/>
                          <a:cs typeface="Times New Roman" panose="02020603050405020304" pitchFamily="18" charset="0"/>
                        </a:rPr>
                        <a:t>2</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200" b="0" i="0" kern="100" dirty="0">
                          <a:effectLst/>
                          <a:latin typeface="Work Sans" pitchFamily="2" charset="77"/>
                          <a:ea typeface="Calibri" panose="020F0502020204030204" pitchFamily="34" charset="0"/>
                          <a:cs typeface="Times New Roman" panose="02020603050405020304" pitchFamily="18" charset="0"/>
                        </a:rPr>
                        <a:t>Cables and connections from the isolator to your own EV charger</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r>
                        <a:rPr lang="en-US" sz="1200" b="0" i="0" dirty="0">
                          <a:latin typeface="Work Sans" pitchFamily="2" charset="77"/>
                        </a:rPr>
                        <a:t>RM600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311224570"/>
                  </a:ext>
                </a:extLst>
              </a:tr>
              <a:tr h="648000">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Complete EV Expansion</a:t>
                      </a:r>
                      <a:r>
                        <a:rPr lang="en-MY" sz="1200" b="0" i="0" kern="100" baseline="30000" dirty="0">
                          <a:effectLst/>
                          <a:latin typeface="Work Sans" pitchFamily="2" charset="77"/>
                          <a:ea typeface="Calibri" panose="020F0502020204030204" pitchFamily="34" charset="0"/>
                          <a:cs typeface="Times New Roman" panose="02020603050405020304" pitchFamily="18" charset="0"/>
                        </a:rPr>
                        <a:t>2</a:t>
                      </a:r>
                      <a:endParaRPr lang="en-MY" sz="1200" b="0" i="0" kern="100" dirty="0">
                        <a:effectLst/>
                        <a:latin typeface="Work Sans" pitchFamily="2" charset="77"/>
                        <a:ea typeface="Calibri" panose="020F0502020204030204" pitchFamily="34" charset="0"/>
                        <a:cs typeface="Times New Roman" panose="02020603050405020304" pitchFamily="18" charset="0"/>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200" b="0" i="0" kern="100" dirty="0">
                          <a:effectLst/>
                          <a:latin typeface="Work Sans" pitchFamily="2" charset="77"/>
                          <a:ea typeface="Calibri" panose="020F0502020204030204" pitchFamily="34" charset="0"/>
                          <a:cs typeface="Times New Roman" panose="02020603050405020304" pitchFamily="18" charset="0"/>
                        </a:rPr>
                        <a:t>Full setup, including the supply and install of a Huawei EV charger</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r>
                        <a:rPr lang="en-US" sz="1200" b="0" i="0" dirty="0">
                          <a:latin typeface="Work Sans" pitchFamily="2" charset="77"/>
                        </a:rPr>
                        <a:t>RM3,500 (1-phase)</a:t>
                      </a:r>
                    </a:p>
                    <a:p>
                      <a:r>
                        <a:rPr lang="en-US" sz="1200" b="0" i="0" dirty="0">
                          <a:latin typeface="Work Sans" pitchFamily="2" charset="77"/>
                        </a:rPr>
                        <a:t>RM3,900 (3-phase)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2473736335"/>
                  </a:ext>
                </a:extLst>
              </a:tr>
              <a:tr h="432000">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000" b="0" i="0" u="none" strike="noStrike" kern="0" cap="none" spc="0" normalizeH="0" baseline="30000" noProof="0" dirty="0">
                          <a:ln>
                            <a:noFill/>
                          </a:ln>
                          <a:solidFill>
                            <a:schemeClr val="tx1">
                              <a:lumMod val="65000"/>
                              <a:lumOff val="35000"/>
                            </a:schemeClr>
                          </a:solidFill>
                          <a:effectLst/>
                          <a:uLnTx/>
                          <a:uFillTx/>
                          <a:latin typeface="Work Sans" pitchFamily="2" charset="77"/>
                          <a:ea typeface="+mn-ea"/>
                          <a:cs typeface="Arial"/>
                          <a:sym typeface="Arial"/>
                        </a:rPr>
                        <a:t>1</a:t>
                      </a:r>
                      <a:r>
                        <a:rPr kumimoji="0" lang="en-MY" sz="1000" b="0" i="0" u="none" strike="noStrike" kern="0" cap="none" spc="0" normalizeH="0" baseline="0" noProof="0" dirty="0">
                          <a:ln>
                            <a:noFill/>
                          </a:ln>
                          <a:solidFill>
                            <a:schemeClr val="tx1">
                              <a:lumMod val="65000"/>
                              <a:lumOff val="35000"/>
                            </a:schemeClr>
                          </a:solidFill>
                          <a:effectLst/>
                          <a:uLnTx/>
                          <a:uFillTx/>
                          <a:latin typeface="Work Sans" pitchFamily="2" charset="77"/>
                          <a:ea typeface="+mn-ea"/>
                          <a:cs typeface="Arial"/>
                          <a:sym typeface="Arial"/>
                        </a:rPr>
                        <a:t> Uses different wiring and must be confirmed in your order to be installed together with your system.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000" b="0" i="0" u="none" strike="noStrike" kern="0" cap="none" spc="0" normalizeH="0" baseline="30000" noProof="0" dirty="0">
                          <a:ln>
                            <a:noFill/>
                          </a:ln>
                          <a:solidFill>
                            <a:schemeClr val="tx1">
                              <a:lumMod val="65000"/>
                              <a:lumOff val="35000"/>
                            </a:schemeClr>
                          </a:solidFill>
                          <a:effectLst/>
                          <a:uLnTx/>
                          <a:uFillTx/>
                          <a:latin typeface="Work Sans" pitchFamily="2" charset="77"/>
                          <a:ea typeface="+mn-ea"/>
                          <a:cs typeface="Arial"/>
                          <a:sym typeface="Arial"/>
                        </a:rPr>
                        <a:t>2</a:t>
                      </a:r>
                      <a:r>
                        <a:rPr kumimoji="0" lang="en-MY" sz="1000" b="0" i="0" u="none" strike="noStrike" kern="0" cap="none" spc="0" normalizeH="0" baseline="0" noProof="0" dirty="0">
                          <a:ln>
                            <a:noFill/>
                          </a:ln>
                          <a:solidFill>
                            <a:schemeClr val="tx1">
                              <a:lumMod val="65000"/>
                              <a:lumOff val="35000"/>
                            </a:schemeClr>
                          </a:solidFill>
                          <a:effectLst/>
                          <a:uLnTx/>
                          <a:uFillTx/>
                          <a:latin typeface="Work Sans" pitchFamily="2" charset="77"/>
                          <a:ea typeface="+mn-ea"/>
                          <a:cs typeface="Arial"/>
                          <a:sym typeface="Arial"/>
                        </a:rPr>
                        <a:t> includes up to 5-metre wiring between Energy Hub and EV charger; additional length RM50/metre.</a:t>
                      </a:r>
                      <a:endParaRPr kumimoji="0" lang="en-US" sz="1000" b="0" i="0" u="none" strike="noStrike" kern="0" cap="none" spc="0" normalizeH="0" baseline="0" noProof="0" dirty="0">
                        <a:ln>
                          <a:noFill/>
                        </a:ln>
                        <a:solidFill>
                          <a:schemeClr val="tx1">
                            <a:lumMod val="65000"/>
                            <a:lumOff val="35000"/>
                          </a:schemeClr>
                        </a:solidFill>
                        <a:effectLst/>
                        <a:uLnTx/>
                        <a:uFillTx/>
                        <a:latin typeface="Work Sans" pitchFamily="2" charset="77"/>
                        <a:ea typeface="+mn-ea"/>
                        <a:cs typeface="Arial"/>
                        <a:sym typeface="Arial"/>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b="0" i="0" kern="100" dirty="0">
                        <a:effectLst/>
                        <a:latin typeface="Work Sans" pitchFamily="2" charset="77"/>
                        <a:ea typeface="Calibri" panose="020F0502020204030204" pitchFamily="34" charset="0"/>
                        <a:cs typeface="Times New Roman" panose="02020603050405020304" pitchFamily="18" charset="0"/>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endParaRPr lang="en-US" sz="1200" b="0" i="0" dirty="0">
                        <a:latin typeface="Work Sans" pitchFamily="2" charset="77"/>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4094049642"/>
                  </a:ext>
                </a:extLst>
              </a:tr>
            </a:tbl>
          </a:graphicData>
        </a:graphic>
      </p:graphicFrame>
      <p:sp>
        <p:nvSpPr>
          <p:cNvPr id="4" name="TextBox 3">
            <a:extLst>
              <a:ext uri="{FF2B5EF4-FFF2-40B4-BE49-F238E27FC236}">
                <a16:creationId xmlns:a16="http://schemas.microsoft.com/office/drawing/2014/main" id="{E87A5174-C3A4-43FD-5F9E-2AEA81B9A835}"/>
              </a:ext>
            </a:extLst>
          </p:cNvPr>
          <p:cNvSpPr txBox="1"/>
          <p:nvPr/>
        </p:nvSpPr>
        <p:spPr>
          <a:xfrm>
            <a:off x="323837" y="405855"/>
            <a:ext cx="691200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454CD"/>
                </a:solidFill>
                <a:effectLst/>
                <a:uLnTx/>
                <a:uFillTx/>
                <a:latin typeface="Work Sans" pitchFamily="2" charset="77"/>
                <a:ea typeface="+mn-ea"/>
                <a:cs typeface="+mn-cs"/>
              </a:rPr>
              <a:t>Future-Proof Add-Ons</a:t>
            </a:r>
            <a:endParaRPr kumimoji="0" lang="en-US" sz="700" b="0" i="0" u="none" strike="noStrike" kern="1200" cap="none" spc="0" normalizeH="0" baseline="0" noProof="0" dirty="0">
              <a:ln>
                <a:noFill/>
              </a:ln>
              <a:solidFill>
                <a:prstClr val="black"/>
              </a:solidFill>
              <a:effectLst/>
              <a:uLnTx/>
              <a:uFillTx/>
              <a:latin typeface="Work Sans" pitchFamily="2" charset="77"/>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1300" b="0"/>
            </a:pPr>
            <a:r>
              <a:rPr kumimoji="0" lang="en-MY" sz="1200" b="0" i="0" u="none" strike="noStrike" kern="1200" cap="none" spc="0" normalizeH="0" baseline="0" noProof="0" dirty="0">
                <a:ln>
                  <a:noFill/>
                </a:ln>
                <a:solidFill>
                  <a:prstClr val="black"/>
                </a:solidFill>
                <a:effectLst/>
                <a:uLnTx/>
                <a:uFillTx/>
                <a:latin typeface="Work Sans" pitchFamily="2" charset="77"/>
                <a:ea typeface="+mn-ea"/>
                <a:cs typeface="+mn-cs"/>
              </a:rPr>
              <a:t>Designed to grow with your energy needs, lifestyle and future upgrades.</a:t>
            </a:r>
          </a:p>
        </p:txBody>
      </p:sp>
      <p:sp>
        <p:nvSpPr>
          <p:cNvPr id="6" name="TextBox 5">
            <a:extLst>
              <a:ext uri="{FF2B5EF4-FFF2-40B4-BE49-F238E27FC236}">
                <a16:creationId xmlns:a16="http://schemas.microsoft.com/office/drawing/2014/main" id="{F44D49F7-F556-81DC-48D9-7A761BB235B2}"/>
              </a:ext>
            </a:extLst>
          </p:cNvPr>
          <p:cNvSpPr txBox="1"/>
          <p:nvPr/>
        </p:nvSpPr>
        <p:spPr>
          <a:xfrm>
            <a:off x="321806" y="10279082"/>
            <a:ext cx="691606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MY" sz="800" b="0" i="0" u="none" strike="noStrike" kern="0" cap="none" spc="0" normalizeH="0" baseline="0" noProof="0" dirty="0">
                <a:ln>
                  <a:noFill/>
                </a:ln>
                <a:solidFill>
                  <a:prstClr val="black">
                    <a:lumMod val="65000"/>
                    <a:lumOff val="35000"/>
                  </a:prstClr>
                </a:solidFill>
                <a:effectLst/>
                <a:uLnTx/>
                <a:uFillTx/>
                <a:latin typeface="Work Sans" pitchFamily="2" charset="77"/>
                <a:ea typeface="+mn-ea"/>
                <a:cs typeface="Arial"/>
                <a:sym typeface="Arial"/>
              </a:rPr>
              <a:t>Prices may be subject to SST where applicable.</a:t>
            </a:r>
            <a:endParaRPr kumimoji="0" lang="en-MY" sz="800" b="0" i="0" u="none" strike="noStrike" kern="0" cap="none" spc="0" normalizeH="0" baseline="0" noProof="0" dirty="0">
              <a:ln>
                <a:noFill/>
              </a:ln>
              <a:solidFill>
                <a:prstClr val="black">
                  <a:lumMod val="65000"/>
                  <a:lumOff val="35000"/>
                </a:prstClr>
              </a:solidFill>
              <a:effectLst/>
              <a:uLnTx/>
              <a:uFillTx/>
              <a:latin typeface="Work Sans" pitchFamily="2" charset="77"/>
              <a:ea typeface="Calibri"/>
              <a:cs typeface="Arial"/>
              <a:sym typeface="Arial"/>
            </a:endParaRPr>
          </a:p>
        </p:txBody>
      </p:sp>
    </p:spTree>
    <p:extLst>
      <p:ext uri="{BB962C8B-B14F-4D97-AF65-F5344CB8AC3E}">
        <p14:creationId xmlns:p14="http://schemas.microsoft.com/office/powerpoint/2010/main" val="3105944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0DC2-3796-D118-E1AD-F2BA6336D653}"/>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D0858CEB-1C46-5042-2599-09EC8F63E641}"/>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62B77245-D723-ADCC-4DED-1DE43695CE2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F87F3928-9BDD-1D0E-4FB6-4804D1CA8C32}"/>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pSp>
        <p:nvGrpSpPr>
          <p:cNvPr id="6" name="Group 5">
            <a:extLst>
              <a:ext uri="{FF2B5EF4-FFF2-40B4-BE49-F238E27FC236}">
                <a16:creationId xmlns:a16="http://schemas.microsoft.com/office/drawing/2014/main" id="{96B72214-1361-3C20-6020-6FAC949653FD}"/>
              </a:ext>
            </a:extLst>
          </p:cNvPr>
          <p:cNvGrpSpPr>
            <a:grpSpLocks noChangeAspect="1"/>
          </p:cNvGrpSpPr>
          <p:nvPr/>
        </p:nvGrpSpPr>
        <p:grpSpPr>
          <a:xfrm>
            <a:off x="703185" y="1613136"/>
            <a:ext cx="6152400" cy="8324949"/>
            <a:chOff x="585634" y="1293211"/>
            <a:chExt cx="6385233" cy="8640000"/>
          </a:xfrm>
        </p:grpSpPr>
        <p:pic>
          <p:nvPicPr>
            <p:cNvPr id="4" name="Picture 3">
              <a:extLst>
                <a:ext uri="{FF2B5EF4-FFF2-40B4-BE49-F238E27FC236}">
                  <a16:creationId xmlns:a16="http://schemas.microsoft.com/office/drawing/2014/main" id="{B8227825-674F-A55A-4161-7845BD080D3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5634" y="1293211"/>
              <a:ext cx="3008470" cy="3345518"/>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00EC133F-E8CA-79C0-F212-8155AFEEF11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47086" y="1293997"/>
              <a:ext cx="3023781" cy="3343945"/>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449E45E9-A4BA-F8E5-A508-372F03DCAAA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78" y="4939114"/>
              <a:ext cx="3007782" cy="2596522"/>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07A23D96-3E22-B77B-3935-251D9D5945B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55085" y="4939114"/>
              <a:ext cx="3007782" cy="209719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849A4454-035B-2449-63AC-5EEC2927D53A}"/>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5978" y="7836021"/>
              <a:ext cx="3007782" cy="209719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87B309BB-A394-4EC3-900F-0A426CCA95F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955085" y="7349173"/>
              <a:ext cx="3007782" cy="2584038"/>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2" name="TextBox 1">
            <a:extLst>
              <a:ext uri="{FF2B5EF4-FFF2-40B4-BE49-F238E27FC236}">
                <a16:creationId xmlns:a16="http://schemas.microsoft.com/office/drawing/2014/main" id="{6934B318-44B6-0166-BCB2-509B5428020B}"/>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Trusted by Homeowners</a:t>
            </a:r>
            <a:endParaRPr lang="en-US" sz="700" dirty="0">
              <a:latin typeface="Work Sans" pitchFamily="2" charset="77"/>
            </a:endParaRPr>
          </a:p>
          <a:p>
            <a:pPr lvl="0">
              <a:defRPr/>
            </a:pPr>
            <a:r>
              <a:rPr lang="en-MY" sz="1200" dirty="0">
                <a:latin typeface="Work Sans" pitchFamily="2" charset="77"/>
              </a:rPr>
              <a:t>Real customers, real experiences.</a:t>
            </a:r>
          </a:p>
        </p:txBody>
      </p:sp>
    </p:spTree>
    <p:extLst>
      <p:ext uri="{BB962C8B-B14F-4D97-AF65-F5344CB8AC3E}">
        <p14:creationId xmlns:p14="http://schemas.microsoft.com/office/powerpoint/2010/main" val="3916077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52EE3-AF3E-B313-A13E-B6369A2E71B6}"/>
            </a:ext>
          </a:extLst>
        </p:cNvPr>
        <p:cNvGrpSpPr/>
        <p:nvPr/>
      </p:nvGrpSpPr>
      <p:grpSpPr>
        <a:xfrm>
          <a:off x="0" y="0"/>
          <a:ext cx="0" cy="0"/>
          <a:chOff x="0" y="0"/>
          <a:chExt cx="0" cy="0"/>
        </a:xfrm>
      </p:grpSpPr>
      <p:sp>
        <p:nvSpPr>
          <p:cNvPr id="7" name="Google Shape;529;p14">
            <a:extLst>
              <a:ext uri="{FF2B5EF4-FFF2-40B4-BE49-F238E27FC236}">
                <a16:creationId xmlns:a16="http://schemas.microsoft.com/office/drawing/2014/main" id="{262000D8-9020-196F-8CD3-06F2BE533979}"/>
              </a:ext>
            </a:extLst>
          </p:cNvPr>
          <p:cNvSpPr/>
          <p:nvPr/>
        </p:nvSpPr>
        <p:spPr>
          <a:xfrm>
            <a:off x="323837" y="1920284"/>
            <a:ext cx="6912000" cy="1234120"/>
          </a:xfrm>
          <a:prstGeom prst="rect">
            <a:avLst/>
          </a:prstGeom>
          <a:no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dirty="0">
              <a:ln>
                <a:noFill/>
              </a:ln>
              <a:solidFill>
                <a:srgbClr val="000000"/>
              </a:solidFill>
              <a:effectLst/>
              <a:uLnTx/>
              <a:uFillTx/>
              <a:latin typeface="Work Sans" pitchFamily="2" charset="77"/>
              <a:ea typeface="Calibri"/>
              <a:cs typeface="Calibri"/>
              <a:sym typeface="Calibri"/>
            </a:endParaRPr>
          </a:p>
        </p:txBody>
      </p:sp>
      <p:sp>
        <p:nvSpPr>
          <p:cNvPr id="12" name="Google Shape;533;p14">
            <a:extLst>
              <a:ext uri="{FF2B5EF4-FFF2-40B4-BE49-F238E27FC236}">
                <a16:creationId xmlns:a16="http://schemas.microsoft.com/office/drawing/2014/main" id="{F15D5367-3E8B-869F-436A-6EA1043CCDC5}"/>
              </a:ext>
            </a:extLst>
          </p:cNvPr>
          <p:cNvSpPr/>
          <p:nvPr/>
        </p:nvSpPr>
        <p:spPr>
          <a:xfrm>
            <a:off x="323837" y="5117472"/>
            <a:ext cx="6912000" cy="1234120"/>
          </a:xfrm>
          <a:prstGeom prst="rect">
            <a:avLst/>
          </a:prstGeom>
          <a:solidFill>
            <a:schemeClr val="lt1">
              <a:alpha val="40000"/>
            </a:schemeClr>
          </a:solid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sp>
        <p:nvSpPr>
          <p:cNvPr id="16" name="Google Shape;535;p14">
            <a:extLst>
              <a:ext uri="{FF2B5EF4-FFF2-40B4-BE49-F238E27FC236}">
                <a16:creationId xmlns:a16="http://schemas.microsoft.com/office/drawing/2014/main" id="{C0E0F578-D0FF-03C3-46F5-CDFBF8C681C8}"/>
              </a:ext>
            </a:extLst>
          </p:cNvPr>
          <p:cNvSpPr/>
          <p:nvPr/>
        </p:nvSpPr>
        <p:spPr>
          <a:xfrm>
            <a:off x="323837" y="6594649"/>
            <a:ext cx="6912000" cy="1234120"/>
          </a:xfrm>
          <a:prstGeom prst="rect">
            <a:avLst/>
          </a:prstGeom>
          <a:solidFill>
            <a:schemeClr val="lt1">
              <a:alpha val="40000"/>
            </a:schemeClr>
          </a:solid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sp>
        <p:nvSpPr>
          <p:cNvPr id="20" name="Google Shape;537;p14">
            <a:extLst>
              <a:ext uri="{FF2B5EF4-FFF2-40B4-BE49-F238E27FC236}">
                <a16:creationId xmlns:a16="http://schemas.microsoft.com/office/drawing/2014/main" id="{4735BAA0-3210-7211-B79E-E866EE630BD9}"/>
              </a:ext>
            </a:extLst>
          </p:cNvPr>
          <p:cNvSpPr/>
          <p:nvPr/>
        </p:nvSpPr>
        <p:spPr>
          <a:xfrm>
            <a:off x="323837" y="8071824"/>
            <a:ext cx="6912000" cy="1234120"/>
          </a:xfrm>
          <a:prstGeom prst="rect">
            <a:avLst/>
          </a:prstGeom>
          <a:solidFill>
            <a:schemeClr val="lt1">
              <a:alpha val="40000"/>
            </a:schemeClr>
          </a:solid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grpSp>
        <p:nvGrpSpPr>
          <p:cNvPr id="72" name="Group 71">
            <a:extLst>
              <a:ext uri="{FF2B5EF4-FFF2-40B4-BE49-F238E27FC236}">
                <a16:creationId xmlns:a16="http://schemas.microsoft.com/office/drawing/2014/main" id="{E2F130A3-B3C1-0E6E-6094-ED7AE06A5246}"/>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DD969283-D878-BE01-E03D-471F51BE05B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3E7FFEC0-2F73-943B-9B03-A8C472B43298}"/>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35" name="TextBox 34">
            <a:extLst>
              <a:ext uri="{FF2B5EF4-FFF2-40B4-BE49-F238E27FC236}">
                <a16:creationId xmlns:a16="http://schemas.microsoft.com/office/drawing/2014/main" id="{3018F806-DC7B-5BE6-BDB9-ADCC6A0BC016}"/>
              </a:ext>
            </a:extLst>
          </p:cNvPr>
          <p:cNvSpPr txBox="1"/>
          <p:nvPr/>
        </p:nvSpPr>
        <p:spPr>
          <a:xfrm>
            <a:off x="5649739" y="3771900"/>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 name="Google Shape;538;p14">
            <a:extLst>
              <a:ext uri="{FF2B5EF4-FFF2-40B4-BE49-F238E27FC236}">
                <a16:creationId xmlns:a16="http://schemas.microsoft.com/office/drawing/2014/main" id="{0B2EABDE-DEF2-CCA8-E3E8-8AE69EAE6DBF}"/>
              </a:ext>
            </a:extLst>
          </p:cNvPr>
          <p:cNvGrpSpPr/>
          <p:nvPr/>
        </p:nvGrpSpPr>
        <p:grpSpPr>
          <a:xfrm>
            <a:off x="933218" y="1559381"/>
            <a:ext cx="123040" cy="8106009"/>
            <a:chOff x="0" y="0"/>
            <a:chExt cx="164078" cy="10809616"/>
          </a:xfrm>
        </p:grpSpPr>
        <p:sp>
          <p:nvSpPr>
            <p:cNvPr id="3" name="Google Shape;539;p14">
              <a:extLst>
                <a:ext uri="{FF2B5EF4-FFF2-40B4-BE49-F238E27FC236}">
                  <a16:creationId xmlns:a16="http://schemas.microsoft.com/office/drawing/2014/main" id="{EA9741EA-AC66-63CF-5DD9-6ADDA86A2106}"/>
                </a:ext>
              </a:extLst>
            </p:cNvPr>
            <p:cNvSpPr/>
            <p:nvPr/>
          </p:nvSpPr>
          <p:spPr>
            <a:xfrm>
              <a:off x="61009" y="164078"/>
              <a:ext cx="42059" cy="10529460"/>
            </a:xfrm>
            <a:prstGeom prst="rect">
              <a:avLst/>
            </a:prstGeom>
            <a:solidFill>
              <a:srgbClr val="000000"/>
            </a:solid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540;p14">
              <a:extLst>
                <a:ext uri="{FF2B5EF4-FFF2-40B4-BE49-F238E27FC236}">
                  <a16:creationId xmlns:a16="http://schemas.microsoft.com/office/drawing/2014/main" id="{31326F3A-B47C-9531-41FB-89CC2B24C535}"/>
                </a:ext>
              </a:extLst>
            </p:cNvPr>
            <p:cNvSpPr/>
            <p:nvPr/>
          </p:nvSpPr>
          <p:spPr>
            <a:xfrm>
              <a:off x="0" y="0"/>
              <a:ext cx="164078" cy="164078"/>
            </a:xfrm>
            <a:custGeom>
              <a:avLst/>
              <a:gdLst/>
              <a:ahLst/>
              <a:cxnLst/>
              <a:rect l="l" t="t" r="r" b="b"/>
              <a:pathLst>
                <a:path w="164078" h="164078" extrusionOk="0">
                  <a:moveTo>
                    <a:pt x="0" y="0"/>
                  </a:moveTo>
                  <a:lnTo>
                    <a:pt x="164078" y="0"/>
                  </a:lnTo>
                  <a:lnTo>
                    <a:pt x="164078" y="164078"/>
                  </a:lnTo>
                  <a:lnTo>
                    <a:pt x="0" y="164078"/>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 name="Google Shape;541;p14">
              <a:extLst>
                <a:ext uri="{FF2B5EF4-FFF2-40B4-BE49-F238E27FC236}">
                  <a16:creationId xmlns:a16="http://schemas.microsoft.com/office/drawing/2014/main" id="{2831907F-9082-0F66-E865-78617248FFAE}"/>
                </a:ext>
              </a:extLst>
            </p:cNvPr>
            <p:cNvSpPr/>
            <p:nvPr/>
          </p:nvSpPr>
          <p:spPr>
            <a:xfrm>
              <a:off x="0" y="10645538"/>
              <a:ext cx="164078" cy="164078"/>
            </a:xfrm>
            <a:custGeom>
              <a:avLst/>
              <a:gdLst/>
              <a:ahLst/>
              <a:cxnLst/>
              <a:rect l="l" t="t" r="r" b="b"/>
              <a:pathLst>
                <a:path w="164078" h="164078" extrusionOk="0">
                  <a:moveTo>
                    <a:pt x="0" y="0"/>
                  </a:moveTo>
                  <a:lnTo>
                    <a:pt x="164078" y="0"/>
                  </a:lnTo>
                  <a:lnTo>
                    <a:pt x="164078" y="164078"/>
                  </a:lnTo>
                  <a:lnTo>
                    <a:pt x="0" y="164078"/>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 name="Google Shape;530;p14">
            <a:extLst>
              <a:ext uri="{FF2B5EF4-FFF2-40B4-BE49-F238E27FC236}">
                <a16:creationId xmlns:a16="http://schemas.microsoft.com/office/drawing/2014/main" id="{C9D9691E-98AB-F2F6-71B4-79E2F4D52E4C}"/>
              </a:ext>
            </a:extLst>
          </p:cNvPr>
          <p:cNvSpPr txBox="1"/>
          <p:nvPr/>
        </p:nvSpPr>
        <p:spPr>
          <a:xfrm>
            <a:off x="1559249" y="2157336"/>
            <a:ext cx="4986342" cy="760016"/>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21"/>
              </a:lnSpc>
              <a:spcBef>
                <a:spcPts val="0"/>
              </a:spcBef>
              <a:spcAft>
                <a:spcPts val="0"/>
              </a:spcAft>
              <a:buClr>
                <a:srgbClr val="000000"/>
              </a:buClr>
              <a:buSzPts val="1399"/>
              <a:buFontTx/>
              <a:buNone/>
              <a:tabLst/>
              <a:defRPr/>
            </a:pPr>
            <a:r>
              <a:rPr kumimoji="0" lang="en-US" sz="1399"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Home Visit &amp; ATAP Eligibility Check</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rPr>
              <a:t>We assess your home’s solar potential, request a few documents for ATAP eligibility confirmation, and prepare your solar proposal.</a:t>
            </a:r>
          </a:p>
        </p:txBody>
      </p:sp>
      <p:sp>
        <p:nvSpPr>
          <p:cNvPr id="9" name="Google Shape;542;p14">
            <a:extLst>
              <a:ext uri="{FF2B5EF4-FFF2-40B4-BE49-F238E27FC236}">
                <a16:creationId xmlns:a16="http://schemas.microsoft.com/office/drawing/2014/main" id="{203368C3-9A44-9082-705B-4479A9A8AC9A}"/>
              </a:ext>
            </a:extLst>
          </p:cNvPr>
          <p:cNvSpPr/>
          <p:nvPr/>
        </p:nvSpPr>
        <p:spPr>
          <a:xfrm>
            <a:off x="706781" y="2249387"/>
            <a:ext cx="575914" cy="575915"/>
          </a:xfrm>
          <a:custGeom>
            <a:avLst/>
            <a:gdLst/>
            <a:ahLst/>
            <a:cxnLst/>
            <a:rect l="l" t="t" r="r" b="b"/>
            <a:pathLst>
              <a:path w="1031101" h="1031101" extrusionOk="0">
                <a:moveTo>
                  <a:pt x="0" y="0"/>
                </a:moveTo>
                <a:lnTo>
                  <a:pt x="1031101" y="0"/>
                </a:lnTo>
                <a:lnTo>
                  <a:pt x="1031101" y="1031101"/>
                </a:lnTo>
                <a:lnTo>
                  <a:pt x="0" y="103110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a:ln>
                  <a:noFill/>
                </a:ln>
                <a:solidFill>
                  <a:srgbClr val="FFFFFF"/>
                </a:solidFill>
                <a:effectLst/>
                <a:uLnTx/>
                <a:uFillTx/>
                <a:latin typeface="Work Sans" pitchFamily="2" charset="77"/>
                <a:ea typeface="Work Sans SemiBold"/>
                <a:cs typeface="Work Sans SemiBold"/>
                <a:sym typeface="Work Sans SemiBold"/>
              </a:rPr>
              <a:t>1</a:t>
            </a:r>
            <a:endParaRPr kumimoji="0" sz="1400" b="1" i="0" u="none" strike="noStrike" kern="0" cap="none" spc="0" normalizeH="0" baseline="0" noProof="0">
              <a:ln>
                <a:noFill/>
              </a:ln>
              <a:solidFill>
                <a:srgbClr val="000000"/>
              </a:solidFill>
              <a:effectLst/>
              <a:uLnTx/>
              <a:uFillTx/>
              <a:latin typeface="Work Sans" pitchFamily="2" charset="77"/>
              <a:ea typeface="+mn-ea"/>
              <a:cs typeface="Arial"/>
              <a:sym typeface="Arial"/>
            </a:endParaRPr>
          </a:p>
        </p:txBody>
      </p:sp>
      <p:sp>
        <p:nvSpPr>
          <p:cNvPr id="13" name="Google Shape;534;p14">
            <a:extLst>
              <a:ext uri="{FF2B5EF4-FFF2-40B4-BE49-F238E27FC236}">
                <a16:creationId xmlns:a16="http://schemas.microsoft.com/office/drawing/2014/main" id="{9413B56D-0E28-A46B-9928-D5E283D92FFB}"/>
              </a:ext>
            </a:extLst>
          </p:cNvPr>
          <p:cNvSpPr txBox="1"/>
          <p:nvPr/>
        </p:nvSpPr>
        <p:spPr>
          <a:xfrm>
            <a:off x="1554882" y="5354580"/>
            <a:ext cx="4986341" cy="759903"/>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21"/>
              </a:lnSpc>
              <a:spcBef>
                <a:spcPts val="0"/>
              </a:spcBef>
              <a:spcAft>
                <a:spcPts val="0"/>
              </a:spcAft>
              <a:buClr>
                <a:srgbClr val="000000"/>
              </a:buClr>
              <a:buSzPts val="1399"/>
              <a:buFontTx/>
              <a:buNone/>
              <a:tabLst/>
              <a:defRPr/>
            </a:pPr>
            <a:r>
              <a:rPr kumimoji="0" lang="en-US" sz="1399"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Installation</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MY" sz="1200" b="0" i="0" u="none" strike="noStrike" kern="0" cap="none" spc="0" normalizeH="0" baseline="0" noProof="0" dirty="0">
                <a:ln>
                  <a:noFill/>
                </a:ln>
                <a:solidFill>
                  <a:srgbClr val="000000"/>
                </a:solidFill>
                <a:effectLst/>
                <a:uLnTx/>
                <a:uFillTx/>
                <a:latin typeface="Work Sans" pitchFamily="2" charset="77"/>
                <a:ea typeface="+mn-ea"/>
                <a:cs typeface="Arial"/>
                <a:sym typeface="Arial"/>
              </a:rPr>
              <a:t>Our team carries out a safe and smooth installation, setting you up for long-term savings.</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14" name="Google Shape;544;p14">
            <a:extLst>
              <a:ext uri="{FF2B5EF4-FFF2-40B4-BE49-F238E27FC236}">
                <a16:creationId xmlns:a16="http://schemas.microsoft.com/office/drawing/2014/main" id="{3B7DA1B9-F8E5-2AB1-15D9-E0D5225D7C0A}"/>
              </a:ext>
            </a:extLst>
          </p:cNvPr>
          <p:cNvSpPr/>
          <p:nvPr/>
        </p:nvSpPr>
        <p:spPr>
          <a:xfrm>
            <a:off x="706781" y="5446574"/>
            <a:ext cx="575914" cy="575915"/>
          </a:xfrm>
          <a:custGeom>
            <a:avLst/>
            <a:gdLst/>
            <a:ahLst/>
            <a:cxnLst/>
            <a:rect l="l" t="t" r="r" b="b"/>
            <a:pathLst>
              <a:path w="1031101" h="1031101" extrusionOk="0">
                <a:moveTo>
                  <a:pt x="0" y="0"/>
                </a:moveTo>
                <a:lnTo>
                  <a:pt x="1031102" y="0"/>
                </a:lnTo>
                <a:lnTo>
                  <a:pt x="1031102" y="1031101"/>
                </a:lnTo>
                <a:lnTo>
                  <a:pt x="0" y="103110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a:ln>
                  <a:noFill/>
                </a:ln>
                <a:solidFill>
                  <a:srgbClr val="FFFFFF"/>
                </a:solidFill>
                <a:effectLst/>
                <a:uLnTx/>
                <a:uFillTx/>
                <a:latin typeface="Work Sans" pitchFamily="2" charset="77"/>
                <a:ea typeface="Work Sans SemiBold"/>
                <a:cs typeface="Work Sans SemiBold"/>
                <a:sym typeface="Work Sans SemiBold"/>
              </a:rPr>
              <a:t>3</a:t>
            </a:r>
            <a:endParaRPr kumimoji="0" sz="1400" b="1" i="0" u="none" strike="noStrike" kern="0" cap="none" spc="0" normalizeH="0" baseline="0" noProof="0">
              <a:ln>
                <a:noFill/>
              </a:ln>
              <a:solidFill>
                <a:srgbClr val="000000"/>
              </a:solidFill>
              <a:effectLst/>
              <a:uLnTx/>
              <a:uFillTx/>
              <a:latin typeface="Work Sans" pitchFamily="2" charset="77"/>
              <a:ea typeface="+mn-ea"/>
              <a:cs typeface="Arial"/>
              <a:sym typeface="Arial"/>
            </a:endParaRPr>
          </a:p>
        </p:txBody>
      </p:sp>
      <p:sp>
        <p:nvSpPr>
          <p:cNvPr id="17" name="Google Shape;536;p14">
            <a:extLst>
              <a:ext uri="{FF2B5EF4-FFF2-40B4-BE49-F238E27FC236}">
                <a16:creationId xmlns:a16="http://schemas.microsoft.com/office/drawing/2014/main" id="{20F6268C-465D-6342-70C9-CB9E1791DC99}"/>
              </a:ext>
            </a:extLst>
          </p:cNvPr>
          <p:cNvSpPr txBox="1"/>
          <p:nvPr/>
        </p:nvSpPr>
        <p:spPr>
          <a:xfrm>
            <a:off x="1559248" y="6831470"/>
            <a:ext cx="4986342" cy="760593"/>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4740"/>
              </a:lnSpc>
              <a:spcBef>
                <a:spcPts val="0"/>
              </a:spcBef>
              <a:spcAft>
                <a:spcPts val="0"/>
              </a:spcAft>
              <a:buClr>
                <a:srgbClr val="000000"/>
              </a:buClr>
              <a:buSzPts val="1350"/>
              <a:buFontTx/>
              <a:buNone/>
              <a:tabLst/>
              <a:defRPr/>
            </a:pPr>
            <a:r>
              <a:rPr kumimoji="0" lang="en-US" sz="1350"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Activation</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MY" sz="1200" b="0" i="0" u="none" strike="noStrike" kern="0" cap="none" spc="0" normalizeH="0" baseline="0" noProof="0" dirty="0">
                <a:ln>
                  <a:noFill/>
                </a:ln>
                <a:solidFill>
                  <a:srgbClr val="000000"/>
                </a:solidFill>
                <a:effectLst/>
                <a:uLnTx/>
                <a:uFillTx/>
                <a:latin typeface="Work Sans" pitchFamily="2" charset="77"/>
                <a:ea typeface="+mn-ea"/>
                <a:cs typeface="Arial"/>
                <a:sym typeface="Arial"/>
              </a:rPr>
              <a:t>After TNB upgrades your account and if applicable your meter, we will activate the system.</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18" name="Google Shape;545;p14">
            <a:extLst>
              <a:ext uri="{FF2B5EF4-FFF2-40B4-BE49-F238E27FC236}">
                <a16:creationId xmlns:a16="http://schemas.microsoft.com/office/drawing/2014/main" id="{42365F7B-9810-FDA8-8640-AC249ECF7522}"/>
              </a:ext>
            </a:extLst>
          </p:cNvPr>
          <p:cNvSpPr/>
          <p:nvPr/>
        </p:nvSpPr>
        <p:spPr>
          <a:xfrm>
            <a:off x="706781" y="6923751"/>
            <a:ext cx="575914" cy="575915"/>
          </a:xfrm>
          <a:custGeom>
            <a:avLst/>
            <a:gdLst/>
            <a:ahLst/>
            <a:cxnLst/>
            <a:rect l="l" t="t" r="r" b="b"/>
            <a:pathLst>
              <a:path w="1031101" h="1031101" extrusionOk="0">
                <a:moveTo>
                  <a:pt x="0" y="0"/>
                </a:moveTo>
                <a:lnTo>
                  <a:pt x="1031102" y="0"/>
                </a:lnTo>
                <a:lnTo>
                  <a:pt x="1031102" y="1031102"/>
                </a:lnTo>
                <a:lnTo>
                  <a:pt x="0" y="1031102"/>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dirty="0">
                <a:ln>
                  <a:noFill/>
                </a:ln>
                <a:solidFill>
                  <a:srgbClr val="FFFFFF"/>
                </a:solidFill>
                <a:effectLst/>
                <a:uLnTx/>
                <a:uFillTx/>
                <a:latin typeface="Work Sans" pitchFamily="2" charset="77"/>
                <a:ea typeface="Work Sans SemiBold"/>
                <a:cs typeface="Work Sans SemiBold"/>
                <a:sym typeface="Work Sans SemiBold"/>
              </a:rPr>
              <a:t>4</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p:txBody>
      </p:sp>
      <p:sp>
        <p:nvSpPr>
          <p:cNvPr id="21" name="Google Shape;546;p14">
            <a:extLst>
              <a:ext uri="{FF2B5EF4-FFF2-40B4-BE49-F238E27FC236}">
                <a16:creationId xmlns:a16="http://schemas.microsoft.com/office/drawing/2014/main" id="{B31A84B3-06CD-38DB-9BF2-ABD798CCD9C5}"/>
              </a:ext>
            </a:extLst>
          </p:cNvPr>
          <p:cNvSpPr/>
          <p:nvPr/>
        </p:nvSpPr>
        <p:spPr>
          <a:xfrm>
            <a:off x="706781" y="8400926"/>
            <a:ext cx="575914" cy="575915"/>
          </a:xfrm>
          <a:custGeom>
            <a:avLst/>
            <a:gdLst/>
            <a:ahLst/>
            <a:cxnLst/>
            <a:rect l="l" t="t" r="r" b="b"/>
            <a:pathLst>
              <a:path w="1031101" h="1031101" extrusionOk="0">
                <a:moveTo>
                  <a:pt x="0" y="0"/>
                </a:moveTo>
                <a:lnTo>
                  <a:pt x="1031102" y="0"/>
                </a:lnTo>
                <a:lnTo>
                  <a:pt x="1031102" y="1031101"/>
                </a:lnTo>
                <a:lnTo>
                  <a:pt x="0" y="103110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a:ln>
                  <a:noFill/>
                </a:ln>
                <a:solidFill>
                  <a:srgbClr val="FFFFFF"/>
                </a:solidFill>
                <a:effectLst/>
                <a:uLnTx/>
                <a:uFillTx/>
                <a:latin typeface="Work Sans" pitchFamily="2" charset="77"/>
                <a:ea typeface="Work Sans SemiBold"/>
                <a:cs typeface="Work Sans SemiBold"/>
                <a:sym typeface="Work Sans SemiBold"/>
              </a:rPr>
              <a:t>5</a:t>
            </a:r>
            <a:endParaRPr kumimoji="0" sz="1400" b="1" i="0" u="none" strike="noStrike" kern="0" cap="none" spc="0" normalizeH="0" baseline="0" noProof="0">
              <a:ln>
                <a:noFill/>
              </a:ln>
              <a:solidFill>
                <a:srgbClr val="000000"/>
              </a:solidFill>
              <a:effectLst/>
              <a:uLnTx/>
              <a:uFillTx/>
              <a:latin typeface="Work Sans" pitchFamily="2" charset="77"/>
              <a:ea typeface="+mn-ea"/>
              <a:cs typeface="Arial"/>
              <a:sym typeface="Arial"/>
            </a:endParaRPr>
          </a:p>
        </p:txBody>
      </p:sp>
      <p:sp>
        <p:nvSpPr>
          <p:cNvPr id="22" name="Google Shape;547;p14">
            <a:extLst>
              <a:ext uri="{FF2B5EF4-FFF2-40B4-BE49-F238E27FC236}">
                <a16:creationId xmlns:a16="http://schemas.microsoft.com/office/drawing/2014/main" id="{2D7A8CD5-C3A6-0B93-96ED-DD5A4B5B812F}"/>
              </a:ext>
            </a:extLst>
          </p:cNvPr>
          <p:cNvSpPr txBox="1"/>
          <p:nvPr/>
        </p:nvSpPr>
        <p:spPr>
          <a:xfrm>
            <a:off x="1554738" y="8308932"/>
            <a:ext cx="4990852" cy="759903"/>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21"/>
              </a:lnSpc>
              <a:spcBef>
                <a:spcPts val="0"/>
              </a:spcBef>
              <a:spcAft>
                <a:spcPts val="0"/>
              </a:spcAft>
              <a:buClr>
                <a:srgbClr val="000000"/>
              </a:buClr>
              <a:buSzPts val="1399"/>
              <a:buFontTx/>
              <a:buNone/>
              <a:tabLst/>
              <a:defRPr/>
            </a:pPr>
            <a:r>
              <a:rPr kumimoji="0" lang="en-US" sz="1399"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Everyday Savings</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MY" sz="1200" b="0" i="0" u="none" strike="noStrike" kern="0" cap="none" spc="0" normalizeH="0" baseline="0" noProof="0" dirty="0">
                <a:ln>
                  <a:noFill/>
                </a:ln>
                <a:solidFill>
                  <a:srgbClr val="000000"/>
                </a:solidFill>
                <a:effectLst/>
                <a:uLnTx/>
                <a:uFillTx/>
                <a:latin typeface="Work Sans" pitchFamily="2" charset="77"/>
                <a:ea typeface="+mn-ea"/>
                <a:cs typeface="Arial"/>
                <a:sym typeface="Arial"/>
              </a:rPr>
              <a:t>Enjoy worry-free savings, with ongoing support whenever you need us.</a:t>
            </a:r>
            <a:endParaRPr kumimoji="0" sz="1400" b="0"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p:txBody>
      </p:sp>
      <p:sp>
        <p:nvSpPr>
          <p:cNvPr id="24" name="Google Shape;531;p14">
            <a:extLst>
              <a:ext uri="{FF2B5EF4-FFF2-40B4-BE49-F238E27FC236}">
                <a16:creationId xmlns:a16="http://schemas.microsoft.com/office/drawing/2014/main" id="{CDD79AB9-06F7-18D3-975B-A3FCBBDD5432}"/>
              </a:ext>
            </a:extLst>
          </p:cNvPr>
          <p:cNvSpPr/>
          <p:nvPr/>
        </p:nvSpPr>
        <p:spPr>
          <a:xfrm>
            <a:off x="323837" y="3396000"/>
            <a:ext cx="6912000" cy="1478415"/>
          </a:xfrm>
          <a:prstGeom prst="rect">
            <a:avLst/>
          </a:prstGeom>
          <a:solidFill>
            <a:srgbClr val="FFF7FF"/>
          </a:solidFill>
          <a:ln w="19050" cap="rnd" cmpd="sng">
            <a:solidFill>
              <a:srgbClr val="F454CD"/>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sp>
        <p:nvSpPr>
          <p:cNvPr id="25" name="Google Shape;532;p14">
            <a:extLst>
              <a:ext uri="{FF2B5EF4-FFF2-40B4-BE49-F238E27FC236}">
                <a16:creationId xmlns:a16="http://schemas.microsoft.com/office/drawing/2014/main" id="{972801F1-94B3-945D-717A-F48B5E65DE3E}"/>
              </a:ext>
            </a:extLst>
          </p:cNvPr>
          <p:cNvSpPr txBox="1"/>
          <p:nvPr/>
        </p:nvSpPr>
        <p:spPr>
          <a:xfrm>
            <a:off x="1554882" y="3789985"/>
            <a:ext cx="4986342" cy="690445"/>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00"/>
              </a:lnSpc>
              <a:spcBef>
                <a:spcPts val="0"/>
              </a:spcBef>
              <a:spcAft>
                <a:spcPts val="0"/>
              </a:spcAft>
              <a:buClr>
                <a:srgbClr val="FFFFFF"/>
              </a:buClr>
              <a:buSzPts val="1400"/>
              <a:buFontTx/>
              <a:buNone/>
              <a:tabLst/>
              <a:defRPr/>
            </a:pPr>
            <a:r>
              <a:rPr kumimoji="0" lang="en-US" sz="1400" b="1" i="0" u="none" strike="noStrike" kern="0" cap="none" spc="0" normalizeH="0" baseline="0" noProof="0" dirty="0">
                <a:ln>
                  <a:noFill/>
                </a:ln>
                <a:effectLst/>
                <a:uLnTx/>
                <a:uFillTx/>
                <a:latin typeface="Work Sans" pitchFamily="2" charset="77"/>
                <a:ea typeface="Work Sans"/>
                <a:cs typeface="Work Sans"/>
                <a:sym typeface="Work Sans"/>
              </a:rPr>
              <a:t>Proposal Acceptance</a:t>
            </a:r>
            <a:endParaRPr kumimoji="0" sz="1400" b="1" i="0" u="none" strike="noStrike" kern="0" cap="none" spc="0" normalizeH="0" baseline="0" noProof="0" dirty="0">
              <a:ln>
                <a:noFill/>
              </a:ln>
              <a:effectLst/>
              <a:uLnTx/>
              <a:uFillTx/>
              <a:latin typeface="Work Sans" pitchFamily="2" charset="77"/>
              <a:ea typeface="+mn-ea"/>
              <a:cs typeface="Arial"/>
              <a:sym typeface="Arial"/>
            </a:endParaRPr>
          </a:p>
          <a:p>
            <a:pPr lvl="0" defTabSz="914400">
              <a:lnSpc>
                <a:spcPts val="1560"/>
              </a:lnSpc>
              <a:spcBef>
                <a:spcPct val="0"/>
              </a:spcBef>
              <a:defRPr/>
            </a:pPr>
            <a:r>
              <a:rPr lang="en-US" sz="1200" dirty="0">
                <a:latin typeface="Work Sans" pitchFamily="2" charset="77"/>
                <a:ea typeface="Work Sans 1"/>
                <a:cs typeface="Work Sans 1"/>
                <a:sym typeface="Work Sans 1"/>
              </a:rPr>
              <a:t>Once you’re satisfied, accept our proposal, and we’ll submit your ATAP application.</a:t>
            </a:r>
          </a:p>
        </p:txBody>
      </p:sp>
      <p:sp>
        <p:nvSpPr>
          <p:cNvPr id="26" name="Oval 25">
            <a:extLst>
              <a:ext uri="{FF2B5EF4-FFF2-40B4-BE49-F238E27FC236}">
                <a16:creationId xmlns:a16="http://schemas.microsoft.com/office/drawing/2014/main" id="{7C952BE6-C26E-C796-CA23-5376479289A2}"/>
              </a:ext>
            </a:extLst>
          </p:cNvPr>
          <p:cNvSpPr/>
          <p:nvPr/>
        </p:nvSpPr>
        <p:spPr>
          <a:xfrm>
            <a:off x="706781" y="3847250"/>
            <a:ext cx="575914" cy="575914"/>
          </a:xfrm>
          <a:prstGeom prst="ellipse">
            <a:avLst/>
          </a:prstGeom>
          <a:solidFill>
            <a:schemeClr val="bg1"/>
          </a:solidFill>
          <a:ln w="190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0" cap="none" spc="0" normalizeH="0" baseline="0" noProof="0" dirty="0">
                <a:ln>
                  <a:noFill/>
                </a:ln>
                <a:solidFill>
                  <a:srgbClr val="F554CD"/>
                </a:solidFill>
                <a:effectLst/>
                <a:uLnTx/>
                <a:uFillTx/>
                <a:latin typeface="Work Sans" pitchFamily="2" charset="77"/>
                <a:ea typeface="+mn-ea"/>
                <a:cs typeface="+mn-cs"/>
                <a:sym typeface="Arial"/>
              </a:rPr>
              <a:t>2</a:t>
            </a:r>
          </a:p>
        </p:txBody>
      </p:sp>
      <p:sp>
        <p:nvSpPr>
          <p:cNvPr id="6" name="TextBox 5">
            <a:extLst>
              <a:ext uri="{FF2B5EF4-FFF2-40B4-BE49-F238E27FC236}">
                <a16:creationId xmlns:a16="http://schemas.microsoft.com/office/drawing/2014/main" id="{7D5C99CE-021C-CC3C-ADF9-6DE5757E8213}"/>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Your Solar Journey, Made Simple</a:t>
            </a:r>
            <a:endParaRPr lang="en-US" sz="700" dirty="0">
              <a:latin typeface="Work Sans" pitchFamily="2" charset="77"/>
            </a:endParaRPr>
          </a:p>
          <a:p>
            <a:pPr lvl="0">
              <a:defRPr/>
            </a:pPr>
            <a:r>
              <a:rPr lang="en-US" sz="1200" dirty="0">
                <a:latin typeface="Work Sans" pitchFamily="2" charset="77"/>
              </a:rPr>
              <a:t>We’re with you every step of the way.</a:t>
            </a:r>
            <a:endParaRPr lang="en-MY" sz="1200" dirty="0">
              <a:latin typeface="Work Sans" pitchFamily="2" charset="77"/>
            </a:endParaRPr>
          </a:p>
        </p:txBody>
      </p:sp>
    </p:spTree>
    <p:extLst>
      <p:ext uri="{BB962C8B-B14F-4D97-AF65-F5344CB8AC3E}">
        <p14:creationId xmlns:p14="http://schemas.microsoft.com/office/powerpoint/2010/main" val="3196864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54CD"/>
        </a:solidFill>
        <a:effectLst/>
      </p:bgPr>
    </p:bg>
    <p:spTree>
      <p:nvGrpSpPr>
        <p:cNvPr id="1" name="Shape 557"/>
        <p:cNvGrpSpPr/>
        <p:nvPr/>
      </p:nvGrpSpPr>
      <p:grpSpPr>
        <a:xfrm>
          <a:off x="0" y="0"/>
          <a:ext cx="0" cy="0"/>
          <a:chOff x="0" y="0"/>
          <a:chExt cx="0" cy="0"/>
        </a:xfrm>
      </p:grpSpPr>
      <p:sp>
        <p:nvSpPr>
          <p:cNvPr id="558" name="Google Shape;558;p15"/>
          <p:cNvSpPr/>
          <p:nvPr/>
        </p:nvSpPr>
        <p:spPr>
          <a:xfrm>
            <a:off x="3821573" y="-859235"/>
            <a:ext cx="3230246" cy="3230246"/>
          </a:xfrm>
          <a:custGeom>
            <a:avLst/>
            <a:gdLst/>
            <a:ahLst/>
            <a:cxnLst/>
            <a:rect l="l" t="t" r="r" b="b"/>
            <a:pathLst>
              <a:path w="3230726" h="3230726" extrusionOk="0">
                <a:moveTo>
                  <a:pt x="0" y="0"/>
                </a:moveTo>
                <a:lnTo>
                  <a:pt x="3230726" y="0"/>
                </a:lnTo>
                <a:lnTo>
                  <a:pt x="3230726" y="3230726"/>
                </a:lnTo>
                <a:lnTo>
                  <a:pt x="0" y="3230726"/>
                </a:lnTo>
                <a:lnTo>
                  <a:pt x="0" y="0"/>
                </a:lnTo>
                <a:close/>
              </a:path>
            </a:pathLst>
          </a:custGeom>
          <a:blipFill rotWithShape="1">
            <a:blip r:embed="rId3">
              <a:alphaModFix amt="50000"/>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59" name="Google Shape;559;p15"/>
          <p:cNvSpPr/>
          <p:nvPr/>
        </p:nvSpPr>
        <p:spPr>
          <a:xfrm>
            <a:off x="-947488" y="9070219"/>
            <a:ext cx="2563188" cy="2563188"/>
          </a:xfrm>
          <a:custGeom>
            <a:avLst/>
            <a:gdLst/>
            <a:ahLst/>
            <a:cxnLst/>
            <a:rect l="l" t="t" r="r" b="b"/>
            <a:pathLst>
              <a:path w="2563569" h="2563569" extrusionOk="0">
                <a:moveTo>
                  <a:pt x="0" y="0"/>
                </a:moveTo>
                <a:lnTo>
                  <a:pt x="2563569" y="0"/>
                </a:lnTo>
                <a:lnTo>
                  <a:pt x="2563569" y="2563569"/>
                </a:lnTo>
                <a:lnTo>
                  <a:pt x="0" y="2563569"/>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0" name="Google Shape;560;p15"/>
          <p:cNvSpPr txBox="1"/>
          <p:nvPr/>
        </p:nvSpPr>
        <p:spPr>
          <a:xfrm>
            <a:off x="1816630" y="4945762"/>
            <a:ext cx="3929915" cy="646043"/>
          </a:xfrm>
          <a:prstGeom prst="rect">
            <a:avLst/>
          </a:prstGeom>
          <a:noFill/>
          <a:ln>
            <a:noFill/>
          </a:ln>
        </p:spPr>
        <p:txBody>
          <a:bodyPr spcFirstLastPara="1" wrap="square" lIns="0" tIns="0" rIns="0" bIns="0" anchor="t" anchorCtr="0">
            <a:spAutoFit/>
          </a:bodyPr>
          <a:lstStyle/>
          <a:p>
            <a:pPr marL="0" marR="0" lvl="0" indent="0" algn="ctr" defTabSz="914309" rtl="0" eaLnBrk="1" fontAlgn="auto" latinLnBrk="0" hangingPunct="1">
              <a:lnSpc>
                <a:spcPct val="140013"/>
              </a:lnSpc>
              <a:spcBef>
                <a:spcPts val="0"/>
              </a:spcBef>
              <a:spcAft>
                <a:spcPts val="0"/>
              </a:spcAft>
              <a:buClr>
                <a:srgbClr val="000000"/>
              </a:buClr>
              <a:buSzTx/>
              <a:buFontTx/>
              <a:buNone/>
              <a:tabLst/>
              <a:defRPr/>
            </a:pPr>
            <a:r>
              <a:rPr kumimoji="0" lang="en-US" sz="2999" b="0" i="0" u="none" strike="noStrike" kern="0" cap="none" spc="0" normalizeH="0" baseline="0" noProof="0" dirty="0">
                <a:ln>
                  <a:noFill/>
                </a:ln>
                <a:solidFill>
                  <a:srgbClr val="FFFFFF"/>
                </a:solidFill>
                <a:effectLst/>
                <a:uLnTx/>
                <a:uFillTx/>
                <a:latin typeface="Work Sans" pitchFamily="2" charset="77"/>
                <a:ea typeface="Work Sans Light"/>
                <a:cs typeface="Work Sans Light"/>
                <a:sym typeface="Work Sans Light"/>
              </a:rPr>
              <a:t>Solar Made Simple</a:t>
            </a:r>
            <a:endParaRPr kumimoji="0" sz="1400" b="0"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p:txBody>
      </p:sp>
      <p:grpSp>
        <p:nvGrpSpPr>
          <p:cNvPr id="561" name="Google Shape;561;p15"/>
          <p:cNvGrpSpPr/>
          <p:nvPr/>
        </p:nvGrpSpPr>
        <p:grpSpPr>
          <a:xfrm>
            <a:off x="1785167" y="5844875"/>
            <a:ext cx="3992839" cy="561383"/>
            <a:chOff x="0" y="0"/>
            <a:chExt cx="1090330" cy="153297"/>
          </a:xfrm>
        </p:grpSpPr>
        <p:sp>
          <p:nvSpPr>
            <p:cNvPr id="562" name="Google Shape;562;p15"/>
            <p:cNvSpPr/>
            <p:nvPr/>
          </p:nvSpPr>
          <p:spPr>
            <a:xfrm>
              <a:off x="0" y="0"/>
              <a:ext cx="1090330" cy="153297"/>
            </a:xfrm>
            <a:custGeom>
              <a:avLst/>
              <a:gdLst/>
              <a:ahLst/>
              <a:cxnLst/>
              <a:rect l="l" t="t" r="r" b="b"/>
              <a:pathLst>
                <a:path w="1090330" h="153297" extrusionOk="0">
                  <a:moveTo>
                    <a:pt x="76649" y="0"/>
                  </a:moveTo>
                  <a:lnTo>
                    <a:pt x="1013681" y="0"/>
                  </a:lnTo>
                  <a:cubicBezTo>
                    <a:pt x="1056013" y="0"/>
                    <a:pt x="1090330" y="34317"/>
                    <a:pt x="1090330" y="76649"/>
                  </a:cubicBezTo>
                  <a:lnTo>
                    <a:pt x="1090330" y="76649"/>
                  </a:lnTo>
                  <a:cubicBezTo>
                    <a:pt x="1090330" y="118981"/>
                    <a:pt x="1056013" y="153297"/>
                    <a:pt x="1013681" y="153297"/>
                  </a:cubicBezTo>
                  <a:lnTo>
                    <a:pt x="76649" y="153297"/>
                  </a:lnTo>
                  <a:cubicBezTo>
                    <a:pt x="34317" y="153297"/>
                    <a:pt x="0" y="118981"/>
                    <a:pt x="0" y="76649"/>
                  </a:cubicBezTo>
                  <a:lnTo>
                    <a:pt x="0" y="76649"/>
                  </a:lnTo>
                  <a:cubicBezTo>
                    <a:pt x="0" y="34317"/>
                    <a:pt x="34317" y="0"/>
                    <a:pt x="76649" y="0"/>
                  </a:cubicBezTo>
                  <a:close/>
                </a:path>
              </a:pathLst>
            </a:custGeom>
            <a:solidFill>
              <a:srgbClr val="000000">
                <a:alpha val="0"/>
              </a:srgbClr>
            </a:solidFill>
            <a:ln w="19050" cap="rnd" cmpd="sng">
              <a:solidFill>
                <a:schemeClr val="lt1"/>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3" name="Google Shape;563;p15"/>
            <p:cNvSpPr txBox="1"/>
            <p:nvPr/>
          </p:nvSpPr>
          <p:spPr>
            <a:xfrm>
              <a:off x="0" y="19050"/>
              <a:ext cx="1090330" cy="134247"/>
            </a:xfrm>
            <a:prstGeom prst="rect">
              <a:avLst/>
            </a:prstGeom>
            <a:noFill/>
            <a:ln>
              <a:noFill/>
            </a:ln>
          </p:spPr>
          <p:txBody>
            <a:bodyPr spcFirstLastPara="1" wrap="square" lIns="50792" tIns="50792" rIns="50792" bIns="50792" anchor="ctr" anchorCtr="0">
              <a:noAutofit/>
            </a:bodyPr>
            <a:lstStyle/>
            <a:p>
              <a:pPr marL="0" marR="0" lvl="0" indent="0" algn="ctr" defTabSz="914309" rtl="0" eaLnBrk="1" fontAlgn="auto" latinLnBrk="0" hangingPunct="1">
                <a:lnSpc>
                  <a:spcPct val="105002"/>
                </a:lnSpc>
                <a:spcBef>
                  <a:spcPts val="0"/>
                </a:spcBef>
                <a:spcAft>
                  <a:spcPts val="0"/>
                </a:spcAft>
                <a:buClr>
                  <a:srgbClr val="000000"/>
                </a:buClr>
                <a:buSzTx/>
                <a:buFontTx/>
                <a:buNone/>
                <a:tabLst/>
                <a:defRPr/>
              </a:pPr>
              <a:r>
                <a:rPr kumimoji="0" lang="en-US" sz="1999" b="1" i="0" u="none" strike="noStrike" kern="0" cap="none" spc="0" normalizeH="0" baseline="0" noProof="0" dirty="0" err="1">
                  <a:ln>
                    <a:noFill/>
                  </a:ln>
                  <a:solidFill>
                    <a:srgbClr val="FFFFFF"/>
                  </a:solidFill>
                  <a:effectLst/>
                  <a:uLnTx/>
                  <a:uFillTx/>
                  <a:latin typeface="Work Sans" pitchFamily="2" charset="77"/>
                  <a:ea typeface="Work Sans SemiBold"/>
                  <a:cs typeface="Work Sans SemiBold"/>
                  <a:sym typeface="Work Sans SemiBold"/>
                </a:rPr>
                <a:t>emitsolar.com</a:t>
              </a:r>
              <a:endParaRPr kumimoji="0" sz="1999" b="1" i="0" u="none" strike="noStrike" kern="0" cap="none" spc="0" normalizeH="0" baseline="0" noProof="0" dirty="0">
                <a:ln>
                  <a:noFill/>
                </a:ln>
                <a:solidFill>
                  <a:srgbClr val="FFFFFF"/>
                </a:solidFill>
                <a:effectLst/>
                <a:uLnTx/>
                <a:uFillTx/>
                <a:latin typeface="Work Sans" pitchFamily="2" charset="77"/>
                <a:ea typeface="Work Sans SemiBold"/>
                <a:cs typeface="Work Sans SemiBold"/>
                <a:sym typeface="Work Sans SemiBold"/>
              </a:endParaRPr>
            </a:p>
          </p:txBody>
        </p:sp>
      </p:grpSp>
      <p:sp>
        <p:nvSpPr>
          <p:cNvPr id="564" name="Google Shape;564;p15"/>
          <p:cNvSpPr/>
          <p:nvPr/>
        </p:nvSpPr>
        <p:spPr>
          <a:xfrm>
            <a:off x="1842101" y="4284155"/>
            <a:ext cx="3875473" cy="572039"/>
          </a:xfrm>
          <a:custGeom>
            <a:avLst/>
            <a:gdLst/>
            <a:ahLst/>
            <a:cxnLst/>
            <a:rect l="l" t="t" r="r" b="b"/>
            <a:pathLst>
              <a:path w="2077104" h="306591" extrusionOk="0">
                <a:moveTo>
                  <a:pt x="0" y="0"/>
                </a:moveTo>
                <a:lnTo>
                  <a:pt x="2077105" y="0"/>
                </a:lnTo>
                <a:lnTo>
                  <a:pt x="2077105" y="306591"/>
                </a:lnTo>
                <a:lnTo>
                  <a:pt x="0" y="306591"/>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3882</TotalTime>
  <Words>3119</Words>
  <Application>Microsoft Office PowerPoint</Application>
  <PresentationFormat>Custom</PresentationFormat>
  <Paragraphs>820</Paragraphs>
  <Slides>25</Slides>
  <Notes>6</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25</vt:i4>
      </vt:variant>
    </vt:vector>
  </HeadingPairs>
  <TitlesOfParts>
    <vt:vector size="35" baseType="lpstr">
      <vt:lpstr>Arial</vt:lpstr>
      <vt:lpstr>Calibri</vt:lpstr>
      <vt:lpstr>Calibri Light</vt:lpstr>
      <vt:lpstr>Work Sans</vt:lpstr>
      <vt:lpstr>Work Sans Light</vt:lpstr>
      <vt:lpstr>Work Sans Medium</vt:lpstr>
      <vt:lpstr>Work Sans SemiBold</vt:lpstr>
      <vt:lpstr>Office Theme</vt:lpstr>
      <vt:lpstr>2_Office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Natassha Anne Kaur Bhagat Singh</dc:creator>
  <cp:lastModifiedBy>Alex Tan</cp:lastModifiedBy>
  <cp:revision>74</cp:revision>
  <dcterms:created xsi:type="dcterms:W3CDTF">2025-12-30T13:45:26Z</dcterms:created>
  <dcterms:modified xsi:type="dcterms:W3CDTF">2026-05-11T01:51:43Z</dcterms:modified>
</cp:coreProperties>
</file>